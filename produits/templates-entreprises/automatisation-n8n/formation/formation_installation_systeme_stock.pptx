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cdbbaca-701c-d09b-b840-4042fd53fc65}">
          <p14:sldIdLst>
            <p14:sldId id="256"/>
            <p14:sldId id="257"/>
            <p14:sldId id="258"/>
            <p14:sldId id="259"/>
            <p14:sldId id="260"/>
            <p14:sldId id="261"/>
            <p14:sldId id="262"/>
            <p14:sldId id="263"/>
          </p14:sldIdLst>
        </p14:section>
        <p14:section name="Le Google Sheet" id="{7d43d1d5-cf9b-abe5-0676-e7751f16fd67}">
          <p14:sldIdLst>
            <p14:sldId id="264"/>
            <p14:sldId id="265"/>
            <p14:sldId id="266"/>
          </p14:sldIdLst>
        </p14:section>
        <p14:section name="n8n : importer et connecter" id="{5ddc9600-fe30-d98f-ca54-a5f95907f63f}">
          <p14:sldIdLst>
            <p14:sldId id="267"/>
            <p14:sldId id="268"/>
            <p14:sldId id="269"/>
            <p14:sldId id="270"/>
            <p14:sldId id="271"/>
          </p14:sldIdLst>
        </p14:section>
        <p14:section name="Meta : ouvrir l'accès WhatsApp" id="{97d08a7d-3dcf-93b7-d730-fe90fae98c7c}">
          <p14:sldIdLst>
            <p14:sldId id="272"/>
            <p14:sldId id="273"/>
            <p14:sldId id="274"/>
            <p14:sldId id="275"/>
            <p14:sldId id="276"/>
            <p14:sldId id="277"/>
          </p14:sldIdLst>
        </p14:section>
        <p14:section name="Brancher WhatsApp dans n8n" id="{07b912c5-17a7-8400-213b-11b3568ade08}">
          <p14:sldIdLst>
            <p14:sldId id="278"/>
            <p14:sldId id="279"/>
            <p14:sldId id="280"/>
            <p14:sldId id="281"/>
            <p14:sldId id="282"/>
          </p14:sldIdLst>
        </p14:section>
        <p14:section name="Dépannage et check-list" id="{31b640ba-ca57-c15e-e94c-c7652d165604}">
          <p14:sldIdLst>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1B23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6809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4160520"/>
            <a:ext cx="7315200" cy="91440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3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931920" y="2377440"/>
            <a:ext cx="768096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3931920" y="3611880"/>
            <a:ext cx="74980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C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8A93A8"/>
                </a:solidFill>
              </a:rPr>
              <a:t>Système de stock automatisé · Guide d'installation</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C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4.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4.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slideLayout" Target="../slideLayouts/slideLayout4.xml"/><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4.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 Allegra Digital Ground">    </p:cNvPr>
          <p:cNvPicPr>
            <a:picLocks noChangeAspect="1"/>
          </p:cNvPicPr>
          <p:nvPr/>
        </p:nvPicPr>
        <p:blipFill>
          <a:blip r:embed="rId1"/>
          <a:stretch>
            <a:fillRect/>
          </a:stretch>
        </p:blipFill>
        <p:spPr>
          <a:xfrm>
            <a:off x="548640" y="548640"/>
            <a:ext cx="1463040" cy="1161288"/>
          </a:xfrm>
          <a:prstGeom prst="rect">
            <a:avLst/>
          </a:prstGeom>
        </p:spPr>
      </p:pic>
      <p:sp>
        <p:nvSpPr>
          <p:cNvPr id="3" name="Text 0"/>
          <p:cNvSpPr txBox="1"/>
          <p:nvPr/>
        </p:nvSpPr>
        <p:spPr>
          <a:xfrm>
            <a:off x="548640" y="1874520"/>
            <a:ext cx="5486400" cy="365760"/>
          </a:xfrm>
          <a:prstGeom prst="rect">
            <a:avLst/>
          </a:prstGeom>
          <a:noFill/>
          <a:ln/>
        </p:spPr>
        <p:txBody>
          <a:bodyPr wrap="square" lIns="0" tIns="0" rIns="0" bIns="0" rtlCol="0" anchor="t"/>
          <a:lstStyle/>
          <a:p>
            <a:pPr indent="0" marL="0">
              <a:buNone/>
            </a:pPr>
            <a:r>
              <a:rPr lang="en-US" sz="1400" b="1" spc="400" kern="0" dirty="0">
                <a:solidFill>
                  <a:srgbClr val="F5C518"/>
                </a:solidFill>
              </a:rPr>
              <a:t>FORMATION INTERNE</a:t>
            </a:r>
            <a:endParaRPr lang="en-US" sz="1400" dirty="0"/>
          </a:p>
        </p:txBody>
      </p:sp>
      <p:sp>
        <p:nvSpPr>
          <p:cNvPr id="4" name="Text 0"/>
          <p:cNvSpPr/>
          <p:nvPr>
            <p:ph idx="100" type="title" hasCustomPrompt="1"/>
          </p:nvPr>
        </p:nvSpPr>
        <p:spPr>
          <a:xfrm>
            <a:off x="548640" y="2331720"/>
            <a:ext cx="7680960" cy="1737360"/>
          </a:xfrm>
          <a:prstGeom prst="rect">
            <a:avLst/>
          </a:prstGeom>
          <a:noFill/>
          <a:ln/>
        </p:spPr>
        <p:txBody>
          <a:bodyPr wrap="square" lIns="0" tIns="0" rIns="0" bIns="0" rtlCol="0" anchor="t"/>
          <a:lstStyle/>
          <a:p>
            <a:pPr algn="l" indent="0" marL="0">
              <a:buNone/>
            </a:pPr>
            <a:r>
              <a:rPr lang="en-US" sz="4400" b="1" dirty="0">
                <a:solidFill>
                  <a:schemeClr val="bg1"/>
                </a:solidFill>
              </a:rPr>
              <a:t>Installer le système de stock automatisé</a:t>
            </a:r>
            <a:endParaRPr lang="en-US" sz="4400" dirty="0"/>
          </a:p>
        </p:txBody>
      </p:sp>
      <p:sp>
        <p:nvSpPr>
          <p:cNvPr id="5" name="Text 0"/>
          <p:cNvSpPr/>
          <p:nvPr>
            <p:ph idx="101" type="body" hasCustomPrompt="1"/>
          </p:nvPr>
        </p:nvSpPr>
        <p:spPr>
          <a:xfrm>
            <a:off x="548640" y="4160520"/>
            <a:ext cx="7315200" cy="914400"/>
          </a:xfrm>
          <a:prstGeom prst="rect">
            <a:avLst/>
          </a:prstGeom>
          <a:noFill/>
          <a:ln/>
        </p:spPr>
        <p:txBody>
          <a:bodyPr wrap="square" lIns="0" tIns="0" rIns="0" bIns="0" rtlCol="0" anchor="t"/>
          <a:lstStyle/>
          <a:p>
            <a:pPr indent="0" marL="0">
              <a:buNone/>
            </a:pPr>
            <a:r>
              <a:rPr lang="en-US" sz="1800" dirty="0">
                <a:solidFill>
                  <a:schemeClr val="accent1"/>
                </a:solidFill>
              </a:rPr>
              <a:t>Google Sheets + n8n + WhatsApp, pas à pas, même si tu pars de zéro</a:t>
            </a:r>
            <a:endParaRPr lang="en-US" sz="1800" dirty="0"/>
          </a:p>
        </p:txBody>
      </p:sp>
      <p:sp>
        <p:nvSpPr>
          <p:cNvPr id="6" name="pastille SiGooglesheets"/>
          <p:cNvSpPr/>
          <p:nvPr/>
        </p:nvSpPr>
        <p:spPr>
          <a:xfrm>
            <a:off x="9326880" y="1097280"/>
            <a:ext cx="868680" cy="868680"/>
          </a:xfrm>
          <a:prstGeom prst="ellipse">
            <a:avLst/>
          </a:prstGeom>
          <a:solidFill>
            <a:srgbClr val="1E8E3E"/>
          </a:solidFill>
          <a:ln w="12700">
            <a:solidFill>
              <a:srgbClr val="1E8E3E"/>
            </a:solidFill>
            <a:prstDash val="solid"/>
          </a:ln>
        </p:spPr>
      </p:sp>
      <p:pic>
        <p:nvPicPr>
          <p:cNvPr id="7" name="Image 1" descr="SiGooglesheets">    </p:cNvPr>
          <p:cNvPicPr>
            <a:picLocks noChangeAspect="1"/>
          </p:cNvPicPr>
          <p:nvPr/>
        </p:nvPicPr>
        <p:blipFill>
          <a:blip r:embed="rId2"/>
          <a:stretch>
            <a:fillRect/>
          </a:stretch>
        </p:blipFill>
        <p:spPr>
          <a:xfrm>
            <a:off x="9517990" y="1288390"/>
            <a:ext cx="486461" cy="486461"/>
          </a:xfrm>
          <a:prstGeom prst="rect">
            <a:avLst/>
          </a:prstGeom>
        </p:spPr>
      </p:pic>
      <p:sp>
        <p:nvSpPr>
          <p:cNvPr id="8" name="Text 4"/>
          <p:cNvSpPr txBox="1"/>
          <p:nvPr/>
        </p:nvSpPr>
        <p:spPr>
          <a:xfrm>
            <a:off x="10332720" y="1097280"/>
            <a:ext cx="1645920" cy="868680"/>
          </a:xfrm>
          <a:prstGeom prst="rect">
            <a:avLst/>
          </a:prstGeom>
          <a:noFill/>
          <a:ln/>
        </p:spPr>
        <p:txBody>
          <a:bodyPr wrap="square" lIns="0" tIns="0" rIns="0" bIns="0" rtlCol="0" anchor="ctr"/>
          <a:lstStyle/>
          <a:p>
            <a:pPr indent="0" marL="0">
              <a:buNone/>
            </a:pPr>
            <a:r>
              <a:rPr lang="en-US" sz="1600" b="1" dirty="0">
                <a:solidFill>
                  <a:srgbClr val="FFFFFF"/>
                </a:solidFill>
              </a:rPr>
              <a:t>Google Sheets</a:t>
            </a:r>
            <a:endParaRPr lang="en-US" sz="1600" dirty="0"/>
          </a:p>
        </p:txBody>
      </p:sp>
      <p:sp>
        <p:nvSpPr>
          <p:cNvPr id="9" name="pastille FaProjectDiagram"/>
          <p:cNvSpPr/>
          <p:nvPr/>
        </p:nvSpPr>
        <p:spPr>
          <a:xfrm>
            <a:off x="9326880" y="2331720"/>
            <a:ext cx="868680" cy="868680"/>
          </a:xfrm>
          <a:prstGeom prst="ellipse">
            <a:avLst/>
          </a:prstGeom>
          <a:solidFill>
            <a:srgbClr val="EA4B71"/>
          </a:solidFill>
          <a:ln w="12700">
            <a:solidFill>
              <a:srgbClr val="EA4B71"/>
            </a:solidFill>
            <a:prstDash val="solid"/>
          </a:ln>
        </p:spPr>
      </p:sp>
      <p:pic>
        <p:nvPicPr>
          <p:cNvPr id="10" name="Image 2" descr="FaProjectDiagram">    </p:cNvPr>
          <p:cNvPicPr>
            <a:picLocks noChangeAspect="1"/>
          </p:cNvPicPr>
          <p:nvPr/>
        </p:nvPicPr>
        <p:blipFill>
          <a:blip r:embed="rId3"/>
          <a:stretch>
            <a:fillRect/>
          </a:stretch>
        </p:blipFill>
        <p:spPr>
          <a:xfrm>
            <a:off x="9517990" y="2522830"/>
            <a:ext cx="486461" cy="486461"/>
          </a:xfrm>
          <a:prstGeom prst="rect">
            <a:avLst/>
          </a:prstGeom>
        </p:spPr>
      </p:pic>
      <p:sp>
        <p:nvSpPr>
          <p:cNvPr id="11" name="Text 6"/>
          <p:cNvSpPr txBox="1"/>
          <p:nvPr/>
        </p:nvSpPr>
        <p:spPr>
          <a:xfrm>
            <a:off x="10332720" y="2331720"/>
            <a:ext cx="1645920" cy="868680"/>
          </a:xfrm>
          <a:prstGeom prst="rect">
            <a:avLst/>
          </a:prstGeom>
          <a:noFill/>
          <a:ln/>
        </p:spPr>
        <p:txBody>
          <a:bodyPr wrap="square" lIns="0" tIns="0" rIns="0" bIns="0" rtlCol="0" anchor="ctr"/>
          <a:lstStyle/>
          <a:p>
            <a:pPr indent="0" marL="0">
              <a:buNone/>
            </a:pPr>
            <a:r>
              <a:rPr lang="en-US" sz="1600" b="1" dirty="0">
                <a:solidFill>
                  <a:srgbClr val="FFFFFF"/>
                </a:solidFill>
              </a:rPr>
              <a:t>n8n</a:t>
            </a:r>
            <a:endParaRPr lang="en-US" sz="1600" dirty="0"/>
          </a:p>
        </p:txBody>
      </p:sp>
      <p:sp>
        <p:nvSpPr>
          <p:cNvPr id="12" name="pastille SiMeta"/>
          <p:cNvSpPr/>
          <p:nvPr/>
        </p:nvSpPr>
        <p:spPr>
          <a:xfrm>
            <a:off x="9326880" y="3566160"/>
            <a:ext cx="868680" cy="868680"/>
          </a:xfrm>
          <a:prstGeom prst="ellipse">
            <a:avLst/>
          </a:prstGeom>
          <a:solidFill>
            <a:srgbClr val="1877F2"/>
          </a:solidFill>
          <a:ln w="12700">
            <a:solidFill>
              <a:srgbClr val="1877F2"/>
            </a:solidFill>
            <a:prstDash val="solid"/>
          </a:ln>
        </p:spPr>
      </p:sp>
      <p:pic>
        <p:nvPicPr>
          <p:cNvPr id="13" name="Image 3" descr="SiMeta">    </p:cNvPr>
          <p:cNvPicPr>
            <a:picLocks noChangeAspect="1"/>
          </p:cNvPicPr>
          <p:nvPr/>
        </p:nvPicPr>
        <p:blipFill>
          <a:blip r:embed="rId4"/>
          <a:stretch>
            <a:fillRect/>
          </a:stretch>
        </p:blipFill>
        <p:spPr>
          <a:xfrm>
            <a:off x="9517990" y="3757270"/>
            <a:ext cx="486461" cy="486461"/>
          </a:xfrm>
          <a:prstGeom prst="rect">
            <a:avLst/>
          </a:prstGeom>
        </p:spPr>
      </p:pic>
      <p:sp>
        <p:nvSpPr>
          <p:cNvPr id="14" name="Text 8"/>
          <p:cNvSpPr txBox="1"/>
          <p:nvPr/>
        </p:nvSpPr>
        <p:spPr>
          <a:xfrm>
            <a:off x="10332720" y="3566160"/>
            <a:ext cx="1645920" cy="868680"/>
          </a:xfrm>
          <a:prstGeom prst="rect">
            <a:avLst/>
          </a:prstGeom>
          <a:noFill/>
          <a:ln/>
        </p:spPr>
        <p:txBody>
          <a:bodyPr wrap="square" lIns="0" tIns="0" rIns="0" bIns="0" rtlCol="0" anchor="ctr"/>
          <a:lstStyle/>
          <a:p>
            <a:pPr indent="0" marL="0">
              <a:buNone/>
            </a:pPr>
            <a:r>
              <a:rPr lang="en-US" sz="1600" b="1" dirty="0">
                <a:solidFill>
                  <a:srgbClr val="FFFFFF"/>
                </a:solidFill>
              </a:rPr>
              <a:t>Meta</a:t>
            </a:r>
            <a:endParaRPr lang="en-US" sz="1600" dirty="0"/>
          </a:p>
        </p:txBody>
      </p:sp>
      <p:sp>
        <p:nvSpPr>
          <p:cNvPr id="15" name="pastille FaWhatsapp"/>
          <p:cNvSpPr/>
          <p:nvPr/>
        </p:nvSpPr>
        <p:spPr>
          <a:xfrm>
            <a:off x="9326880" y="4800600"/>
            <a:ext cx="868680" cy="868680"/>
          </a:xfrm>
          <a:prstGeom prst="ellipse">
            <a:avLst/>
          </a:prstGeom>
          <a:solidFill>
            <a:srgbClr val="128C7E"/>
          </a:solidFill>
          <a:ln w="12700">
            <a:solidFill>
              <a:srgbClr val="128C7E"/>
            </a:solidFill>
            <a:prstDash val="solid"/>
          </a:ln>
        </p:spPr>
      </p:sp>
      <p:pic>
        <p:nvPicPr>
          <p:cNvPr id="16" name="Image 4" descr="FaWhatsapp">    </p:cNvPr>
          <p:cNvPicPr>
            <a:picLocks noChangeAspect="1"/>
          </p:cNvPicPr>
          <p:nvPr/>
        </p:nvPicPr>
        <p:blipFill>
          <a:blip r:embed="rId5"/>
          <a:stretch>
            <a:fillRect/>
          </a:stretch>
        </p:blipFill>
        <p:spPr>
          <a:xfrm>
            <a:off x="9517990" y="4991710"/>
            <a:ext cx="486461" cy="486461"/>
          </a:xfrm>
          <a:prstGeom prst="rect">
            <a:avLst/>
          </a:prstGeom>
        </p:spPr>
      </p:pic>
      <p:sp>
        <p:nvSpPr>
          <p:cNvPr id="17" name="Text 10"/>
          <p:cNvSpPr txBox="1"/>
          <p:nvPr/>
        </p:nvSpPr>
        <p:spPr>
          <a:xfrm>
            <a:off x="10332720" y="4800600"/>
            <a:ext cx="1645920" cy="868680"/>
          </a:xfrm>
          <a:prstGeom prst="rect">
            <a:avLst/>
          </a:prstGeom>
          <a:noFill/>
          <a:ln/>
        </p:spPr>
        <p:txBody>
          <a:bodyPr wrap="square" lIns="0" tIns="0" rIns="0" bIns="0" rtlCol="0" anchor="ctr"/>
          <a:lstStyle/>
          <a:p>
            <a:pPr indent="0" marL="0">
              <a:buNone/>
            </a:pPr>
            <a:r>
              <a:rPr lang="en-US" sz="1600" b="1" dirty="0">
                <a:solidFill>
                  <a:srgbClr val="FFFFFF"/>
                </a:solidFill>
              </a:rPr>
              <a:t>WhatsApp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Comment utiliser ce guide</a:t>
            </a:r>
            <a:endParaRPr lang="en-US" sz="3000" dirty="0"/>
          </a:p>
        </p:txBody>
      </p:sp>
      <p:sp>
        <p:nvSpPr>
          <p:cNvPr id="3" name="carte"/>
          <p:cNvSpPr/>
          <p:nvPr/>
        </p:nvSpPr>
        <p:spPr>
          <a:xfrm>
            <a:off x="548640" y="1463040"/>
            <a:ext cx="3520440" cy="3108960"/>
          </a:xfrm>
          <a:prstGeom prst="roundRect">
            <a:avLst>
              <a:gd name="adj" fmla="val 4412"/>
            </a:avLst>
          </a:prstGeom>
          <a:solidFill>
            <a:srgbClr val="EEF2F8"/>
          </a:solidFill>
          <a:ln w="12700">
            <a:solidFill>
              <a:srgbClr val="EEF2F8"/>
            </a:solidFill>
            <a:prstDash val="solid"/>
          </a:ln>
        </p:spPr>
      </p:sp>
      <p:sp>
        <p:nvSpPr>
          <p:cNvPr id="4" name="pastille FaListOl"/>
          <p:cNvSpPr/>
          <p:nvPr/>
        </p:nvSpPr>
        <p:spPr>
          <a:xfrm>
            <a:off x="868680" y="1737360"/>
            <a:ext cx="777240" cy="777240"/>
          </a:xfrm>
          <a:prstGeom prst="ellipse">
            <a:avLst/>
          </a:prstGeom>
          <a:solidFill>
            <a:srgbClr val="1B2340"/>
          </a:solidFill>
          <a:ln w="12700">
            <a:solidFill>
              <a:srgbClr val="1B2340"/>
            </a:solidFill>
            <a:prstDash val="solid"/>
          </a:ln>
        </p:spPr>
      </p:sp>
      <p:pic>
        <p:nvPicPr>
          <p:cNvPr id="5" name="Image 0" descr="FaListOl">    </p:cNvPr>
          <p:cNvPicPr>
            <a:picLocks noChangeAspect="1"/>
          </p:cNvPicPr>
          <p:nvPr/>
        </p:nvPicPr>
        <p:blipFill>
          <a:blip r:embed="rId1"/>
          <a:stretch>
            <a:fillRect/>
          </a:stretch>
        </p:blipFill>
        <p:spPr>
          <a:xfrm>
            <a:off x="1039673" y="1908353"/>
            <a:ext cx="435254" cy="435254"/>
          </a:xfrm>
          <a:prstGeom prst="rect">
            <a:avLst/>
          </a:prstGeom>
        </p:spPr>
      </p:pic>
      <p:sp>
        <p:nvSpPr>
          <p:cNvPr id="6" name="Text 3"/>
          <p:cNvSpPr txBox="1"/>
          <p:nvPr/>
        </p:nvSpPr>
        <p:spPr>
          <a:xfrm>
            <a:off x="868680" y="2697480"/>
            <a:ext cx="2926080" cy="457200"/>
          </a:xfrm>
          <a:prstGeom prst="rect">
            <a:avLst/>
          </a:prstGeom>
          <a:noFill/>
          <a:ln/>
        </p:spPr>
        <p:txBody>
          <a:bodyPr wrap="square" lIns="0" tIns="0" rIns="0" bIns="0" rtlCol="0" anchor="t"/>
          <a:lstStyle/>
          <a:p>
            <a:pPr indent="0" marL="0">
              <a:buNone/>
            </a:pPr>
            <a:r>
              <a:rPr lang="en-US" sz="1900" b="1" dirty="0">
                <a:solidFill>
                  <a:srgbClr val="1B2340"/>
                </a:solidFill>
              </a:rPr>
              <a:t>Suis l'ordre</a:t>
            </a:r>
            <a:endParaRPr lang="en-US" sz="1900" dirty="0"/>
          </a:p>
        </p:txBody>
      </p:sp>
      <p:sp>
        <p:nvSpPr>
          <p:cNvPr id="7" name="Text 4"/>
          <p:cNvSpPr txBox="1"/>
          <p:nvPr/>
        </p:nvSpPr>
        <p:spPr>
          <a:xfrm>
            <a:off x="868680" y="3200400"/>
            <a:ext cx="2926080" cy="1280160"/>
          </a:xfrm>
          <a:prstGeom prst="rect">
            <a:avLst/>
          </a:prstGeom>
          <a:noFill/>
          <a:ln/>
        </p:spPr>
        <p:txBody>
          <a:bodyPr wrap="square" lIns="0" tIns="0" rIns="0" bIns="0" rtlCol="0" anchor="t"/>
          <a:lstStyle/>
          <a:p>
            <a:pPr indent="0" marL="0">
              <a:buNone/>
            </a:pPr>
            <a:r>
              <a:rPr lang="en-US" sz="1500" dirty="0">
                <a:solidFill>
                  <a:srgbClr val="3A4566"/>
                </a:solidFill>
              </a:rPr>
              <a:t>Les 4 étapes dépendent l'une de l'autre. Ne saute rien, même si ça paraît évident.</a:t>
            </a:r>
            <a:endParaRPr lang="en-US" sz="1500" dirty="0"/>
          </a:p>
        </p:txBody>
      </p:sp>
      <p:sp>
        <p:nvSpPr>
          <p:cNvPr id="8" name="carte"/>
          <p:cNvSpPr/>
          <p:nvPr/>
        </p:nvSpPr>
        <p:spPr>
          <a:xfrm>
            <a:off x="4297680" y="1463040"/>
            <a:ext cx="3520440" cy="3108960"/>
          </a:xfrm>
          <a:prstGeom prst="roundRect">
            <a:avLst>
              <a:gd name="adj" fmla="val 4412"/>
            </a:avLst>
          </a:prstGeom>
          <a:solidFill>
            <a:srgbClr val="EEF2F8"/>
          </a:solidFill>
          <a:ln w="12700">
            <a:solidFill>
              <a:srgbClr val="EEF2F8"/>
            </a:solidFill>
            <a:prstDash val="solid"/>
          </a:ln>
        </p:spPr>
      </p:sp>
      <p:sp>
        <p:nvSpPr>
          <p:cNvPr id="9" name="pastille FaRegCheckSquare"/>
          <p:cNvSpPr/>
          <p:nvPr/>
        </p:nvSpPr>
        <p:spPr>
          <a:xfrm>
            <a:off x="4617720" y="1737360"/>
            <a:ext cx="777240" cy="777240"/>
          </a:xfrm>
          <a:prstGeom prst="ellipse">
            <a:avLst/>
          </a:prstGeom>
          <a:solidFill>
            <a:srgbClr val="1E8E3E"/>
          </a:solidFill>
          <a:ln w="12700">
            <a:solidFill>
              <a:srgbClr val="1E8E3E"/>
            </a:solidFill>
            <a:prstDash val="solid"/>
          </a:ln>
        </p:spPr>
      </p:sp>
      <p:pic>
        <p:nvPicPr>
          <p:cNvPr id="10" name="Image 1" descr="FaRegCheckSquare">    </p:cNvPr>
          <p:cNvPicPr>
            <a:picLocks noChangeAspect="1"/>
          </p:cNvPicPr>
          <p:nvPr/>
        </p:nvPicPr>
        <p:blipFill>
          <a:blip r:embed="rId2"/>
          <a:stretch>
            <a:fillRect/>
          </a:stretch>
        </p:blipFill>
        <p:spPr>
          <a:xfrm>
            <a:off x="4788713" y="1908353"/>
            <a:ext cx="435254" cy="435254"/>
          </a:xfrm>
          <a:prstGeom prst="rect">
            <a:avLst/>
          </a:prstGeom>
        </p:spPr>
      </p:pic>
      <p:sp>
        <p:nvSpPr>
          <p:cNvPr id="11" name="Text 7"/>
          <p:cNvSpPr txBox="1"/>
          <p:nvPr/>
        </p:nvSpPr>
        <p:spPr>
          <a:xfrm>
            <a:off x="4617720" y="2697480"/>
            <a:ext cx="2926080" cy="457200"/>
          </a:xfrm>
          <a:prstGeom prst="rect">
            <a:avLst/>
          </a:prstGeom>
          <a:noFill/>
          <a:ln/>
        </p:spPr>
        <p:txBody>
          <a:bodyPr wrap="square" lIns="0" tIns="0" rIns="0" bIns="0" rtlCol="0" anchor="t"/>
          <a:lstStyle/>
          <a:p>
            <a:pPr indent="0" marL="0">
              <a:buNone/>
            </a:pPr>
            <a:r>
              <a:rPr lang="en-US" sz="1900" b="1" dirty="0">
                <a:solidFill>
                  <a:srgbClr val="1B2340"/>
                </a:solidFill>
              </a:rPr>
              <a:t>Coche au fur et à mesure</a:t>
            </a:r>
            <a:endParaRPr lang="en-US" sz="1900" dirty="0"/>
          </a:p>
        </p:txBody>
      </p:sp>
      <p:sp>
        <p:nvSpPr>
          <p:cNvPr id="12" name="Text 8"/>
          <p:cNvSpPr txBox="1"/>
          <p:nvPr/>
        </p:nvSpPr>
        <p:spPr>
          <a:xfrm>
            <a:off x="4617720" y="3200400"/>
            <a:ext cx="2926080" cy="1280160"/>
          </a:xfrm>
          <a:prstGeom prst="rect">
            <a:avLst/>
          </a:prstGeom>
          <a:noFill/>
          <a:ln/>
        </p:spPr>
        <p:txBody>
          <a:bodyPr wrap="square" lIns="0" tIns="0" rIns="0" bIns="0" rtlCol="0" anchor="t"/>
          <a:lstStyle/>
          <a:p>
            <a:pPr indent="0" marL="0">
              <a:buNone/>
            </a:pPr>
            <a:r>
              <a:rPr lang="en-US" sz="1500" dirty="0">
                <a:solidFill>
                  <a:srgbClr val="3A4566"/>
                </a:solidFill>
              </a:rPr>
              <a:t>Une check-list t'attend à la fin. Elle te dit si tout est prêt pour le client.</a:t>
            </a:r>
            <a:endParaRPr lang="en-US" sz="1500" dirty="0"/>
          </a:p>
        </p:txBody>
      </p:sp>
      <p:sp>
        <p:nvSpPr>
          <p:cNvPr id="13" name="carte"/>
          <p:cNvSpPr/>
          <p:nvPr/>
        </p:nvSpPr>
        <p:spPr>
          <a:xfrm>
            <a:off x="8046720" y="1463040"/>
            <a:ext cx="3520440" cy="3108960"/>
          </a:xfrm>
          <a:prstGeom prst="roundRect">
            <a:avLst>
              <a:gd name="adj" fmla="val 4412"/>
            </a:avLst>
          </a:prstGeom>
          <a:solidFill>
            <a:srgbClr val="EEF2F8"/>
          </a:solidFill>
          <a:ln w="12700">
            <a:solidFill>
              <a:srgbClr val="EEF2F8"/>
            </a:solidFill>
            <a:prstDash val="solid"/>
          </a:ln>
        </p:spPr>
      </p:sp>
      <p:sp>
        <p:nvSpPr>
          <p:cNvPr id="14" name="pastille FaTools"/>
          <p:cNvSpPr/>
          <p:nvPr/>
        </p:nvSpPr>
        <p:spPr>
          <a:xfrm>
            <a:off x="8366760" y="1737360"/>
            <a:ext cx="777240" cy="777240"/>
          </a:xfrm>
          <a:prstGeom prst="ellipse">
            <a:avLst/>
          </a:prstGeom>
          <a:solidFill>
            <a:srgbClr val="D93025"/>
          </a:solidFill>
          <a:ln w="12700">
            <a:solidFill>
              <a:srgbClr val="D93025"/>
            </a:solidFill>
            <a:prstDash val="solid"/>
          </a:ln>
        </p:spPr>
      </p:sp>
      <p:pic>
        <p:nvPicPr>
          <p:cNvPr id="15" name="Image 2" descr="FaTools">    </p:cNvPr>
          <p:cNvPicPr>
            <a:picLocks noChangeAspect="1"/>
          </p:cNvPicPr>
          <p:nvPr/>
        </p:nvPicPr>
        <p:blipFill>
          <a:blip r:embed="rId3"/>
          <a:stretch>
            <a:fillRect/>
          </a:stretch>
        </p:blipFill>
        <p:spPr>
          <a:xfrm>
            <a:off x="8537753" y="1908353"/>
            <a:ext cx="435254" cy="435254"/>
          </a:xfrm>
          <a:prstGeom prst="rect">
            <a:avLst/>
          </a:prstGeom>
        </p:spPr>
      </p:pic>
      <p:sp>
        <p:nvSpPr>
          <p:cNvPr id="16" name="Text 11"/>
          <p:cNvSpPr txBox="1"/>
          <p:nvPr/>
        </p:nvSpPr>
        <p:spPr>
          <a:xfrm>
            <a:off x="8366760" y="2697480"/>
            <a:ext cx="2926080" cy="457200"/>
          </a:xfrm>
          <a:prstGeom prst="rect">
            <a:avLst/>
          </a:prstGeom>
          <a:noFill/>
          <a:ln/>
        </p:spPr>
        <p:txBody>
          <a:bodyPr wrap="square" lIns="0" tIns="0" rIns="0" bIns="0" rtlCol="0" anchor="t"/>
          <a:lstStyle/>
          <a:p>
            <a:pPr indent="0" marL="0">
              <a:buNone/>
            </a:pPr>
            <a:r>
              <a:rPr lang="en-US" sz="1900" b="1" dirty="0">
                <a:solidFill>
                  <a:srgbClr val="1B2340"/>
                </a:solidFill>
              </a:rPr>
              <a:t>Bloqué ? Va au dépannage</a:t>
            </a:r>
            <a:endParaRPr lang="en-US" sz="1900" dirty="0"/>
          </a:p>
        </p:txBody>
      </p:sp>
      <p:sp>
        <p:nvSpPr>
          <p:cNvPr id="17" name="Text 12"/>
          <p:cNvSpPr txBox="1"/>
          <p:nvPr/>
        </p:nvSpPr>
        <p:spPr>
          <a:xfrm>
            <a:off x="8366760" y="3200400"/>
            <a:ext cx="2926080" cy="1280160"/>
          </a:xfrm>
          <a:prstGeom prst="rect">
            <a:avLst/>
          </a:prstGeom>
          <a:noFill/>
          <a:ln/>
        </p:spPr>
        <p:txBody>
          <a:bodyPr wrap="square" lIns="0" tIns="0" rIns="0" bIns="0" rtlCol="0" anchor="t"/>
          <a:lstStyle/>
          <a:p>
            <a:pPr indent="0" marL="0">
              <a:buNone/>
            </a:pPr>
            <a:r>
              <a:rPr lang="en-US" sz="1500" dirty="0">
                <a:solidFill>
                  <a:srgbClr val="3A4566"/>
                </a:solidFill>
              </a:rPr>
              <a:t>Les erreurs qu'on a déjà rencontrées sont expliquées avec leur solution.</a:t>
            </a:r>
            <a:endParaRPr lang="en-US" sz="1500" dirty="0"/>
          </a:p>
        </p:txBody>
      </p:sp>
      <p:sp>
        <p:nvSpPr>
          <p:cNvPr id="18" name="encadré Astuce"/>
          <p:cNvSpPr/>
          <p:nvPr/>
        </p:nvSpPr>
        <p:spPr>
          <a:xfrm>
            <a:off x="548640" y="4892040"/>
            <a:ext cx="11094415" cy="1005840"/>
          </a:xfrm>
          <a:prstGeom prst="roundRect">
            <a:avLst>
              <a:gd name="adj" fmla="val 10909"/>
            </a:avLst>
          </a:prstGeom>
          <a:solidFill>
            <a:srgbClr val="E8F5EC"/>
          </a:solidFill>
          <a:ln w="12700">
            <a:solidFill>
              <a:srgbClr val="E8F5EC"/>
            </a:solidFill>
            <a:prstDash val="solid"/>
          </a:ln>
        </p:spPr>
      </p:sp>
      <p:pic>
        <p:nvPicPr>
          <p:cNvPr id="19" name="Image 3" descr="Astuce">    </p:cNvPr>
          <p:cNvPicPr>
            <a:picLocks noChangeAspect="1"/>
          </p:cNvPicPr>
          <p:nvPr/>
        </p:nvPicPr>
        <p:blipFill>
          <a:blip r:embed="rId4"/>
          <a:stretch>
            <a:fillRect/>
          </a:stretch>
        </p:blipFill>
        <p:spPr>
          <a:xfrm>
            <a:off x="749808" y="5074920"/>
            <a:ext cx="347472" cy="347472"/>
          </a:xfrm>
          <a:prstGeom prst="rect">
            <a:avLst/>
          </a:prstGeom>
        </p:spPr>
      </p:pic>
      <p:sp>
        <p:nvSpPr>
          <p:cNvPr id="20" name="Text 14"/>
          <p:cNvSpPr txBox="1"/>
          <p:nvPr/>
        </p:nvSpPr>
        <p:spPr>
          <a:xfrm>
            <a:off x="1261872" y="5038344"/>
            <a:ext cx="10198303" cy="731520"/>
          </a:xfrm>
          <a:prstGeom prst="rect">
            <a:avLst/>
          </a:prstGeom>
          <a:noFill/>
          <a:ln/>
        </p:spPr>
        <p:txBody>
          <a:bodyPr wrap="square" lIns="0" tIns="0" rIns="0" bIns="0" rtlCol="0" anchor="ctr"/>
          <a:lstStyle/>
          <a:p>
            <a:pPr indent="0" marL="0">
              <a:buNone/>
            </a:pPr>
            <a:r>
              <a:rPr lang="en-US" sz="1400" b="1" dirty="0">
                <a:solidFill>
                  <a:srgbClr val="1E8E3E"/>
                </a:solidFill>
              </a:rPr>
              <a:t>Astuce : </a:t>
            </a:r>
            <a:pPr indent="0" marL="0">
              <a:buNone/>
            </a:pPr>
            <a:r>
              <a:rPr lang="en-US" sz="1400" dirty="0">
                <a:solidFill>
                  <a:srgbClr val="1B2340"/>
                </a:solidFill>
              </a:rPr>
              <a:t>garde ce guide ouvert sur un écran et fais les manipulations sur l'autre (ou sur un deuxième onglet). Fais chaque étape en même temps que tu la lis.</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 système en une image</a:t>
            </a:r>
            <a:endParaRPr lang="en-US" sz="3000" dirty="0"/>
          </a:p>
        </p:txBody>
      </p:sp>
      <p:sp>
        <p:nvSpPr>
          <p:cNvPr id="3" name="carte"/>
          <p:cNvSpPr/>
          <p:nvPr/>
        </p:nvSpPr>
        <p:spPr>
          <a:xfrm>
            <a:off x="548640" y="1600200"/>
            <a:ext cx="2514600" cy="3017520"/>
          </a:xfrm>
          <a:prstGeom prst="roundRect">
            <a:avLst>
              <a:gd name="adj" fmla="val 5455"/>
            </a:avLst>
          </a:prstGeom>
          <a:solidFill>
            <a:srgbClr val="EEF2F8"/>
          </a:solidFill>
          <a:ln w="12700">
            <a:solidFill>
              <a:srgbClr val="EEF2F8"/>
            </a:solidFill>
            <a:prstDash val="solid"/>
          </a:ln>
        </p:spPr>
      </p:sp>
      <p:sp>
        <p:nvSpPr>
          <p:cNvPr id="4" name="pastille FaStore"/>
          <p:cNvSpPr/>
          <p:nvPr/>
        </p:nvSpPr>
        <p:spPr>
          <a:xfrm>
            <a:off x="1371600" y="1828800"/>
            <a:ext cx="868680" cy="868680"/>
          </a:xfrm>
          <a:prstGeom prst="ellipse">
            <a:avLst/>
          </a:prstGeom>
          <a:solidFill>
            <a:srgbClr val="1B2340"/>
          </a:solidFill>
          <a:ln w="12700">
            <a:solidFill>
              <a:srgbClr val="1B2340"/>
            </a:solidFill>
            <a:prstDash val="solid"/>
          </a:ln>
        </p:spPr>
      </p:sp>
      <p:pic>
        <p:nvPicPr>
          <p:cNvPr id="5" name="Image 0" descr="FaStore">    </p:cNvPr>
          <p:cNvPicPr>
            <a:picLocks noChangeAspect="1"/>
          </p:cNvPicPr>
          <p:nvPr/>
        </p:nvPicPr>
        <p:blipFill>
          <a:blip r:embed="rId1"/>
          <a:stretch>
            <a:fillRect/>
          </a:stretch>
        </p:blipFill>
        <p:spPr>
          <a:xfrm>
            <a:off x="1562710" y="2019910"/>
            <a:ext cx="486461" cy="486461"/>
          </a:xfrm>
          <a:prstGeom prst="rect">
            <a:avLst/>
          </a:prstGeom>
        </p:spPr>
      </p:pic>
      <p:sp>
        <p:nvSpPr>
          <p:cNvPr id="6" name="Text 3"/>
          <p:cNvSpPr txBox="1"/>
          <p:nvPr/>
        </p:nvSpPr>
        <p:spPr>
          <a:xfrm>
            <a:off x="731520" y="2834640"/>
            <a:ext cx="2148840" cy="411480"/>
          </a:xfrm>
          <a:prstGeom prst="rect">
            <a:avLst/>
          </a:prstGeom>
          <a:noFill/>
          <a:ln/>
        </p:spPr>
        <p:txBody>
          <a:bodyPr wrap="square" lIns="0" tIns="0" rIns="0" bIns="0" rtlCol="0" anchor="t"/>
          <a:lstStyle/>
          <a:p>
            <a:pPr algn="ctr" indent="0" marL="0">
              <a:buNone/>
            </a:pPr>
            <a:r>
              <a:rPr lang="en-US" sz="1800" b="1" dirty="0">
                <a:solidFill>
                  <a:srgbClr val="1B2340"/>
                </a:solidFill>
              </a:rPr>
              <a:t>1. Le vendeur</a:t>
            </a:r>
            <a:endParaRPr lang="en-US" sz="1800" dirty="0"/>
          </a:p>
        </p:txBody>
      </p:sp>
      <p:sp>
        <p:nvSpPr>
          <p:cNvPr id="7" name="Text 4"/>
          <p:cNvSpPr txBox="1"/>
          <p:nvPr/>
        </p:nvSpPr>
        <p:spPr>
          <a:xfrm>
            <a:off x="731520" y="3291840"/>
            <a:ext cx="2148840" cy="1188720"/>
          </a:xfrm>
          <a:prstGeom prst="rect">
            <a:avLst/>
          </a:prstGeom>
          <a:noFill/>
          <a:ln/>
        </p:spPr>
        <p:txBody>
          <a:bodyPr wrap="square" lIns="0" tIns="0" rIns="0" bIns="0" rtlCol="0" anchor="t"/>
          <a:lstStyle/>
          <a:p>
            <a:pPr algn="ctr" indent="0" marL="0">
              <a:buNone/>
            </a:pPr>
            <a:r>
              <a:rPr lang="en-US" sz="1400" dirty="0">
                <a:solidFill>
                  <a:srgbClr val="3A4566"/>
                </a:solidFill>
              </a:rPr>
              <a:t>remplit un petit formulaire sur son téléphone à chaque vente</a:t>
            </a:r>
            <a:endParaRPr lang="en-US" sz="1400" dirty="0"/>
          </a:p>
        </p:txBody>
      </p:sp>
      <p:sp>
        <p:nvSpPr>
          <p:cNvPr id="8" name="flèche"/>
          <p:cNvSpPr/>
          <p:nvPr/>
        </p:nvSpPr>
        <p:spPr>
          <a:xfrm>
            <a:off x="3108960" y="3108960"/>
            <a:ext cx="246888" cy="914"/>
          </a:xfrm>
          <a:prstGeom prst="line">
            <a:avLst/>
          </a:prstGeom>
          <a:noFill/>
          <a:ln w="25400">
            <a:solidFill>
              <a:srgbClr val="1B2340"/>
            </a:solidFill>
            <a:prstDash val="solid"/>
            <a:tailEnd type="triangle"/>
          </a:ln>
        </p:spPr>
      </p:sp>
      <p:sp>
        <p:nvSpPr>
          <p:cNvPr id="9" name="carte"/>
          <p:cNvSpPr/>
          <p:nvPr/>
        </p:nvSpPr>
        <p:spPr>
          <a:xfrm>
            <a:off x="3401568" y="1600200"/>
            <a:ext cx="2514600" cy="3017520"/>
          </a:xfrm>
          <a:prstGeom prst="roundRect">
            <a:avLst>
              <a:gd name="adj" fmla="val 5455"/>
            </a:avLst>
          </a:prstGeom>
          <a:solidFill>
            <a:srgbClr val="EEF2F8"/>
          </a:solidFill>
          <a:ln w="12700">
            <a:solidFill>
              <a:srgbClr val="EEF2F8"/>
            </a:solidFill>
            <a:prstDash val="solid"/>
          </a:ln>
        </p:spPr>
      </p:sp>
      <p:sp>
        <p:nvSpPr>
          <p:cNvPr id="10" name="pastille FaProjectDiagram"/>
          <p:cNvSpPr/>
          <p:nvPr/>
        </p:nvSpPr>
        <p:spPr>
          <a:xfrm>
            <a:off x="4224528" y="1828800"/>
            <a:ext cx="868680" cy="868680"/>
          </a:xfrm>
          <a:prstGeom prst="ellipse">
            <a:avLst/>
          </a:prstGeom>
          <a:solidFill>
            <a:srgbClr val="EA4B71"/>
          </a:solidFill>
          <a:ln w="12700">
            <a:solidFill>
              <a:srgbClr val="EA4B71"/>
            </a:solidFill>
            <a:prstDash val="solid"/>
          </a:ln>
        </p:spPr>
      </p:sp>
      <p:pic>
        <p:nvPicPr>
          <p:cNvPr id="11" name="Image 1" descr="FaProjectDiagram">    </p:cNvPr>
          <p:cNvPicPr>
            <a:picLocks noChangeAspect="1"/>
          </p:cNvPicPr>
          <p:nvPr/>
        </p:nvPicPr>
        <p:blipFill>
          <a:blip r:embed="rId2"/>
          <a:stretch>
            <a:fillRect/>
          </a:stretch>
        </p:blipFill>
        <p:spPr>
          <a:xfrm>
            <a:off x="4415638" y="2019910"/>
            <a:ext cx="486461" cy="486461"/>
          </a:xfrm>
          <a:prstGeom prst="rect">
            <a:avLst/>
          </a:prstGeom>
        </p:spPr>
      </p:pic>
      <p:sp>
        <p:nvSpPr>
          <p:cNvPr id="12" name="Text 8"/>
          <p:cNvSpPr txBox="1"/>
          <p:nvPr/>
        </p:nvSpPr>
        <p:spPr>
          <a:xfrm>
            <a:off x="3584448" y="2834640"/>
            <a:ext cx="2148840" cy="411480"/>
          </a:xfrm>
          <a:prstGeom prst="rect">
            <a:avLst/>
          </a:prstGeom>
          <a:noFill/>
          <a:ln/>
        </p:spPr>
        <p:txBody>
          <a:bodyPr wrap="square" lIns="0" tIns="0" rIns="0" bIns="0" rtlCol="0" anchor="t"/>
          <a:lstStyle/>
          <a:p>
            <a:pPr algn="ctr" indent="0" marL="0">
              <a:buNone/>
            </a:pPr>
            <a:r>
              <a:rPr lang="en-US" sz="1800" b="1" dirty="0">
                <a:solidFill>
                  <a:srgbClr val="1B2340"/>
                </a:solidFill>
              </a:rPr>
              <a:t>2. n8n</a:t>
            </a:r>
            <a:endParaRPr lang="en-US" sz="1800" dirty="0"/>
          </a:p>
        </p:txBody>
      </p:sp>
      <p:sp>
        <p:nvSpPr>
          <p:cNvPr id="13" name="Text 9"/>
          <p:cNvSpPr txBox="1"/>
          <p:nvPr/>
        </p:nvSpPr>
        <p:spPr>
          <a:xfrm>
            <a:off x="3584448" y="3291840"/>
            <a:ext cx="2148840" cy="1188720"/>
          </a:xfrm>
          <a:prstGeom prst="rect">
            <a:avLst/>
          </a:prstGeom>
          <a:noFill/>
          <a:ln/>
        </p:spPr>
        <p:txBody>
          <a:bodyPr wrap="square" lIns="0" tIns="0" rIns="0" bIns="0" rtlCol="0" anchor="t"/>
          <a:lstStyle/>
          <a:p>
            <a:pPr algn="ctr" indent="0" marL="0">
              <a:buNone/>
            </a:pPr>
            <a:r>
              <a:rPr lang="en-US" sz="1400" dirty="0">
                <a:solidFill>
                  <a:srgbClr val="3A4566"/>
                </a:solidFill>
              </a:rPr>
              <a:t>reçoit la vente, retrouve le produit, calcule le nouveau stock</a:t>
            </a:r>
            <a:endParaRPr lang="en-US" sz="1400" dirty="0"/>
          </a:p>
        </p:txBody>
      </p:sp>
      <p:sp>
        <p:nvSpPr>
          <p:cNvPr id="14" name="flèche"/>
          <p:cNvSpPr/>
          <p:nvPr/>
        </p:nvSpPr>
        <p:spPr>
          <a:xfrm>
            <a:off x="5961888" y="3108960"/>
            <a:ext cx="246888" cy="914"/>
          </a:xfrm>
          <a:prstGeom prst="line">
            <a:avLst/>
          </a:prstGeom>
          <a:noFill/>
          <a:ln w="25400">
            <a:solidFill>
              <a:srgbClr val="1B2340"/>
            </a:solidFill>
            <a:prstDash val="solid"/>
            <a:tailEnd type="triangle"/>
          </a:ln>
        </p:spPr>
      </p:sp>
      <p:sp>
        <p:nvSpPr>
          <p:cNvPr id="15" name="carte"/>
          <p:cNvSpPr/>
          <p:nvPr/>
        </p:nvSpPr>
        <p:spPr>
          <a:xfrm>
            <a:off x="6254496" y="1600200"/>
            <a:ext cx="2514600" cy="3017520"/>
          </a:xfrm>
          <a:prstGeom prst="roundRect">
            <a:avLst>
              <a:gd name="adj" fmla="val 5455"/>
            </a:avLst>
          </a:prstGeom>
          <a:solidFill>
            <a:srgbClr val="EEF2F8"/>
          </a:solidFill>
          <a:ln w="12700">
            <a:solidFill>
              <a:srgbClr val="EEF2F8"/>
            </a:solidFill>
            <a:prstDash val="solid"/>
          </a:ln>
        </p:spPr>
      </p:sp>
      <p:sp>
        <p:nvSpPr>
          <p:cNvPr id="16" name="pastille SiGooglesheets"/>
          <p:cNvSpPr/>
          <p:nvPr/>
        </p:nvSpPr>
        <p:spPr>
          <a:xfrm>
            <a:off x="7077456" y="1828800"/>
            <a:ext cx="868680" cy="868680"/>
          </a:xfrm>
          <a:prstGeom prst="ellipse">
            <a:avLst/>
          </a:prstGeom>
          <a:solidFill>
            <a:srgbClr val="1E8E3E"/>
          </a:solidFill>
          <a:ln w="12700">
            <a:solidFill>
              <a:srgbClr val="1E8E3E"/>
            </a:solidFill>
            <a:prstDash val="solid"/>
          </a:ln>
        </p:spPr>
      </p:sp>
      <p:pic>
        <p:nvPicPr>
          <p:cNvPr id="17" name="Image 2" descr="SiGooglesheets">    </p:cNvPr>
          <p:cNvPicPr>
            <a:picLocks noChangeAspect="1"/>
          </p:cNvPicPr>
          <p:nvPr/>
        </p:nvPicPr>
        <p:blipFill>
          <a:blip r:embed="rId3"/>
          <a:stretch>
            <a:fillRect/>
          </a:stretch>
        </p:blipFill>
        <p:spPr>
          <a:xfrm>
            <a:off x="7268566" y="2019910"/>
            <a:ext cx="486461" cy="486461"/>
          </a:xfrm>
          <a:prstGeom prst="rect">
            <a:avLst/>
          </a:prstGeom>
        </p:spPr>
      </p:pic>
      <p:sp>
        <p:nvSpPr>
          <p:cNvPr id="18" name="Text 13"/>
          <p:cNvSpPr txBox="1"/>
          <p:nvPr/>
        </p:nvSpPr>
        <p:spPr>
          <a:xfrm>
            <a:off x="6437376" y="2834640"/>
            <a:ext cx="2148840" cy="411480"/>
          </a:xfrm>
          <a:prstGeom prst="rect">
            <a:avLst/>
          </a:prstGeom>
          <a:noFill/>
          <a:ln/>
        </p:spPr>
        <p:txBody>
          <a:bodyPr wrap="square" lIns="0" tIns="0" rIns="0" bIns="0" rtlCol="0" anchor="t"/>
          <a:lstStyle/>
          <a:p>
            <a:pPr algn="ctr" indent="0" marL="0">
              <a:buNone/>
            </a:pPr>
            <a:r>
              <a:rPr lang="en-US" sz="1800" b="1" dirty="0">
                <a:solidFill>
                  <a:srgbClr val="1B2340"/>
                </a:solidFill>
              </a:rPr>
              <a:t>3. Google Sheet</a:t>
            </a:r>
            <a:endParaRPr lang="en-US" sz="1800" dirty="0"/>
          </a:p>
        </p:txBody>
      </p:sp>
      <p:sp>
        <p:nvSpPr>
          <p:cNvPr id="19" name="Text 14"/>
          <p:cNvSpPr txBox="1"/>
          <p:nvPr/>
        </p:nvSpPr>
        <p:spPr>
          <a:xfrm>
            <a:off x="6437376" y="3291840"/>
            <a:ext cx="2148840" cy="1188720"/>
          </a:xfrm>
          <a:prstGeom prst="rect">
            <a:avLst/>
          </a:prstGeom>
          <a:noFill/>
          <a:ln/>
        </p:spPr>
        <p:txBody>
          <a:bodyPr wrap="square" lIns="0" tIns="0" rIns="0" bIns="0" rtlCol="0" anchor="t"/>
          <a:lstStyle/>
          <a:p>
            <a:pPr algn="ctr" indent="0" marL="0">
              <a:buNone/>
            </a:pPr>
            <a:r>
              <a:rPr lang="en-US" sz="1400" dirty="0">
                <a:solidFill>
                  <a:srgbClr val="3A4566"/>
                </a:solidFill>
              </a:rPr>
              <a:t>la vente s'ajoute toute seule, le stock baisse</a:t>
            </a:r>
            <a:endParaRPr lang="en-US" sz="1400" dirty="0"/>
          </a:p>
        </p:txBody>
      </p:sp>
      <p:sp>
        <p:nvSpPr>
          <p:cNvPr id="20" name="flèche"/>
          <p:cNvSpPr/>
          <p:nvPr/>
        </p:nvSpPr>
        <p:spPr>
          <a:xfrm>
            <a:off x="8814816" y="3108960"/>
            <a:ext cx="246888" cy="914"/>
          </a:xfrm>
          <a:prstGeom prst="line">
            <a:avLst/>
          </a:prstGeom>
          <a:noFill/>
          <a:ln w="25400">
            <a:solidFill>
              <a:srgbClr val="1B2340"/>
            </a:solidFill>
            <a:prstDash val="solid"/>
            <a:tailEnd type="triangle"/>
          </a:ln>
        </p:spPr>
      </p:sp>
      <p:sp>
        <p:nvSpPr>
          <p:cNvPr id="21" name="carte"/>
          <p:cNvSpPr/>
          <p:nvPr/>
        </p:nvSpPr>
        <p:spPr>
          <a:xfrm>
            <a:off x="9107424" y="1600200"/>
            <a:ext cx="2514600" cy="3017520"/>
          </a:xfrm>
          <a:prstGeom prst="roundRect">
            <a:avLst>
              <a:gd name="adj" fmla="val 5455"/>
            </a:avLst>
          </a:prstGeom>
          <a:solidFill>
            <a:srgbClr val="EEF2F8"/>
          </a:solidFill>
          <a:ln w="12700">
            <a:solidFill>
              <a:srgbClr val="EEF2F8"/>
            </a:solidFill>
            <a:prstDash val="solid"/>
          </a:ln>
        </p:spPr>
      </p:sp>
      <p:sp>
        <p:nvSpPr>
          <p:cNvPr id="22" name="pastille FaWhatsapp"/>
          <p:cNvSpPr/>
          <p:nvPr/>
        </p:nvSpPr>
        <p:spPr>
          <a:xfrm>
            <a:off x="9930384" y="1828800"/>
            <a:ext cx="868680" cy="868680"/>
          </a:xfrm>
          <a:prstGeom prst="ellipse">
            <a:avLst/>
          </a:prstGeom>
          <a:solidFill>
            <a:srgbClr val="128C7E"/>
          </a:solidFill>
          <a:ln w="12700">
            <a:solidFill>
              <a:srgbClr val="128C7E"/>
            </a:solidFill>
            <a:prstDash val="solid"/>
          </a:ln>
        </p:spPr>
      </p:sp>
      <p:pic>
        <p:nvPicPr>
          <p:cNvPr id="23" name="Image 3" descr="FaWhatsapp">    </p:cNvPr>
          <p:cNvPicPr>
            <a:picLocks noChangeAspect="1"/>
          </p:cNvPicPr>
          <p:nvPr/>
        </p:nvPicPr>
        <p:blipFill>
          <a:blip r:embed="rId4"/>
          <a:stretch>
            <a:fillRect/>
          </a:stretch>
        </p:blipFill>
        <p:spPr>
          <a:xfrm>
            <a:off x="10121494" y="2019910"/>
            <a:ext cx="486461" cy="486461"/>
          </a:xfrm>
          <a:prstGeom prst="rect">
            <a:avLst/>
          </a:prstGeom>
        </p:spPr>
      </p:pic>
      <p:sp>
        <p:nvSpPr>
          <p:cNvPr id="24" name="Text 18"/>
          <p:cNvSpPr txBox="1"/>
          <p:nvPr/>
        </p:nvSpPr>
        <p:spPr>
          <a:xfrm>
            <a:off x="9290304" y="2834640"/>
            <a:ext cx="2148840" cy="411480"/>
          </a:xfrm>
          <a:prstGeom prst="rect">
            <a:avLst/>
          </a:prstGeom>
          <a:noFill/>
          <a:ln/>
        </p:spPr>
        <p:txBody>
          <a:bodyPr wrap="square" lIns="0" tIns="0" rIns="0" bIns="0" rtlCol="0" anchor="t"/>
          <a:lstStyle/>
          <a:p>
            <a:pPr algn="ctr" indent="0" marL="0">
              <a:buNone/>
            </a:pPr>
            <a:r>
              <a:rPr lang="en-US" sz="1800" b="1" dirty="0">
                <a:solidFill>
                  <a:srgbClr val="1B2340"/>
                </a:solidFill>
              </a:rPr>
              <a:t>4. WhatsApp</a:t>
            </a:r>
            <a:endParaRPr lang="en-US" sz="1800" dirty="0"/>
          </a:p>
        </p:txBody>
      </p:sp>
      <p:sp>
        <p:nvSpPr>
          <p:cNvPr id="25" name="Text 19"/>
          <p:cNvSpPr txBox="1"/>
          <p:nvPr/>
        </p:nvSpPr>
        <p:spPr>
          <a:xfrm>
            <a:off x="9290304" y="3291840"/>
            <a:ext cx="2148840" cy="1188720"/>
          </a:xfrm>
          <a:prstGeom prst="rect">
            <a:avLst/>
          </a:prstGeom>
          <a:noFill/>
          <a:ln/>
        </p:spPr>
        <p:txBody>
          <a:bodyPr wrap="square" lIns="0" tIns="0" rIns="0" bIns="0" rtlCol="0" anchor="t"/>
          <a:lstStyle/>
          <a:p>
            <a:pPr algn="ctr" indent="0" marL="0">
              <a:buNone/>
            </a:pPr>
            <a:r>
              <a:rPr lang="en-US" sz="1400" dirty="0">
                <a:solidFill>
                  <a:srgbClr val="3A4566"/>
                </a:solidFill>
              </a:rPr>
              <a:t>le patron est prévenu, le client reçoit sa confirmation</a:t>
            </a:r>
            <a:endParaRPr lang="en-US" sz="1400" dirty="0"/>
          </a:p>
        </p:txBody>
      </p:sp>
      <p:sp>
        <p:nvSpPr>
          <p:cNvPr id="26" name="carte"/>
          <p:cNvSpPr/>
          <p:nvPr/>
        </p:nvSpPr>
        <p:spPr>
          <a:xfrm>
            <a:off x="548640" y="4937760"/>
            <a:ext cx="11094415" cy="1097280"/>
          </a:xfrm>
          <a:prstGeom prst="roundRect">
            <a:avLst>
              <a:gd name="adj" fmla="val 12500"/>
            </a:avLst>
          </a:prstGeom>
          <a:solidFill>
            <a:srgbClr val="1B2340"/>
          </a:solidFill>
          <a:ln w="12700">
            <a:solidFill>
              <a:srgbClr val="1B2340"/>
            </a:solidFill>
            <a:prstDash val="solid"/>
          </a:ln>
        </p:spPr>
      </p:sp>
      <p:sp>
        <p:nvSpPr>
          <p:cNvPr id="27" name="Text 21"/>
          <p:cNvSpPr txBox="1"/>
          <p:nvPr/>
        </p:nvSpPr>
        <p:spPr>
          <a:xfrm>
            <a:off x="914400" y="4937760"/>
            <a:ext cx="10362895" cy="1097280"/>
          </a:xfrm>
          <a:prstGeom prst="rect">
            <a:avLst/>
          </a:prstGeom>
          <a:noFill/>
          <a:ln/>
        </p:spPr>
        <p:txBody>
          <a:bodyPr wrap="square" lIns="0" tIns="0" rIns="0" bIns="0" rtlCol="0" anchor="ctr"/>
          <a:lstStyle/>
          <a:p>
            <a:pPr indent="0" marL="0">
              <a:buNone/>
            </a:pPr>
            <a:r>
              <a:rPr lang="en-US" sz="1700" b="1" dirty="0">
                <a:solidFill>
                  <a:srgbClr val="F5C518"/>
                </a:solidFill>
              </a:rPr>
              <a:t>À retenir : </a:t>
            </a:r>
            <a:pPr indent="0" marL="0">
              <a:buNone/>
            </a:pPr>
            <a:r>
              <a:rPr lang="en-US" sz="1700" dirty="0">
                <a:solidFill>
                  <a:srgbClr val="FFFFFF"/>
                </a:solidFill>
              </a:rPr>
              <a:t>le patron n'a rien à faire. Tout part du formulaire du vendeur. Le soir et le matin, il reçoit aussi un résumé automatique sur WhatsApp.</a:t>
            </a:r>
            <a:endParaRPr lang="en-US" sz="17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Les 4 automatisations du système</a:t>
            </a:r>
            <a:endParaRPr lang="en-US" sz="3000" dirty="0"/>
          </a:p>
        </p:txBody>
      </p:sp>
      <p:graphicFrame>
        <p:nvGraphicFramePr>
          <p:cNvPr id="5"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94560"/>
                <a:gridCol w="2834640"/>
                <a:gridCol w="2926080"/>
                <a:gridCol w="3136392"/>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Workflow</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 déclenche quand…</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Ce qu'il fait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Message WhatsApp</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r>
              <a:tr h="82296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Stock 1 · Commande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vendeur envoie le formulaire « Nouvelle commande »</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ajoute la vente dans l'onglet Commandes, vérifie le stock</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 : nouvelle commande · client : confirmation · patron : alerte si stock bas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Stock 2 · Bilan du soir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chaque soir à 19 h, tout seul</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additionne les ventes et la marge du jour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 : bilan du soir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82296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Stock 3 · Arrivage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magasinier envoie le formulaire « Arrivage »</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ajoute la livraison dans l'onglet Arrivages, le stock monte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 : marchandise reçue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Stock 4 · Point du matin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chaque matin à 8 h, tout seul</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liste les produits à réapprovisionner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 : à commander aujourd'hui (seulement s'il y a quelque chose)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bl>
          </a:graphicData>
        </a:graphic>
      </p:graphicFrame>
      <p:sp>
        <p:nvSpPr>
          <p:cNvPr id="4" name="encadré Astuce"/>
          <p:cNvSpPr/>
          <p:nvPr/>
        </p:nvSpPr>
        <p:spPr>
          <a:xfrm>
            <a:off x="548640" y="5532120"/>
            <a:ext cx="11094415" cy="685800"/>
          </a:xfrm>
          <a:prstGeom prst="roundRect">
            <a:avLst>
              <a:gd name="adj" fmla="val 16000"/>
            </a:avLst>
          </a:prstGeom>
          <a:solidFill>
            <a:srgbClr val="E8F5EC"/>
          </a:solidFill>
          <a:ln w="12700">
            <a:solidFill>
              <a:srgbClr val="E8F5EC"/>
            </a:solidFill>
            <a:prstDash val="solid"/>
          </a:ln>
        </p:spPr>
      </p:sp>
      <p:pic>
        <p:nvPicPr>
          <p:cNvPr id="5" name="Image 0" descr="Astuce">    </p:cNvPr>
          <p:cNvPicPr>
            <a:picLocks noChangeAspect="1"/>
          </p:cNvPicPr>
          <p:nvPr/>
        </p:nvPicPr>
        <p:blipFill>
          <a:blip r:embed="rId1"/>
          <a:stretch>
            <a:fillRect/>
          </a:stretch>
        </p:blipFill>
        <p:spPr>
          <a:xfrm>
            <a:off x="749808" y="5715000"/>
            <a:ext cx="347472" cy="347472"/>
          </a:xfrm>
          <a:prstGeom prst="rect">
            <a:avLst/>
          </a:prstGeom>
        </p:spPr>
      </p:pic>
      <p:sp>
        <p:nvSpPr>
          <p:cNvPr id="6" name="Text 2"/>
          <p:cNvSpPr txBox="1"/>
          <p:nvPr/>
        </p:nvSpPr>
        <p:spPr>
          <a:xfrm>
            <a:off x="1261872" y="5678424"/>
            <a:ext cx="10198303" cy="411480"/>
          </a:xfrm>
          <a:prstGeom prst="rect">
            <a:avLst/>
          </a:prstGeom>
          <a:noFill/>
          <a:ln/>
        </p:spPr>
        <p:txBody>
          <a:bodyPr wrap="square" lIns="0" tIns="0" rIns="0" bIns="0" rtlCol="0" anchor="ctr"/>
          <a:lstStyle/>
          <a:p>
            <a:pPr indent="0" marL="0">
              <a:buNone/>
            </a:pPr>
            <a:r>
              <a:rPr lang="en-US" sz="1400" b="1" dirty="0">
                <a:solidFill>
                  <a:srgbClr val="1E8E3E"/>
                </a:solidFill>
              </a:rPr>
              <a:t>Astuce : </a:t>
            </a:r>
            <a:pPr indent="0" marL="0">
              <a:buNone/>
            </a:pPr>
            <a:r>
              <a:rPr lang="en-US" sz="1400" dirty="0">
                <a:solidFill>
                  <a:srgbClr val="1B2340"/>
                </a:solidFill>
              </a:rPr>
              <a:t>un « workflow » = une automatisation complète. Dans n8n, chacun est sur sa propre page.</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Les mots à connaître (1/2)</a:t>
            </a:r>
            <a:endParaRPr lang="en-US" sz="3000" dirty="0"/>
          </a:p>
        </p:txBody>
      </p:sp>
      <p:graphicFrame>
        <p:nvGraphicFramePr>
          <p:cNvPr id="6"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43200"/>
                <a:gridCol w="8348472"/>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Ce que ça veut dire, simplement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n8n</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L'outil qui fait le travail tout seul, comme un employé invisible qui ne dort jamais.</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Workflow</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Une automatisation complète : une page dans n8n. Le système en a 4 (Stock 1 à 4).</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Nœud</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Une case dans le workflow. Chaque case fait une seule action : lire, ajouter, calculer, envoyer.</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Credential (connexion)</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La connexion enregistrée une fois pour toutes entre n8n et un autre service (Google, WhatsApp).</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Google Sheet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Le tableau en ligne (comme Excel) où sont les produits, les ventes et les arrivages.</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Onglet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Une feuille du Google Sheet, en bas de l'écran : Produits, Commandes, Arrivages…</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Les mots à connaître (2/2)</a:t>
            </a:r>
            <a:endParaRPr lang="en-US" sz="3000" dirty="0"/>
          </a:p>
        </p:txBody>
      </p:sp>
      <p:graphicFrame>
        <p:nvGraphicFramePr>
          <p:cNvPr id="7"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43200"/>
                <a:gridCol w="8348472"/>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Ce que ça veut dire, simplement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Meta</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L'entreprise de Facebook et WhatsApp. C'est chez elle qu'on ouvre l'accès à WhatsApp pour n8n.</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Modèle (template)</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Un message WhatsApp écrit à l'avance et validé par Meta, avec des trous {{1}}, {{2}}… que n8n remplit.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Variable {{1}}</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Un trou dans le modèle. Exemple : {{1}} devient « Jean », {{2}} devient « 0812345678 ».</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Token (jeton)</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Un très long mot de passe qui permet à n8n d'envoyer des WhatsApp au nom de l'entreprise. Secret.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WABA ID</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Le numéro d'identité du compte WhatsApp Business (WhatsApp Business Account ID).</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Phone number ID</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Le numéro d'identité du numéro qui envoie les messages. n8n le trouve tout seul.</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Avant de commencer : ce qu'il te faut</a:t>
            </a:r>
            <a:endParaRPr lang="en-US" sz="3000" dirty="0"/>
          </a:p>
        </p:txBody>
      </p:sp>
      <p:sp>
        <p:nvSpPr>
          <p:cNvPr id="3" name="carte"/>
          <p:cNvSpPr/>
          <p:nvPr/>
        </p:nvSpPr>
        <p:spPr>
          <a:xfrm>
            <a:off x="548640" y="1417320"/>
            <a:ext cx="5394960" cy="4663440"/>
          </a:xfrm>
          <a:prstGeom prst="roundRect">
            <a:avLst>
              <a:gd name="adj" fmla="val 2941"/>
            </a:avLst>
          </a:prstGeom>
          <a:solidFill>
            <a:srgbClr val="EEF2F8"/>
          </a:solidFill>
          <a:ln w="12700">
            <a:solidFill>
              <a:srgbClr val="EEF2F8"/>
            </a:solidFill>
            <a:prstDash val="solid"/>
          </a:ln>
        </p:spPr>
      </p:sp>
      <p:sp>
        <p:nvSpPr>
          <p:cNvPr id="4" name="Text 2"/>
          <p:cNvSpPr txBox="1"/>
          <p:nvPr/>
        </p:nvSpPr>
        <p:spPr>
          <a:xfrm>
            <a:off x="868680" y="1600200"/>
            <a:ext cx="4572000" cy="457200"/>
          </a:xfrm>
          <a:prstGeom prst="rect">
            <a:avLst/>
          </a:prstGeom>
          <a:noFill/>
          <a:ln/>
        </p:spPr>
        <p:txBody>
          <a:bodyPr wrap="square" lIns="0" tIns="0" rIns="0" bIns="0" rtlCol="0" anchor="t"/>
          <a:lstStyle/>
          <a:p>
            <a:pPr indent="0" marL="0">
              <a:buNone/>
            </a:pPr>
            <a:r>
              <a:rPr lang="en-US" sz="2000" b="1" dirty="0">
                <a:solidFill>
                  <a:srgbClr val="1B2340"/>
                </a:solidFill>
              </a:rPr>
              <a:t>Les comptes</a:t>
            </a:r>
            <a:endParaRPr lang="en-US" sz="2000" dirty="0"/>
          </a:p>
        </p:txBody>
      </p:sp>
      <p:sp>
        <p:nvSpPr>
          <p:cNvPr id="5" name="pastille SiGoogledrive"/>
          <p:cNvSpPr/>
          <p:nvPr/>
        </p:nvSpPr>
        <p:spPr>
          <a:xfrm>
            <a:off x="868680" y="2240280"/>
            <a:ext cx="731520" cy="731520"/>
          </a:xfrm>
          <a:prstGeom prst="ellipse">
            <a:avLst/>
          </a:prstGeom>
          <a:solidFill>
            <a:srgbClr val="1B2340"/>
          </a:solidFill>
          <a:ln w="12700">
            <a:solidFill>
              <a:srgbClr val="1B2340"/>
            </a:solidFill>
            <a:prstDash val="solid"/>
          </a:ln>
        </p:spPr>
      </p:sp>
      <p:pic>
        <p:nvPicPr>
          <p:cNvPr id="6" name="Image 0" descr="SiGoogledrive">    </p:cNvPr>
          <p:cNvPicPr>
            <a:picLocks noChangeAspect="1"/>
          </p:cNvPicPr>
          <p:nvPr/>
        </p:nvPicPr>
        <p:blipFill>
          <a:blip r:embed="rId1"/>
          <a:stretch>
            <a:fillRect/>
          </a:stretch>
        </p:blipFill>
        <p:spPr>
          <a:xfrm>
            <a:off x="1029614" y="2401214"/>
            <a:ext cx="409651" cy="409651"/>
          </a:xfrm>
          <a:prstGeom prst="rect">
            <a:avLst/>
          </a:prstGeom>
        </p:spPr>
      </p:pic>
      <p:sp>
        <p:nvSpPr>
          <p:cNvPr id="7" name="Text 4"/>
          <p:cNvSpPr txBox="1"/>
          <p:nvPr/>
        </p:nvSpPr>
        <p:spPr>
          <a:xfrm>
            <a:off x="1783080" y="2194560"/>
            <a:ext cx="3931920" cy="914400"/>
          </a:xfrm>
          <a:prstGeom prst="rect">
            <a:avLst/>
          </a:prstGeom>
          <a:noFill/>
          <a:ln/>
        </p:spPr>
        <p:txBody>
          <a:bodyPr wrap="square" lIns="0" tIns="0" rIns="0" bIns="0" rtlCol="0" anchor="ctr"/>
          <a:lstStyle/>
          <a:p>
            <a:pPr indent="0" marL="0">
              <a:buNone/>
            </a:pPr>
            <a:r>
              <a:rPr lang="en-US" sz="1500" b="1" dirty="0">
                <a:solidFill>
                  <a:srgbClr val="1B2340"/>
                </a:solidFill>
              </a:rPr>
              <a:t>Un compte Google (Gmail)</a:t>
            </a:r>
            <a:endParaRPr lang="en-US" sz="1500" dirty="0"/>
          </a:p>
          <a:p>
            <a:pPr indent="0" marL="0">
              <a:buNone/>
            </a:pPr>
            <a:r>
              <a:rPr lang="en-US" sz="1500" dirty="0">
                <a:solidFill>
                  <a:srgbClr val="3A4566"/>
                </a:solidFill>
              </a:rPr>
              <a:t>pour Google Drive et Google Sheets</a:t>
            </a:r>
            <a:endParaRPr lang="en-US" sz="1500" dirty="0"/>
          </a:p>
        </p:txBody>
      </p:sp>
      <p:sp>
        <p:nvSpPr>
          <p:cNvPr id="8" name="pastille FaProjectDiagram"/>
          <p:cNvSpPr/>
          <p:nvPr/>
        </p:nvSpPr>
        <p:spPr>
          <a:xfrm>
            <a:off x="868680" y="3474720"/>
            <a:ext cx="731520" cy="731520"/>
          </a:xfrm>
          <a:prstGeom prst="ellipse">
            <a:avLst/>
          </a:prstGeom>
          <a:solidFill>
            <a:srgbClr val="1B2340"/>
          </a:solidFill>
          <a:ln w="12700">
            <a:solidFill>
              <a:srgbClr val="1B2340"/>
            </a:solidFill>
            <a:prstDash val="solid"/>
          </a:ln>
        </p:spPr>
      </p:sp>
      <p:pic>
        <p:nvPicPr>
          <p:cNvPr id="9" name="Image 1" descr="FaProjectDiagram">    </p:cNvPr>
          <p:cNvPicPr>
            <a:picLocks noChangeAspect="1"/>
          </p:cNvPicPr>
          <p:nvPr/>
        </p:nvPicPr>
        <p:blipFill>
          <a:blip r:embed="rId2"/>
          <a:stretch>
            <a:fillRect/>
          </a:stretch>
        </p:blipFill>
        <p:spPr>
          <a:xfrm>
            <a:off x="1029614" y="3635654"/>
            <a:ext cx="409651" cy="409651"/>
          </a:xfrm>
          <a:prstGeom prst="rect">
            <a:avLst/>
          </a:prstGeom>
        </p:spPr>
      </p:pic>
      <p:sp>
        <p:nvSpPr>
          <p:cNvPr id="10" name="Text 6"/>
          <p:cNvSpPr txBox="1"/>
          <p:nvPr/>
        </p:nvSpPr>
        <p:spPr>
          <a:xfrm>
            <a:off x="1783080" y="3429000"/>
            <a:ext cx="3931920" cy="914400"/>
          </a:xfrm>
          <a:prstGeom prst="rect">
            <a:avLst/>
          </a:prstGeom>
          <a:noFill/>
          <a:ln/>
        </p:spPr>
        <p:txBody>
          <a:bodyPr wrap="square" lIns="0" tIns="0" rIns="0" bIns="0" rtlCol="0" anchor="ctr"/>
          <a:lstStyle/>
          <a:p>
            <a:pPr indent="0" marL="0">
              <a:buNone/>
            </a:pPr>
            <a:r>
              <a:rPr lang="en-US" sz="1500" b="1" dirty="0">
                <a:solidFill>
                  <a:srgbClr val="1B2340"/>
                </a:solidFill>
              </a:rPr>
              <a:t>Un compte n8n</a:t>
            </a:r>
            <a:endParaRPr lang="en-US" sz="1500" dirty="0"/>
          </a:p>
          <a:p>
            <a:pPr indent="0" marL="0">
              <a:buNone/>
            </a:pPr>
            <a:r>
              <a:rPr lang="en-US" sz="1500" dirty="0">
                <a:solidFill>
                  <a:srgbClr val="3A4566"/>
                </a:solidFill>
              </a:rPr>
              <a:t>sur n8n.cloud (adresse du type tonnom.app.n8n.cloud)</a:t>
            </a:r>
            <a:endParaRPr lang="en-US" sz="1500" dirty="0"/>
          </a:p>
        </p:txBody>
      </p:sp>
      <p:sp>
        <p:nvSpPr>
          <p:cNvPr id="11" name="pastille SiMeta"/>
          <p:cNvSpPr/>
          <p:nvPr/>
        </p:nvSpPr>
        <p:spPr>
          <a:xfrm>
            <a:off x="868680" y="4709160"/>
            <a:ext cx="731520" cy="731520"/>
          </a:xfrm>
          <a:prstGeom prst="ellipse">
            <a:avLst/>
          </a:prstGeom>
          <a:solidFill>
            <a:srgbClr val="1B2340"/>
          </a:solidFill>
          <a:ln w="12700">
            <a:solidFill>
              <a:srgbClr val="1B2340"/>
            </a:solidFill>
            <a:prstDash val="solid"/>
          </a:ln>
        </p:spPr>
      </p:sp>
      <p:pic>
        <p:nvPicPr>
          <p:cNvPr id="12" name="Image 2" descr="SiMeta">    </p:cNvPr>
          <p:cNvPicPr>
            <a:picLocks noChangeAspect="1"/>
          </p:cNvPicPr>
          <p:nvPr/>
        </p:nvPicPr>
        <p:blipFill>
          <a:blip r:embed="rId3"/>
          <a:stretch>
            <a:fillRect/>
          </a:stretch>
        </p:blipFill>
        <p:spPr>
          <a:xfrm>
            <a:off x="1029614" y="4870094"/>
            <a:ext cx="409651" cy="409651"/>
          </a:xfrm>
          <a:prstGeom prst="rect">
            <a:avLst/>
          </a:prstGeom>
        </p:spPr>
      </p:pic>
      <p:sp>
        <p:nvSpPr>
          <p:cNvPr id="13" name="Text 8"/>
          <p:cNvSpPr txBox="1"/>
          <p:nvPr/>
        </p:nvSpPr>
        <p:spPr>
          <a:xfrm>
            <a:off x="1783080" y="4663440"/>
            <a:ext cx="3931920" cy="914400"/>
          </a:xfrm>
          <a:prstGeom prst="rect">
            <a:avLst/>
          </a:prstGeom>
          <a:noFill/>
          <a:ln/>
        </p:spPr>
        <p:txBody>
          <a:bodyPr wrap="square" lIns="0" tIns="0" rIns="0" bIns="0" rtlCol="0" anchor="ctr"/>
          <a:lstStyle/>
          <a:p>
            <a:pPr indent="0" marL="0">
              <a:buNone/>
            </a:pPr>
            <a:r>
              <a:rPr lang="en-US" sz="1500" b="1" dirty="0">
                <a:solidFill>
                  <a:srgbClr val="1B2340"/>
                </a:solidFill>
              </a:rPr>
              <a:t>Un compte Facebook</a:t>
            </a:r>
            <a:endParaRPr lang="en-US" sz="1500" dirty="0"/>
          </a:p>
          <a:p>
            <a:pPr indent="0" marL="0">
              <a:buNone/>
            </a:pPr>
            <a:r>
              <a:rPr lang="en-US" sz="1500" dirty="0">
                <a:solidFill>
                  <a:srgbClr val="3A4566"/>
                </a:solidFill>
              </a:rPr>
              <a:t>relié au portefeuille Meta Business de l'entreprise</a:t>
            </a:r>
            <a:endParaRPr lang="en-US" sz="1500" dirty="0"/>
          </a:p>
        </p:txBody>
      </p:sp>
      <p:sp>
        <p:nvSpPr>
          <p:cNvPr id="14" name="carte"/>
          <p:cNvSpPr/>
          <p:nvPr/>
        </p:nvSpPr>
        <p:spPr>
          <a:xfrm>
            <a:off x="6172200" y="1417320"/>
            <a:ext cx="5394960" cy="4663440"/>
          </a:xfrm>
          <a:prstGeom prst="roundRect">
            <a:avLst>
              <a:gd name="adj" fmla="val 2941"/>
            </a:avLst>
          </a:prstGeom>
          <a:solidFill>
            <a:srgbClr val="EEF2F8"/>
          </a:solidFill>
          <a:ln w="12700">
            <a:solidFill>
              <a:srgbClr val="EEF2F8"/>
            </a:solidFill>
            <a:prstDash val="solid"/>
          </a:ln>
        </p:spPr>
      </p:sp>
      <p:sp>
        <p:nvSpPr>
          <p:cNvPr id="15" name="Text 10"/>
          <p:cNvSpPr txBox="1"/>
          <p:nvPr/>
        </p:nvSpPr>
        <p:spPr>
          <a:xfrm>
            <a:off x="6492240" y="1600200"/>
            <a:ext cx="4572000" cy="457200"/>
          </a:xfrm>
          <a:prstGeom prst="rect">
            <a:avLst/>
          </a:prstGeom>
          <a:noFill/>
          <a:ln/>
        </p:spPr>
        <p:txBody>
          <a:bodyPr wrap="square" lIns="0" tIns="0" rIns="0" bIns="0" rtlCol="0" anchor="t"/>
          <a:lstStyle/>
          <a:p>
            <a:pPr indent="0" marL="0">
              <a:buNone/>
            </a:pPr>
            <a:r>
              <a:rPr lang="en-US" sz="2000" b="1" dirty="0">
                <a:solidFill>
                  <a:srgbClr val="128C7E"/>
                </a:solidFill>
              </a:rPr>
              <a:t>Le matériel</a:t>
            </a:r>
            <a:endParaRPr lang="en-US" sz="2000" dirty="0"/>
          </a:p>
        </p:txBody>
      </p:sp>
      <p:sp>
        <p:nvSpPr>
          <p:cNvPr id="16" name="pastille FaLaptop"/>
          <p:cNvSpPr/>
          <p:nvPr/>
        </p:nvSpPr>
        <p:spPr>
          <a:xfrm>
            <a:off x="6492240" y="2240280"/>
            <a:ext cx="731520" cy="731520"/>
          </a:xfrm>
          <a:prstGeom prst="ellipse">
            <a:avLst/>
          </a:prstGeom>
          <a:solidFill>
            <a:srgbClr val="128C7E"/>
          </a:solidFill>
          <a:ln w="12700">
            <a:solidFill>
              <a:srgbClr val="128C7E"/>
            </a:solidFill>
            <a:prstDash val="solid"/>
          </a:ln>
        </p:spPr>
      </p:sp>
      <p:pic>
        <p:nvPicPr>
          <p:cNvPr id="17" name="Image 3" descr="FaLaptop">    </p:cNvPr>
          <p:cNvPicPr>
            <a:picLocks noChangeAspect="1"/>
          </p:cNvPicPr>
          <p:nvPr/>
        </p:nvPicPr>
        <p:blipFill>
          <a:blip r:embed="rId4"/>
          <a:stretch>
            <a:fillRect/>
          </a:stretch>
        </p:blipFill>
        <p:spPr>
          <a:xfrm>
            <a:off x="6653174" y="2401214"/>
            <a:ext cx="409651" cy="409651"/>
          </a:xfrm>
          <a:prstGeom prst="rect">
            <a:avLst/>
          </a:prstGeom>
        </p:spPr>
      </p:pic>
      <p:sp>
        <p:nvSpPr>
          <p:cNvPr id="18" name="Text 12"/>
          <p:cNvSpPr txBox="1"/>
          <p:nvPr/>
        </p:nvSpPr>
        <p:spPr>
          <a:xfrm>
            <a:off x="7406640" y="2194560"/>
            <a:ext cx="3931920" cy="914400"/>
          </a:xfrm>
          <a:prstGeom prst="rect">
            <a:avLst/>
          </a:prstGeom>
          <a:noFill/>
          <a:ln/>
        </p:spPr>
        <p:txBody>
          <a:bodyPr wrap="square" lIns="0" tIns="0" rIns="0" bIns="0" rtlCol="0" anchor="ctr"/>
          <a:lstStyle/>
          <a:p>
            <a:pPr indent="0" marL="0">
              <a:buNone/>
            </a:pPr>
            <a:r>
              <a:rPr lang="en-US" sz="1500" b="1" dirty="0">
                <a:solidFill>
                  <a:srgbClr val="1B2340"/>
                </a:solidFill>
              </a:rPr>
              <a:t>Un ordinateur</a:t>
            </a:r>
            <a:endParaRPr lang="en-US" sz="1500" dirty="0"/>
          </a:p>
          <a:p>
            <a:pPr indent="0" marL="0">
              <a:buNone/>
            </a:pPr>
            <a:r>
              <a:rPr lang="en-US" sz="1500" dirty="0">
                <a:solidFill>
                  <a:srgbClr val="3A4566"/>
                </a:solidFill>
              </a:rPr>
              <a:t>avec Chrome, c'est plus confortable que le téléphone</a:t>
            </a:r>
            <a:endParaRPr lang="en-US" sz="1500" dirty="0"/>
          </a:p>
        </p:txBody>
      </p:sp>
      <p:sp>
        <p:nvSpPr>
          <p:cNvPr id="19" name="pastille FaMobileAlt"/>
          <p:cNvSpPr/>
          <p:nvPr/>
        </p:nvSpPr>
        <p:spPr>
          <a:xfrm>
            <a:off x="6492240" y="3474720"/>
            <a:ext cx="731520" cy="731520"/>
          </a:xfrm>
          <a:prstGeom prst="ellipse">
            <a:avLst/>
          </a:prstGeom>
          <a:solidFill>
            <a:srgbClr val="128C7E"/>
          </a:solidFill>
          <a:ln w="12700">
            <a:solidFill>
              <a:srgbClr val="128C7E"/>
            </a:solidFill>
            <a:prstDash val="solid"/>
          </a:ln>
        </p:spPr>
      </p:sp>
      <p:pic>
        <p:nvPicPr>
          <p:cNvPr id="20" name="Image 4" descr="FaMobileAlt">    </p:cNvPr>
          <p:cNvPicPr>
            <a:picLocks noChangeAspect="1"/>
          </p:cNvPicPr>
          <p:nvPr/>
        </p:nvPicPr>
        <p:blipFill>
          <a:blip r:embed="rId5"/>
          <a:stretch>
            <a:fillRect/>
          </a:stretch>
        </p:blipFill>
        <p:spPr>
          <a:xfrm>
            <a:off x="6653174" y="3635654"/>
            <a:ext cx="409651" cy="409651"/>
          </a:xfrm>
          <a:prstGeom prst="rect">
            <a:avLst/>
          </a:prstGeom>
        </p:spPr>
      </p:pic>
      <p:sp>
        <p:nvSpPr>
          <p:cNvPr id="21" name="Text 14"/>
          <p:cNvSpPr txBox="1"/>
          <p:nvPr/>
        </p:nvSpPr>
        <p:spPr>
          <a:xfrm>
            <a:off x="7406640" y="3429000"/>
            <a:ext cx="3931920" cy="914400"/>
          </a:xfrm>
          <a:prstGeom prst="rect">
            <a:avLst/>
          </a:prstGeom>
          <a:noFill/>
          <a:ln/>
        </p:spPr>
        <p:txBody>
          <a:bodyPr wrap="square" lIns="0" tIns="0" rIns="0" bIns="0" rtlCol="0" anchor="ctr"/>
          <a:lstStyle/>
          <a:p>
            <a:pPr indent="0" marL="0">
              <a:buNone/>
            </a:pPr>
            <a:r>
              <a:rPr lang="en-US" sz="1500" b="1" dirty="0">
                <a:solidFill>
                  <a:srgbClr val="1B2340"/>
                </a:solidFill>
              </a:rPr>
              <a:t>Un téléphone avec WhatsApp</a:t>
            </a:r>
            <a:endParaRPr lang="en-US" sz="1500" dirty="0"/>
          </a:p>
          <a:p>
            <a:pPr indent="0" marL="0">
              <a:buNone/>
            </a:pPr>
            <a:r>
              <a:rPr lang="en-US" sz="1500" dirty="0">
                <a:solidFill>
                  <a:srgbClr val="3A4566"/>
                </a:solidFill>
              </a:rPr>
              <a:t>pour recevoir les messages de test</a:t>
            </a:r>
            <a:endParaRPr lang="en-US" sz="1500" dirty="0"/>
          </a:p>
        </p:txBody>
      </p:sp>
      <p:sp>
        <p:nvSpPr>
          <p:cNvPr id="22" name="pastille FaFolderOpen"/>
          <p:cNvSpPr/>
          <p:nvPr/>
        </p:nvSpPr>
        <p:spPr>
          <a:xfrm>
            <a:off x="6492240" y="4709160"/>
            <a:ext cx="731520" cy="731520"/>
          </a:xfrm>
          <a:prstGeom prst="ellipse">
            <a:avLst/>
          </a:prstGeom>
          <a:solidFill>
            <a:srgbClr val="128C7E"/>
          </a:solidFill>
          <a:ln w="12700">
            <a:solidFill>
              <a:srgbClr val="128C7E"/>
            </a:solidFill>
            <a:prstDash val="solid"/>
          </a:ln>
        </p:spPr>
      </p:sp>
      <p:pic>
        <p:nvPicPr>
          <p:cNvPr id="23" name="Image 5" descr="FaFolderOpen">    </p:cNvPr>
          <p:cNvPicPr>
            <a:picLocks noChangeAspect="1"/>
          </p:cNvPicPr>
          <p:nvPr/>
        </p:nvPicPr>
        <p:blipFill>
          <a:blip r:embed="rId6"/>
          <a:stretch>
            <a:fillRect/>
          </a:stretch>
        </p:blipFill>
        <p:spPr>
          <a:xfrm>
            <a:off x="6653174" y="4870094"/>
            <a:ext cx="409651" cy="409651"/>
          </a:xfrm>
          <a:prstGeom prst="rect">
            <a:avLst/>
          </a:prstGeom>
        </p:spPr>
      </p:pic>
      <p:sp>
        <p:nvSpPr>
          <p:cNvPr id="24" name="Text 16"/>
          <p:cNvSpPr txBox="1"/>
          <p:nvPr/>
        </p:nvSpPr>
        <p:spPr>
          <a:xfrm>
            <a:off x="7406640" y="4663440"/>
            <a:ext cx="3931920" cy="914400"/>
          </a:xfrm>
          <a:prstGeom prst="rect">
            <a:avLst/>
          </a:prstGeom>
          <a:noFill/>
          <a:ln/>
        </p:spPr>
        <p:txBody>
          <a:bodyPr wrap="square" lIns="0" tIns="0" rIns="0" bIns="0" rtlCol="0" anchor="ctr"/>
          <a:lstStyle/>
          <a:p>
            <a:pPr indent="0" marL="0">
              <a:buNone/>
            </a:pPr>
            <a:r>
              <a:rPr lang="en-US" sz="1500" b="1" dirty="0">
                <a:solidFill>
                  <a:srgbClr val="1B2340"/>
                </a:solidFill>
              </a:rPr>
              <a:t>Le kit de fichiers</a:t>
            </a:r>
            <a:endParaRPr lang="en-US" sz="1500" dirty="0"/>
          </a:p>
          <a:p>
            <a:pPr indent="0" marL="0">
              <a:buNone/>
            </a:pPr>
            <a:r>
              <a:rPr lang="en-US" sz="1500" dirty="0">
                <a:solidFill>
                  <a:srgbClr val="3A4566"/>
                </a:solidFill>
              </a:rPr>
              <a:t>dossier automatisation-n8n (slide suivante)</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 kit de fichiers</a:t>
            </a:r>
            <a:endParaRPr lang="en-US" sz="3000" dirty="0"/>
          </a:p>
        </p:txBody>
      </p:sp>
      <p:graphicFrame>
        <p:nvGraphicFramePr>
          <p:cNvPr id="9"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297680"/>
                <a:gridCol w="6793992"/>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Fichier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À quoi il sert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B2340"/>
                    </a:solidFill>
                  </a:tcPr>
                </a:tc>
              </a:tr>
              <a:tr h="45720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gestion_de_stock_auto.xlsx</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tableau de stock à mettre dans Google Drive (étape 1)</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workflow_1_commande_alerte_stock.json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workflow Stock 1 à importer dans n8n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45720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workflow_2_bilan_du_soir.json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workflow Stock 2</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workflow_3_arrivage_marchandise.json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workflow Stock 3</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45720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workflow_4_point_du_matin.json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workflow Stock 4</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modeles_whatsapp_meta.md</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Les textes des 6 messages WhatsApp à faire valider par Meta (à copier-coller)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45720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systeme_gestion_stock_automatise.pdf</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PDF qui explique le système au client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bl>
          </a:graphicData>
        </a:graphic>
      </p:graphicFrame>
      <p:sp>
        <p:nvSpPr>
          <p:cNvPr id="4" name="encadré Erreur fréquente"/>
          <p:cNvSpPr/>
          <p:nvPr/>
        </p:nvSpPr>
        <p:spPr>
          <a:xfrm>
            <a:off x="548640" y="5349240"/>
            <a:ext cx="11094415" cy="731520"/>
          </a:xfrm>
          <a:prstGeom prst="roundRect">
            <a:avLst>
              <a:gd name="adj" fmla="val 15000"/>
            </a:avLst>
          </a:prstGeom>
          <a:solidFill>
            <a:srgbClr val="FDE8E7"/>
          </a:solidFill>
          <a:ln w="12700">
            <a:solidFill>
              <a:srgbClr val="FDE8E7"/>
            </a:solidFill>
            <a:prstDash val="solid"/>
          </a:ln>
        </p:spPr>
      </p:sp>
      <p:pic>
        <p:nvPicPr>
          <p:cNvPr id="5" name="Image 0" descr="Erreur fréquente">    </p:cNvPr>
          <p:cNvPicPr>
            <a:picLocks noChangeAspect="1"/>
          </p:cNvPicPr>
          <p:nvPr/>
        </p:nvPicPr>
        <p:blipFill>
          <a:blip r:embed="rId1"/>
          <a:stretch>
            <a:fillRect/>
          </a:stretch>
        </p:blipFill>
        <p:spPr>
          <a:xfrm>
            <a:off x="749808" y="5532120"/>
            <a:ext cx="347472" cy="347472"/>
          </a:xfrm>
          <a:prstGeom prst="rect">
            <a:avLst/>
          </a:prstGeom>
        </p:spPr>
      </p:pic>
      <p:sp>
        <p:nvSpPr>
          <p:cNvPr id="6" name="Text 2"/>
          <p:cNvSpPr txBox="1"/>
          <p:nvPr/>
        </p:nvSpPr>
        <p:spPr>
          <a:xfrm>
            <a:off x="1261872" y="5495544"/>
            <a:ext cx="10198303" cy="457200"/>
          </a:xfrm>
          <a:prstGeom prst="rect">
            <a:avLst/>
          </a:prstGeom>
          <a:noFill/>
          <a:ln/>
        </p:spPr>
        <p:txBody>
          <a:bodyPr wrap="square" lIns="0" tIns="0" rIns="0" bIns="0" rtlCol="0" anchor="ctr"/>
          <a:lstStyle/>
          <a:p>
            <a:pPr indent="0" marL="0">
              <a:buNone/>
            </a:pPr>
            <a:r>
              <a:rPr lang="en-US" sz="1400" b="1" dirty="0">
                <a:solidFill>
                  <a:srgbClr val="D93025"/>
                </a:solidFill>
              </a:rPr>
              <a:t>Erreur fréquente : </a:t>
            </a:r>
            <a:pPr indent="0" marL="0">
              <a:buNone/>
            </a:pPr>
            <a:r>
              <a:rPr lang="en-US" sz="1400" dirty="0">
                <a:solidFill>
                  <a:srgbClr val="1B2340"/>
                </a:solidFill>
              </a:rPr>
              <a:t>n'importe jamais le dossier « ancienne-version-telegram-NE-PAS-IMPORTER ». C'est une vieille version.</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ercle étape"/>
          <p:cNvSpPr/>
          <p:nvPr/>
        </p:nvSpPr>
        <p:spPr>
          <a:xfrm>
            <a:off x="822960" y="1965960"/>
            <a:ext cx="2468880" cy="2468880"/>
          </a:xfrm>
          <a:prstGeom prst="ellipse">
            <a:avLst/>
          </a:prstGeom>
          <a:solidFill>
            <a:srgbClr val="1E8E3E"/>
          </a:solidFill>
          <a:ln w="12700">
            <a:solidFill>
              <a:srgbClr val="1E8E3E"/>
            </a:solidFill>
            <a:prstDash val="solid"/>
          </a:ln>
        </p:spPr>
      </p:sp>
      <p:sp>
        <p:nvSpPr>
          <p:cNvPr id="3" name="Text 1"/>
          <p:cNvSpPr txBox="1"/>
          <p:nvPr/>
        </p:nvSpPr>
        <p:spPr>
          <a:xfrm>
            <a:off x="822960" y="1965960"/>
            <a:ext cx="2468880" cy="1600200"/>
          </a:xfrm>
          <a:prstGeom prst="rect">
            <a:avLst/>
          </a:prstGeom>
          <a:noFill/>
          <a:ln/>
        </p:spPr>
        <p:txBody>
          <a:bodyPr wrap="square" lIns="0" tIns="0" rIns="0" bIns="0" rtlCol="0" anchor="b"/>
          <a:lstStyle/>
          <a:p>
            <a:pPr algn="ctr" indent="0" marL="0">
              <a:buNone/>
            </a:pPr>
            <a:r>
              <a:rPr lang="en-US" sz="8000" b="1" dirty="0">
                <a:solidFill>
                  <a:srgbClr val="FFFFFF"/>
                </a:solidFill>
                <a:latin typeface="Arial" pitchFamily="34" charset="0"/>
                <a:ea typeface="Arial" pitchFamily="34" charset="-122"/>
                <a:cs typeface="Arial" pitchFamily="34" charset="-120"/>
              </a:rPr>
              <a:t>1</a:t>
            </a:r>
            <a:endParaRPr lang="en-US" sz="8000" dirty="0"/>
          </a:p>
        </p:txBody>
      </p:sp>
      <p:pic>
        <p:nvPicPr>
          <p:cNvPr id="4" name="Image 0" descr="SiGooglesheets">    </p:cNvPr>
          <p:cNvPicPr>
            <a:picLocks noChangeAspect="1"/>
          </p:cNvPicPr>
          <p:nvPr/>
        </p:nvPicPr>
        <p:blipFill>
          <a:blip r:embed="rId1"/>
          <a:stretch>
            <a:fillRect/>
          </a:stretch>
        </p:blipFill>
        <p:spPr>
          <a:xfrm>
            <a:off x="1828800" y="3611880"/>
            <a:ext cx="457200" cy="457200"/>
          </a:xfrm>
          <a:prstGeom prst="rect">
            <a:avLst/>
          </a:prstGeom>
        </p:spPr>
      </p:pic>
      <p:sp>
        <p:nvSpPr>
          <p:cNvPr id="5" name="Text 2"/>
          <p:cNvSpPr txBox="1"/>
          <p:nvPr/>
        </p:nvSpPr>
        <p:spPr>
          <a:xfrm>
            <a:off x="3931920" y="1874520"/>
            <a:ext cx="4572000" cy="365760"/>
          </a:xfrm>
          <a:prstGeom prst="rect">
            <a:avLst/>
          </a:prstGeom>
          <a:noFill/>
          <a:ln/>
        </p:spPr>
        <p:txBody>
          <a:bodyPr wrap="square" lIns="0" tIns="0" rIns="0" bIns="0" rtlCol="0" anchor="t"/>
          <a:lstStyle/>
          <a:p>
            <a:pPr indent="0" marL="0">
              <a:buNone/>
            </a:pPr>
            <a:r>
              <a:rPr lang="en-US" sz="1400" b="1" spc="300" kern="0" dirty="0">
                <a:solidFill>
                  <a:srgbClr val="F5C518"/>
                </a:solidFill>
              </a:rPr>
              <a:t>ÉTAPE 1</a:t>
            </a:r>
            <a:endParaRPr lang="en-US" sz="1400" dirty="0"/>
          </a:p>
        </p:txBody>
      </p:sp>
      <p:sp>
        <p:nvSpPr>
          <p:cNvPr id="6" name="Text 0"/>
          <p:cNvSpPr/>
          <p:nvPr>
            <p:ph idx="100" type="title" hasCustomPrompt="1"/>
          </p:nvPr>
        </p:nvSpPr>
        <p:spPr>
          <a:xfrm>
            <a:off x="3931920" y="2377440"/>
            <a:ext cx="7680960" cy="1188720"/>
          </a:xfrm>
          <a:prstGeom prst="rect">
            <a:avLst/>
          </a:prstGeom>
          <a:noFill/>
          <a:ln/>
        </p:spPr>
        <p:txBody>
          <a:bodyPr wrap="square" lIns="0" tIns="0" rIns="0" bIns="0" rtlCol="0" anchor="t"/>
          <a:lstStyle/>
          <a:p>
            <a:pPr algn="l" indent="0" marL="0">
              <a:buNone/>
            </a:pPr>
            <a:r>
              <a:rPr lang="en-US" sz="4000" b="1" dirty="0">
                <a:solidFill>
                  <a:schemeClr val="bg1"/>
                </a:solidFill>
              </a:rPr>
              <a:t>Le Google Sheet</a:t>
            </a:r>
            <a:endParaRPr lang="en-US" sz="4000" dirty="0"/>
          </a:p>
        </p:txBody>
      </p:sp>
      <p:sp>
        <p:nvSpPr>
          <p:cNvPr id="7" name="Text 0"/>
          <p:cNvSpPr/>
          <p:nvPr>
            <p:ph idx="101" type="body" hasCustomPrompt="1"/>
          </p:nvPr>
        </p:nvSpPr>
        <p:spPr>
          <a:xfrm>
            <a:off x="3931920" y="3611880"/>
            <a:ext cx="7498080" cy="1280160"/>
          </a:xfrm>
          <a:prstGeom prst="rect">
            <a:avLst/>
          </a:prstGeom>
          <a:noFill/>
          <a:ln/>
        </p:spPr>
        <p:txBody>
          <a:bodyPr wrap="square" lIns="0" tIns="0" rIns="0" bIns="0" rtlCol="0" anchor="t"/>
          <a:lstStyle/>
          <a:p>
            <a:pPr indent="0" marL="0">
              <a:buNone/>
            </a:pPr>
            <a:r>
              <a:rPr lang="en-US" sz="1800" dirty="0">
                <a:solidFill>
                  <a:schemeClr val="bg2"/>
                </a:solidFill>
              </a:rPr>
              <a:t>Mettre le tableau de stock en ligne, pour que n8n puisse le lire et y écrire.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C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Mettre le tableau dans Google Drive</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E8E3E"/>
          </a:solidFill>
          <a:ln w="12700">
            <a:solidFill>
              <a:srgbClr val="1E8E3E"/>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1 · SHEETS</a:t>
            </a:r>
            <a:endParaRPr lang="en-US" sz="1200" dirty="0"/>
          </a:p>
        </p:txBody>
      </p:sp>
      <p:sp>
        <p:nvSpPr>
          <p:cNvPr id="5" name="numéro 1"/>
          <p:cNvSpPr/>
          <p:nvPr/>
        </p:nvSpPr>
        <p:spPr>
          <a:xfrm>
            <a:off x="548640" y="1435608"/>
            <a:ext cx="402336" cy="402336"/>
          </a:xfrm>
          <a:prstGeom prst="ellipse">
            <a:avLst/>
          </a:prstGeom>
          <a:solidFill>
            <a:srgbClr val="1E8E3E"/>
          </a:solidFill>
          <a:ln w="12700">
            <a:solidFill>
              <a:srgbClr val="1E8E3E"/>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742432" cy="701040"/>
          </a:xfrm>
          <a:prstGeom prst="rect">
            <a:avLst/>
          </a:prstGeom>
          <a:noFill/>
          <a:ln/>
        </p:spPr>
        <p:txBody>
          <a:bodyPr wrap="square" lIns="0" tIns="0" rIns="0" bIns="0" rtlCol="0" anchor="t"/>
          <a:lstStyle/>
          <a:p>
            <a:pPr indent="0" marL="0">
              <a:buNone/>
            </a:pPr>
            <a:r>
              <a:rPr lang="en-US" sz="1500" b="1" dirty="0">
                <a:solidFill>
                  <a:srgbClr val="1B2340"/>
                </a:solidFill>
              </a:rPr>
              <a:t>Ouvre drive.google.com</a:t>
            </a:r>
            <a:pPr indent="0" marL="0">
              <a:buNone/>
            </a:pPr>
            <a:r>
              <a:rPr lang="en-US" sz="1500" dirty="0">
                <a:solidFill>
                  <a:srgbClr val="3A4566"/>
                </a:solidFill>
              </a:rPr>
              <a:t>  avec le compte Google du client (ou le tien pour t'entraîner).</a:t>
            </a:r>
            <a:endParaRPr lang="en-US" sz="1500" dirty="0"/>
          </a:p>
        </p:txBody>
      </p:sp>
      <p:sp>
        <p:nvSpPr>
          <p:cNvPr id="8" name="numéro 2"/>
          <p:cNvSpPr/>
          <p:nvPr/>
        </p:nvSpPr>
        <p:spPr>
          <a:xfrm>
            <a:off x="548640" y="2246376"/>
            <a:ext cx="402336" cy="402336"/>
          </a:xfrm>
          <a:prstGeom prst="ellipse">
            <a:avLst/>
          </a:prstGeom>
          <a:solidFill>
            <a:srgbClr val="1E8E3E"/>
          </a:solidFill>
          <a:ln w="12700">
            <a:solidFill>
              <a:srgbClr val="1E8E3E"/>
            </a:solidFill>
            <a:prstDash val="solid"/>
          </a:ln>
        </p:spPr>
      </p:sp>
      <p:sp>
        <p:nvSpPr>
          <p:cNvPr id="9" name="Text 7"/>
          <p:cNvSpPr txBox="1"/>
          <p:nvPr/>
        </p:nvSpPr>
        <p:spPr>
          <a:xfrm>
            <a:off x="548640" y="22463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228088"/>
            <a:ext cx="5742432" cy="701040"/>
          </a:xfrm>
          <a:prstGeom prst="rect">
            <a:avLst/>
          </a:prstGeom>
          <a:noFill/>
          <a:ln/>
        </p:spPr>
        <p:txBody>
          <a:bodyPr wrap="square" lIns="0" tIns="0" rIns="0" bIns="0" rtlCol="0" anchor="t"/>
          <a:lstStyle/>
          <a:p>
            <a:pPr indent="0" marL="0">
              <a:buNone/>
            </a:pPr>
            <a:r>
              <a:rPr lang="en-US" sz="1500" b="1" dirty="0">
                <a:solidFill>
                  <a:srgbClr val="1B2340"/>
                </a:solidFill>
              </a:rPr>
              <a:t>Nouveau → Importer un fichier</a:t>
            </a:r>
            <a:pPr indent="0" marL="0">
              <a:buNone/>
            </a:pPr>
            <a:r>
              <a:rPr lang="en-US" sz="1500" dirty="0">
                <a:solidFill>
                  <a:srgbClr val="3A4566"/>
                </a:solidFill>
              </a:rPr>
              <a:t>  et choisis gestion_de_stock_auto.xlsx.</a:t>
            </a:r>
            <a:endParaRPr lang="en-US" sz="1500" dirty="0"/>
          </a:p>
        </p:txBody>
      </p:sp>
      <p:sp>
        <p:nvSpPr>
          <p:cNvPr id="11" name="numéro 3"/>
          <p:cNvSpPr/>
          <p:nvPr/>
        </p:nvSpPr>
        <p:spPr>
          <a:xfrm>
            <a:off x="548640" y="3057144"/>
            <a:ext cx="402336" cy="402336"/>
          </a:xfrm>
          <a:prstGeom prst="ellipse">
            <a:avLst/>
          </a:prstGeom>
          <a:solidFill>
            <a:srgbClr val="1E8E3E"/>
          </a:solidFill>
          <a:ln w="12700">
            <a:solidFill>
              <a:srgbClr val="1E8E3E"/>
            </a:solidFill>
            <a:prstDash val="solid"/>
          </a:ln>
        </p:spPr>
      </p:sp>
      <p:sp>
        <p:nvSpPr>
          <p:cNvPr id="12" name="Text 10"/>
          <p:cNvSpPr txBox="1"/>
          <p:nvPr/>
        </p:nvSpPr>
        <p:spPr>
          <a:xfrm>
            <a:off x="548640" y="30571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038856"/>
            <a:ext cx="5742432" cy="701040"/>
          </a:xfrm>
          <a:prstGeom prst="rect">
            <a:avLst/>
          </a:prstGeom>
          <a:noFill/>
          <a:ln/>
        </p:spPr>
        <p:txBody>
          <a:bodyPr wrap="square" lIns="0" tIns="0" rIns="0" bIns="0" rtlCol="0" anchor="t"/>
          <a:lstStyle/>
          <a:p>
            <a:pPr indent="0" marL="0">
              <a:buNone/>
            </a:pPr>
            <a:r>
              <a:rPr lang="en-US" sz="1500" b="1" dirty="0">
                <a:solidFill>
                  <a:srgbClr val="1B2340"/>
                </a:solidFill>
              </a:rPr>
              <a:t>Ouvre le fichier, puis Fichier → Enregistrer au format Google Sheets.</a:t>
            </a:r>
            <a:endParaRPr lang="en-US" sz="1500" dirty="0"/>
          </a:p>
        </p:txBody>
      </p:sp>
      <p:sp>
        <p:nvSpPr>
          <p:cNvPr id="14" name="numéro 4"/>
          <p:cNvSpPr/>
          <p:nvPr/>
        </p:nvSpPr>
        <p:spPr>
          <a:xfrm>
            <a:off x="548640" y="3867912"/>
            <a:ext cx="402336" cy="402336"/>
          </a:xfrm>
          <a:prstGeom prst="ellipse">
            <a:avLst/>
          </a:prstGeom>
          <a:solidFill>
            <a:srgbClr val="1E8E3E"/>
          </a:solidFill>
          <a:ln w="12700">
            <a:solidFill>
              <a:srgbClr val="1E8E3E"/>
            </a:solidFill>
            <a:prstDash val="solid"/>
          </a:ln>
        </p:spPr>
      </p:sp>
      <p:sp>
        <p:nvSpPr>
          <p:cNvPr id="15" name="Text 13"/>
          <p:cNvSpPr txBox="1"/>
          <p:nvPr/>
        </p:nvSpPr>
        <p:spPr>
          <a:xfrm>
            <a:off x="548640" y="38679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3849624"/>
            <a:ext cx="5742432" cy="701040"/>
          </a:xfrm>
          <a:prstGeom prst="rect">
            <a:avLst/>
          </a:prstGeom>
          <a:noFill/>
          <a:ln/>
        </p:spPr>
        <p:txBody>
          <a:bodyPr wrap="square" lIns="0" tIns="0" rIns="0" bIns="0" rtlCol="0" anchor="t"/>
          <a:lstStyle/>
          <a:p>
            <a:pPr indent="0" marL="0">
              <a:buNone/>
            </a:pPr>
            <a:r>
              <a:rPr lang="en-US" sz="1500" b="1" dirty="0">
                <a:solidFill>
                  <a:srgbClr val="1B2340"/>
                </a:solidFill>
              </a:rPr>
              <a:t>Une nouvelle version s'ouvre.</a:t>
            </a:r>
            <a:pPr indent="0" marL="0">
              <a:buNone/>
            </a:pPr>
            <a:r>
              <a:rPr lang="en-US" sz="1500" dirty="0">
                <a:solidFill>
                  <a:srgbClr val="3A4566"/>
                </a:solidFill>
              </a:rPr>
              <a:t>  C'est celle-là qu'on utilise, pas le .xlsx.</a:t>
            </a:r>
            <a:endParaRPr lang="en-US" sz="1500" dirty="0"/>
          </a:p>
        </p:txBody>
      </p:sp>
      <p:sp>
        <p:nvSpPr>
          <p:cNvPr id="17" name="numéro 5"/>
          <p:cNvSpPr/>
          <p:nvPr/>
        </p:nvSpPr>
        <p:spPr>
          <a:xfrm>
            <a:off x="548640" y="4678680"/>
            <a:ext cx="402336" cy="402336"/>
          </a:xfrm>
          <a:prstGeom prst="ellipse">
            <a:avLst/>
          </a:prstGeom>
          <a:solidFill>
            <a:srgbClr val="1E8E3E"/>
          </a:solidFill>
          <a:ln w="12700">
            <a:solidFill>
              <a:srgbClr val="1E8E3E"/>
            </a:solidFill>
            <a:prstDash val="solid"/>
          </a:ln>
        </p:spPr>
      </p:sp>
      <p:sp>
        <p:nvSpPr>
          <p:cNvPr id="18" name="Text 16"/>
          <p:cNvSpPr txBox="1"/>
          <p:nvPr/>
        </p:nvSpPr>
        <p:spPr>
          <a:xfrm>
            <a:off x="548640" y="4678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9" name="Text 17"/>
          <p:cNvSpPr txBox="1"/>
          <p:nvPr/>
        </p:nvSpPr>
        <p:spPr>
          <a:xfrm>
            <a:off x="1115568" y="4660392"/>
            <a:ext cx="5742432" cy="701040"/>
          </a:xfrm>
          <a:prstGeom prst="rect">
            <a:avLst/>
          </a:prstGeom>
          <a:noFill/>
          <a:ln/>
        </p:spPr>
        <p:txBody>
          <a:bodyPr wrap="square" lIns="0" tIns="0" rIns="0" bIns="0" rtlCol="0" anchor="t"/>
          <a:lstStyle/>
          <a:p>
            <a:pPr indent="0" marL="0">
              <a:buNone/>
            </a:pPr>
            <a:r>
              <a:rPr lang="en-US" sz="1500" b="1" dirty="0">
                <a:solidFill>
                  <a:srgbClr val="1B2340"/>
                </a:solidFill>
              </a:rPr>
              <a:t>Vérifie les 6 onglets en bas de l'écran</a:t>
            </a:r>
            <a:pPr indent="0" marL="0">
              <a:buNone/>
            </a:pPr>
            <a:r>
              <a:rPr lang="en-US" sz="1500" dirty="0">
                <a:solidFill>
                  <a:srgbClr val="3A4566"/>
                </a:solidFill>
              </a:rPr>
              <a:t>  (voir à droite).</a:t>
            </a:r>
            <a:endParaRPr lang="en-US" sz="1500" dirty="0"/>
          </a:p>
        </p:txBody>
      </p:sp>
      <p:sp>
        <p:nvSpPr>
          <p:cNvPr id="20" name="numéro 6"/>
          <p:cNvSpPr/>
          <p:nvPr/>
        </p:nvSpPr>
        <p:spPr>
          <a:xfrm>
            <a:off x="548640" y="5489448"/>
            <a:ext cx="402336" cy="402336"/>
          </a:xfrm>
          <a:prstGeom prst="ellipse">
            <a:avLst/>
          </a:prstGeom>
          <a:solidFill>
            <a:srgbClr val="1E8E3E"/>
          </a:solidFill>
          <a:ln w="12700">
            <a:solidFill>
              <a:srgbClr val="1E8E3E"/>
            </a:solidFill>
            <a:prstDash val="solid"/>
          </a:ln>
        </p:spPr>
      </p:sp>
      <p:sp>
        <p:nvSpPr>
          <p:cNvPr id="21" name="Text 19"/>
          <p:cNvSpPr txBox="1"/>
          <p:nvPr/>
        </p:nvSpPr>
        <p:spPr>
          <a:xfrm>
            <a:off x="548640" y="54894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2" name="Text 20"/>
          <p:cNvSpPr txBox="1"/>
          <p:nvPr/>
        </p:nvSpPr>
        <p:spPr>
          <a:xfrm>
            <a:off x="1115568" y="5471160"/>
            <a:ext cx="5742432" cy="701040"/>
          </a:xfrm>
          <a:prstGeom prst="rect">
            <a:avLst/>
          </a:prstGeom>
          <a:noFill/>
          <a:ln/>
        </p:spPr>
        <p:txBody>
          <a:bodyPr wrap="square" lIns="0" tIns="0" rIns="0" bIns="0" rtlCol="0" anchor="t"/>
          <a:lstStyle/>
          <a:p>
            <a:pPr indent="0" marL="0">
              <a:buNone/>
            </a:pPr>
            <a:r>
              <a:rPr lang="en-US" sz="1500" b="1" dirty="0">
                <a:solidFill>
                  <a:srgbClr val="1B2340"/>
                </a:solidFill>
              </a:rPr>
              <a:t>Copie le lien de la barre d'adresse</a:t>
            </a:r>
            <a:pPr indent="0" marL="0">
              <a:buNone/>
            </a:pPr>
            <a:r>
              <a:rPr lang="en-US" sz="1500" dirty="0">
                <a:solidFill>
                  <a:srgbClr val="3A4566"/>
                </a:solidFill>
              </a:rPr>
              <a:t>  (docs.google.com/spreadsheets/d/…) et garde-le dans une note.</a:t>
            </a:r>
            <a:endParaRPr lang="en-US" sz="1500" dirty="0"/>
          </a:p>
        </p:txBody>
      </p:sp>
      <p:sp>
        <p:nvSpPr>
          <p:cNvPr id="23" name="fenêtre docs.google.com/spreadsheets/d/…"/>
          <p:cNvSpPr/>
          <p:nvPr/>
        </p:nvSpPr>
        <p:spPr>
          <a:xfrm>
            <a:off x="7178040" y="1463040"/>
            <a:ext cx="4480560" cy="2743200"/>
          </a:xfrm>
          <a:prstGeom prst="roundRect">
            <a:avLst>
              <a:gd name="adj" fmla="val 3333"/>
            </a:avLst>
          </a:prstGeom>
          <a:solidFill>
            <a:srgbClr val="FFFFFF"/>
          </a:solidFill>
          <a:ln w="12700">
            <a:solidFill>
              <a:srgbClr val="D5DCE8"/>
            </a:solidFill>
            <a:prstDash val="solid"/>
          </a:ln>
          <a:effectLst>
            <a:outerShdw sx="100000" sy="100000" kx="0" ky="0" algn="bl" rotWithShape="0" blurRad="101600" dist="38100" dir="5400000">
              <a:srgbClr val="1B2340">
                <a:alpha val="12000"/>
              </a:srgbClr>
            </a:outerShdw>
          </a:effectLst>
        </p:spPr>
      </p:sp>
      <p:sp>
        <p:nvSpPr>
          <p:cNvPr id="24" name="barre fenêtre"/>
          <p:cNvSpPr/>
          <p:nvPr/>
        </p:nvSpPr>
        <p:spPr>
          <a:xfrm>
            <a:off x="7196328" y="1481328"/>
            <a:ext cx="4443984" cy="329184"/>
          </a:xfrm>
          <a:prstGeom prst="rect">
            <a:avLst/>
          </a:prstGeom>
          <a:solidFill>
            <a:srgbClr val="F1F3F7"/>
          </a:solidFill>
          <a:ln w="12700">
            <a:solidFill>
              <a:srgbClr val="F1F3F7"/>
            </a:solidFill>
            <a:prstDash val="solid"/>
          </a:ln>
        </p:spPr>
      </p:sp>
      <p:sp>
        <p:nvSpPr>
          <p:cNvPr id="25" name="Shape 23"/>
          <p:cNvSpPr/>
          <p:nvPr/>
        </p:nvSpPr>
        <p:spPr>
          <a:xfrm>
            <a:off x="7315200" y="1581912"/>
            <a:ext cx="109728" cy="109728"/>
          </a:xfrm>
          <a:prstGeom prst="ellipse">
            <a:avLst/>
          </a:prstGeom>
          <a:solidFill>
            <a:srgbClr val="FF5F57"/>
          </a:solidFill>
          <a:ln w="12700">
            <a:solidFill>
              <a:srgbClr val="FF5F57"/>
            </a:solidFill>
            <a:prstDash val="solid"/>
          </a:ln>
        </p:spPr>
      </p:sp>
      <p:sp>
        <p:nvSpPr>
          <p:cNvPr id="26" name="Shape 24"/>
          <p:cNvSpPr/>
          <p:nvPr/>
        </p:nvSpPr>
        <p:spPr>
          <a:xfrm>
            <a:off x="7498080" y="1581912"/>
            <a:ext cx="109728" cy="109728"/>
          </a:xfrm>
          <a:prstGeom prst="ellipse">
            <a:avLst/>
          </a:prstGeom>
          <a:solidFill>
            <a:srgbClr val="FEBC2E"/>
          </a:solidFill>
          <a:ln w="12700">
            <a:solidFill>
              <a:srgbClr val="FEBC2E"/>
            </a:solidFill>
            <a:prstDash val="solid"/>
          </a:ln>
        </p:spPr>
      </p:sp>
      <p:sp>
        <p:nvSpPr>
          <p:cNvPr id="27" name="Shape 25"/>
          <p:cNvSpPr/>
          <p:nvPr/>
        </p:nvSpPr>
        <p:spPr>
          <a:xfrm>
            <a:off x="7680960" y="1581912"/>
            <a:ext cx="109728" cy="109728"/>
          </a:xfrm>
          <a:prstGeom prst="ellipse">
            <a:avLst/>
          </a:prstGeom>
          <a:solidFill>
            <a:srgbClr val="28C840"/>
          </a:solidFill>
          <a:ln w="12700">
            <a:solidFill>
              <a:srgbClr val="28C840"/>
            </a:solidFill>
            <a:prstDash val="solid"/>
          </a:ln>
        </p:spPr>
      </p:sp>
      <p:sp>
        <p:nvSpPr>
          <p:cNvPr id="28" name="Text 26"/>
          <p:cNvSpPr txBox="1"/>
          <p:nvPr/>
        </p:nvSpPr>
        <p:spPr>
          <a:xfrm>
            <a:off x="7955280" y="1499616"/>
            <a:ext cx="3566160" cy="292608"/>
          </a:xfrm>
          <a:prstGeom prst="rect">
            <a:avLst/>
          </a:prstGeom>
          <a:noFill/>
          <a:ln/>
        </p:spPr>
        <p:txBody>
          <a:bodyPr wrap="square" lIns="0" tIns="0" rIns="0" bIns="0" rtlCol="0" anchor="ctr"/>
          <a:lstStyle/>
          <a:p>
            <a:pPr indent="0" marL="0">
              <a:buNone/>
            </a:pPr>
            <a:r>
              <a:rPr lang="en-US" sz="1100" dirty="0">
                <a:solidFill>
                  <a:srgbClr val="6B7280"/>
                </a:solidFill>
              </a:rPr>
              <a:t>docs.google.com/spreadsheets/d/…</a:t>
            </a:r>
            <a:endParaRPr lang="en-US" sz="1100" dirty="0"/>
          </a:p>
        </p:txBody>
      </p:sp>
      <p:sp>
        <p:nvSpPr>
          <p:cNvPr id="29" name="Shape 27"/>
          <p:cNvSpPr/>
          <p:nvPr/>
        </p:nvSpPr>
        <p:spPr>
          <a:xfrm>
            <a:off x="7315200" y="1965960"/>
            <a:ext cx="1051560" cy="347472"/>
          </a:xfrm>
          <a:prstGeom prst="rect">
            <a:avLst/>
          </a:prstGeom>
          <a:solidFill>
            <a:srgbClr val="E6F4EA"/>
          </a:solidFill>
          <a:ln w="6350">
            <a:solidFill>
              <a:srgbClr val="D5DCE8"/>
            </a:solidFill>
            <a:prstDash val="solid"/>
          </a:ln>
        </p:spPr>
      </p:sp>
      <p:sp>
        <p:nvSpPr>
          <p:cNvPr id="30" name="Shape 28"/>
          <p:cNvSpPr/>
          <p:nvPr/>
        </p:nvSpPr>
        <p:spPr>
          <a:xfrm>
            <a:off x="8366760" y="1965960"/>
            <a:ext cx="1051560" cy="347472"/>
          </a:xfrm>
          <a:prstGeom prst="rect">
            <a:avLst/>
          </a:prstGeom>
          <a:solidFill>
            <a:srgbClr val="E6F4EA"/>
          </a:solidFill>
          <a:ln w="6350">
            <a:solidFill>
              <a:srgbClr val="D5DCE8"/>
            </a:solidFill>
            <a:prstDash val="solid"/>
          </a:ln>
        </p:spPr>
      </p:sp>
      <p:sp>
        <p:nvSpPr>
          <p:cNvPr id="31" name="Shape 29"/>
          <p:cNvSpPr/>
          <p:nvPr/>
        </p:nvSpPr>
        <p:spPr>
          <a:xfrm>
            <a:off x="9418320" y="1965960"/>
            <a:ext cx="1051560" cy="347472"/>
          </a:xfrm>
          <a:prstGeom prst="rect">
            <a:avLst/>
          </a:prstGeom>
          <a:solidFill>
            <a:srgbClr val="E6F4EA"/>
          </a:solidFill>
          <a:ln w="6350">
            <a:solidFill>
              <a:srgbClr val="D5DCE8"/>
            </a:solidFill>
            <a:prstDash val="solid"/>
          </a:ln>
        </p:spPr>
      </p:sp>
      <p:sp>
        <p:nvSpPr>
          <p:cNvPr id="32" name="Shape 30"/>
          <p:cNvSpPr/>
          <p:nvPr/>
        </p:nvSpPr>
        <p:spPr>
          <a:xfrm>
            <a:off x="10469880" y="1965960"/>
            <a:ext cx="1051560" cy="347472"/>
          </a:xfrm>
          <a:prstGeom prst="rect">
            <a:avLst/>
          </a:prstGeom>
          <a:solidFill>
            <a:srgbClr val="E6F4EA"/>
          </a:solidFill>
          <a:ln w="6350">
            <a:solidFill>
              <a:srgbClr val="D5DCE8"/>
            </a:solidFill>
            <a:prstDash val="solid"/>
          </a:ln>
        </p:spPr>
      </p:sp>
      <p:sp>
        <p:nvSpPr>
          <p:cNvPr id="33" name="Shape 31"/>
          <p:cNvSpPr/>
          <p:nvPr/>
        </p:nvSpPr>
        <p:spPr>
          <a:xfrm>
            <a:off x="7315200" y="2313432"/>
            <a:ext cx="1051560" cy="347472"/>
          </a:xfrm>
          <a:prstGeom prst="rect">
            <a:avLst/>
          </a:prstGeom>
          <a:solidFill>
            <a:srgbClr val="FFFFFF"/>
          </a:solidFill>
          <a:ln w="6350">
            <a:solidFill>
              <a:srgbClr val="D5DCE8"/>
            </a:solidFill>
            <a:prstDash val="solid"/>
          </a:ln>
        </p:spPr>
      </p:sp>
      <p:sp>
        <p:nvSpPr>
          <p:cNvPr id="34" name="Shape 32"/>
          <p:cNvSpPr/>
          <p:nvPr/>
        </p:nvSpPr>
        <p:spPr>
          <a:xfrm>
            <a:off x="8366760" y="2313432"/>
            <a:ext cx="1051560" cy="347472"/>
          </a:xfrm>
          <a:prstGeom prst="rect">
            <a:avLst/>
          </a:prstGeom>
          <a:solidFill>
            <a:srgbClr val="FFFFFF"/>
          </a:solidFill>
          <a:ln w="6350">
            <a:solidFill>
              <a:srgbClr val="D5DCE8"/>
            </a:solidFill>
            <a:prstDash val="solid"/>
          </a:ln>
        </p:spPr>
      </p:sp>
      <p:sp>
        <p:nvSpPr>
          <p:cNvPr id="35" name="Shape 33"/>
          <p:cNvSpPr/>
          <p:nvPr/>
        </p:nvSpPr>
        <p:spPr>
          <a:xfrm>
            <a:off x="9418320" y="2313432"/>
            <a:ext cx="1051560" cy="347472"/>
          </a:xfrm>
          <a:prstGeom prst="rect">
            <a:avLst/>
          </a:prstGeom>
          <a:solidFill>
            <a:srgbClr val="FFFFFF"/>
          </a:solidFill>
          <a:ln w="6350">
            <a:solidFill>
              <a:srgbClr val="D5DCE8"/>
            </a:solidFill>
            <a:prstDash val="solid"/>
          </a:ln>
        </p:spPr>
      </p:sp>
      <p:sp>
        <p:nvSpPr>
          <p:cNvPr id="36" name="Shape 34"/>
          <p:cNvSpPr/>
          <p:nvPr/>
        </p:nvSpPr>
        <p:spPr>
          <a:xfrm>
            <a:off x="10469880" y="2313432"/>
            <a:ext cx="1051560" cy="347472"/>
          </a:xfrm>
          <a:prstGeom prst="rect">
            <a:avLst/>
          </a:prstGeom>
          <a:solidFill>
            <a:srgbClr val="FFFFFF"/>
          </a:solidFill>
          <a:ln w="6350">
            <a:solidFill>
              <a:srgbClr val="D5DCE8"/>
            </a:solidFill>
            <a:prstDash val="solid"/>
          </a:ln>
        </p:spPr>
      </p:sp>
      <p:sp>
        <p:nvSpPr>
          <p:cNvPr id="37" name="Shape 35"/>
          <p:cNvSpPr/>
          <p:nvPr/>
        </p:nvSpPr>
        <p:spPr>
          <a:xfrm>
            <a:off x="7315200" y="2660904"/>
            <a:ext cx="1051560" cy="347472"/>
          </a:xfrm>
          <a:prstGeom prst="rect">
            <a:avLst/>
          </a:prstGeom>
          <a:solidFill>
            <a:srgbClr val="FFFFFF"/>
          </a:solidFill>
          <a:ln w="6350">
            <a:solidFill>
              <a:srgbClr val="D5DCE8"/>
            </a:solidFill>
            <a:prstDash val="solid"/>
          </a:ln>
        </p:spPr>
      </p:sp>
      <p:sp>
        <p:nvSpPr>
          <p:cNvPr id="38" name="Shape 36"/>
          <p:cNvSpPr/>
          <p:nvPr/>
        </p:nvSpPr>
        <p:spPr>
          <a:xfrm>
            <a:off x="8366760" y="2660904"/>
            <a:ext cx="1051560" cy="347472"/>
          </a:xfrm>
          <a:prstGeom prst="rect">
            <a:avLst/>
          </a:prstGeom>
          <a:solidFill>
            <a:srgbClr val="FFFFFF"/>
          </a:solidFill>
          <a:ln w="6350">
            <a:solidFill>
              <a:srgbClr val="D5DCE8"/>
            </a:solidFill>
            <a:prstDash val="solid"/>
          </a:ln>
        </p:spPr>
      </p:sp>
      <p:sp>
        <p:nvSpPr>
          <p:cNvPr id="39" name="Shape 37"/>
          <p:cNvSpPr/>
          <p:nvPr/>
        </p:nvSpPr>
        <p:spPr>
          <a:xfrm>
            <a:off x="9418320" y="2660904"/>
            <a:ext cx="1051560" cy="347472"/>
          </a:xfrm>
          <a:prstGeom prst="rect">
            <a:avLst/>
          </a:prstGeom>
          <a:solidFill>
            <a:srgbClr val="FFFFFF"/>
          </a:solidFill>
          <a:ln w="6350">
            <a:solidFill>
              <a:srgbClr val="D5DCE8"/>
            </a:solidFill>
            <a:prstDash val="solid"/>
          </a:ln>
        </p:spPr>
      </p:sp>
      <p:sp>
        <p:nvSpPr>
          <p:cNvPr id="40" name="Shape 38"/>
          <p:cNvSpPr/>
          <p:nvPr/>
        </p:nvSpPr>
        <p:spPr>
          <a:xfrm>
            <a:off x="10469880" y="2660904"/>
            <a:ext cx="1051560" cy="347472"/>
          </a:xfrm>
          <a:prstGeom prst="rect">
            <a:avLst/>
          </a:prstGeom>
          <a:solidFill>
            <a:srgbClr val="FFFFFF"/>
          </a:solidFill>
          <a:ln w="6350">
            <a:solidFill>
              <a:srgbClr val="D5DCE8"/>
            </a:solidFill>
            <a:prstDash val="solid"/>
          </a:ln>
        </p:spPr>
      </p:sp>
      <p:sp>
        <p:nvSpPr>
          <p:cNvPr id="41" name="Shape 39"/>
          <p:cNvSpPr/>
          <p:nvPr/>
        </p:nvSpPr>
        <p:spPr>
          <a:xfrm>
            <a:off x="7315200" y="3008376"/>
            <a:ext cx="1051560" cy="347472"/>
          </a:xfrm>
          <a:prstGeom prst="rect">
            <a:avLst/>
          </a:prstGeom>
          <a:solidFill>
            <a:srgbClr val="FFFFFF"/>
          </a:solidFill>
          <a:ln w="6350">
            <a:solidFill>
              <a:srgbClr val="D5DCE8"/>
            </a:solidFill>
            <a:prstDash val="solid"/>
          </a:ln>
        </p:spPr>
      </p:sp>
      <p:sp>
        <p:nvSpPr>
          <p:cNvPr id="42" name="Shape 40"/>
          <p:cNvSpPr/>
          <p:nvPr/>
        </p:nvSpPr>
        <p:spPr>
          <a:xfrm>
            <a:off x="8366760" y="3008376"/>
            <a:ext cx="1051560" cy="347472"/>
          </a:xfrm>
          <a:prstGeom prst="rect">
            <a:avLst/>
          </a:prstGeom>
          <a:solidFill>
            <a:srgbClr val="FFFFFF"/>
          </a:solidFill>
          <a:ln w="6350">
            <a:solidFill>
              <a:srgbClr val="D5DCE8"/>
            </a:solidFill>
            <a:prstDash val="solid"/>
          </a:ln>
        </p:spPr>
      </p:sp>
      <p:sp>
        <p:nvSpPr>
          <p:cNvPr id="43" name="Shape 41"/>
          <p:cNvSpPr/>
          <p:nvPr/>
        </p:nvSpPr>
        <p:spPr>
          <a:xfrm>
            <a:off x="9418320" y="3008376"/>
            <a:ext cx="1051560" cy="347472"/>
          </a:xfrm>
          <a:prstGeom prst="rect">
            <a:avLst/>
          </a:prstGeom>
          <a:solidFill>
            <a:srgbClr val="FFFFFF"/>
          </a:solidFill>
          <a:ln w="6350">
            <a:solidFill>
              <a:srgbClr val="D5DCE8"/>
            </a:solidFill>
            <a:prstDash val="solid"/>
          </a:ln>
        </p:spPr>
      </p:sp>
      <p:sp>
        <p:nvSpPr>
          <p:cNvPr id="44" name="Shape 42"/>
          <p:cNvSpPr/>
          <p:nvPr/>
        </p:nvSpPr>
        <p:spPr>
          <a:xfrm>
            <a:off x="10469880" y="3008376"/>
            <a:ext cx="1051560" cy="347472"/>
          </a:xfrm>
          <a:prstGeom prst="rect">
            <a:avLst/>
          </a:prstGeom>
          <a:solidFill>
            <a:srgbClr val="FFFFFF"/>
          </a:solidFill>
          <a:ln w="6350">
            <a:solidFill>
              <a:srgbClr val="D5DCE8"/>
            </a:solidFill>
            <a:prstDash val="solid"/>
          </a:ln>
        </p:spPr>
      </p:sp>
      <p:sp>
        <p:nvSpPr>
          <p:cNvPr id="45" name="Shape 43"/>
          <p:cNvSpPr/>
          <p:nvPr/>
        </p:nvSpPr>
        <p:spPr>
          <a:xfrm>
            <a:off x="7269480" y="3474720"/>
            <a:ext cx="1389888" cy="292608"/>
          </a:xfrm>
          <a:prstGeom prst="roundRect">
            <a:avLst>
              <a:gd name="adj" fmla="val 15625"/>
            </a:avLst>
          </a:prstGeom>
          <a:solidFill>
            <a:srgbClr val="F1F3F7"/>
          </a:solidFill>
          <a:ln w="6350">
            <a:solidFill>
              <a:srgbClr val="D5DCE8"/>
            </a:solidFill>
            <a:prstDash val="solid"/>
          </a:ln>
        </p:spPr>
      </p:sp>
      <p:sp>
        <p:nvSpPr>
          <p:cNvPr id="46" name="Text 44"/>
          <p:cNvSpPr txBox="1"/>
          <p:nvPr/>
        </p:nvSpPr>
        <p:spPr>
          <a:xfrm>
            <a:off x="7269480" y="3474720"/>
            <a:ext cx="1389888" cy="292608"/>
          </a:xfrm>
          <a:prstGeom prst="rect">
            <a:avLst/>
          </a:prstGeom>
          <a:noFill/>
          <a:ln/>
        </p:spPr>
        <p:txBody>
          <a:bodyPr wrap="square" lIns="0" tIns="0" rIns="0" bIns="0" rtlCol="0" anchor="ctr"/>
          <a:lstStyle/>
          <a:p>
            <a:pPr algn="ctr" indent="0" marL="0">
              <a:buNone/>
            </a:pPr>
            <a:r>
              <a:rPr lang="en-US" sz="1000" dirty="0">
                <a:solidFill>
                  <a:srgbClr val="1B2340"/>
                </a:solidFill>
              </a:rPr>
              <a:t>Mode d'emploi</a:t>
            </a:r>
            <a:endParaRPr lang="en-US" sz="1000" dirty="0"/>
          </a:p>
        </p:txBody>
      </p:sp>
      <p:sp>
        <p:nvSpPr>
          <p:cNvPr id="47" name="Shape 45"/>
          <p:cNvSpPr/>
          <p:nvPr/>
        </p:nvSpPr>
        <p:spPr>
          <a:xfrm>
            <a:off x="8732520" y="3474720"/>
            <a:ext cx="1389888" cy="292608"/>
          </a:xfrm>
          <a:prstGeom prst="roundRect">
            <a:avLst>
              <a:gd name="adj" fmla="val 15625"/>
            </a:avLst>
          </a:prstGeom>
          <a:solidFill>
            <a:srgbClr val="F1F3F7"/>
          </a:solidFill>
          <a:ln w="6350">
            <a:solidFill>
              <a:srgbClr val="D5DCE8"/>
            </a:solidFill>
            <a:prstDash val="solid"/>
          </a:ln>
        </p:spPr>
      </p:sp>
      <p:sp>
        <p:nvSpPr>
          <p:cNvPr id="48" name="Text 46"/>
          <p:cNvSpPr txBox="1"/>
          <p:nvPr/>
        </p:nvSpPr>
        <p:spPr>
          <a:xfrm>
            <a:off x="8732520" y="3474720"/>
            <a:ext cx="1389888" cy="292608"/>
          </a:xfrm>
          <a:prstGeom prst="rect">
            <a:avLst/>
          </a:prstGeom>
          <a:noFill/>
          <a:ln/>
        </p:spPr>
        <p:txBody>
          <a:bodyPr wrap="square" lIns="0" tIns="0" rIns="0" bIns="0" rtlCol="0" anchor="ctr"/>
          <a:lstStyle/>
          <a:p>
            <a:pPr algn="ctr" indent="0" marL="0">
              <a:buNone/>
            </a:pPr>
            <a:r>
              <a:rPr lang="en-US" sz="1000" dirty="0">
                <a:solidFill>
                  <a:srgbClr val="1B2340"/>
                </a:solidFill>
              </a:rPr>
              <a:t>Tableau de bord</a:t>
            </a:r>
            <a:endParaRPr lang="en-US" sz="1000" dirty="0"/>
          </a:p>
        </p:txBody>
      </p:sp>
      <p:sp>
        <p:nvSpPr>
          <p:cNvPr id="49" name="Shape 47"/>
          <p:cNvSpPr/>
          <p:nvPr/>
        </p:nvSpPr>
        <p:spPr>
          <a:xfrm>
            <a:off x="10195560" y="3474720"/>
            <a:ext cx="1389888" cy="292608"/>
          </a:xfrm>
          <a:prstGeom prst="roundRect">
            <a:avLst>
              <a:gd name="adj" fmla="val 15625"/>
            </a:avLst>
          </a:prstGeom>
          <a:solidFill>
            <a:srgbClr val="E6F4EA"/>
          </a:solidFill>
          <a:ln w="6350">
            <a:solidFill>
              <a:srgbClr val="D5DCE8"/>
            </a:solidFill>
            <a:prstDash val="solid"/>
          </a:ln>
        </p:spPr>
      </p:sp>
      <p:sp>
        <p:nvSpPr>
          <p:cNvPr id="50" name="Text 48"/>
          <p:cNvSpPr txBox="1"/>
          <p:nvPr/>
        </p:nvSpPr>
        <p:spPr>
          <a:xfrm>
            <a:off x="10195560" y="3474720"/>
            <a:ext cx="1389888" cy="292608"/>
          </a:xfrm>
          <a:prstGeom prst="rect">
            <a:avLst/>
          </a:prstGeom>
          <a:noFill/>
          <a:ln/>
        </p:spPr>
        <p:txBody>
          <a:bodyPr wrap="square" lIns="0" tIns="0" rIns="0" bIns="0" rtlCol="0" anchor="ctr"/>
          <a:lstStyle/>
          <a:p>
            <a:pPr algn="ctr" indent="0" marL="0">
              <a:buNone/>
            </a:pPr>
            <a:r>
              <a:rPr lang="en-US" sz="1000" b="1" dirty="0">
                <a:solidFill>
                  <a:srgbClr val="1B2340"/>
                </a:solidFill>
              </a:rPr>
              <a:t>Produits</a:t>
            </a:r>
            <a:endParaRPr lang="en-US" sz="1000" dirty="0"/>
          </a:p>
        </p:txBody>
      </p:sp>
      <p:sp>
        <p:nvSpPr>
          <p:cNvPr id="51" name="Shape 49"/>
          <p:cNvSpPr/>
          <p:nvPr/>
        </p:nvSpPr>
        <p:spPr>
          <a:xfrm>
            <a:off x="7269480" y="3822192"/>
            <a:ext cx="1389888" cy="292608"/>
          </a:xfrm>
          <a:prstGeom prst="roundRect">
            <a:avLst>
              <a:gd name="adj" fmla="val 15625"/>
            </a:avLst>
          </a:prstGeom>
          <a:solidFill>
            <a:srgbClr val="E6F4EA"/>
          </a:solidFill>
          <a:ln w="6350">
            <a:solidFill>
              <a:srgbClr val="D5DCE8"/>
            </a:solidFill>
            <a:prstDash val="solid"/>
          </a:ln>
        </p:spPr>
      </p:sp>
      <p:sp>
        <p:nvSpPr>
          <p:cNvPr id="52" name="Text 50"/>
          <p:cNvSpPr txBox="1"/>
          <p:nvPr/>
        </p:nvSpPr>
        <p:spPr>
          <a:xfrm>
            <a:off x="7269480" y="3822192"/>
            <a:ext cx="1389888" cy="292608"/>
          </a:xfrm>
          <a:prstGeom prst="rect">
            <a:avLst/>
          </a:prstGeom>
          <a:noFill/>
          <a:ln/>
        </p:spPr>
        <p:txBody>
          <a:bodyPr wrap="square" lIns="0" tIns="0" rIns="0" bIns="0" rtlCol="0" anchor="ctr"/>
          <a:lstStyle/>
          <a:p>
            <a:pPr algn="ctr" indent="0" marL="0">
              <a:buNone/>
            </a:pPr>
            <a:r>
              <a:rPr lang="en-US" sz="1000" b="1" dirty="0">
                <a:solidFill>
                  <a:srgbClr val="1B2340"/>
                </a:solidFill>
              </a:rPr>
              <a:t>Commandes</a:t>
            </a:r>
            <a:endParaRPr lang="en-US" sz="1000" dirty="0"/>
          </a:p>
        </p:txBody>
      </p:sp>
      <p:sp>
        <p:nvSpPr>
          <p:cNvPr id="53" name="Shape 51"/>
          <p:cNvSpPr/>
          <p:nvPr/>
        </p:nvSpPr>
        <p:spPr>
          <a:xfrm>
            <a:off x="8732520" y="3822192"/>
            <a:ext cx="1389888" cy="292608"/>
          </a:xfrm>
          <a:prstGeom prst="roundRect">
            <a:avLst>
              <a:gd name="adj" fmla="val 15625"/>
            </a:avLst>
          </a:prstGeom>
          <a:solidFill>
            <a:srgbClr val="E6F4EA"/>
          </a:solidFill>
          <a:ln w="6350">
            <a:solidFill>
              <a:srgbClr val="D5DCE8"/>
            </a:solidFill>
            <a:prstDash val="solid"/>
          </a:ln>
        </p:spPr>
      </p:sp>
      <p:sp>
        <p:nvSpPr>
          <p:cNvPr id="54" name="Text 52"/>
          <p:cNvSpPr txBox="1"/>
          <p:nvPr/>
        </p:nvSpPr>
        <p:spPr>
          <a:xfrm>
            <a:off x="8732520" y="3822192"/>
            <a:ext cx="1389888" cy="292608"/>
          </a:xfrm>
          <a:prstGeom prst="rect">
            <a:avLst/>
          </a:prstGeom>
          <a:noFill/>
          <a:ln/>
        </p:spPr>
        <p:txBody>
          <a:bodyPr wrap="square" lIns="0" tIns="0" rIns="0" bIns="0" rtlCol="0" anchor="ctr"/>
          <a:lstStyle/>
          <a:p>
            <a:pPr algn="ctr" indent="0" marL="0">
              <a:buNone/>
            </a:pPr>
            <a:r>
              <a:rPr lang="en-US" sz="1000" b="1" dirty="0">
                <a:solidFill>
                  <a:srgbClr val="1B2340"/>
                </a:solidFill>
              </a:rPr>
              <a:t>Arrivages</a:t>
            </a:r>
            <a:endParaRPr lang="en-US" sz="1000" dirty="0"/>
          </a:p>
        </p:txBody>
      </p:sp>
      <p:sp>
        <p:nvSpPr>
          <p:cNvPr id="55" name="Shape 53"/>
          <p:cNvSpPr/>
          <p:nvPr/>
        </p:nvSpPr>
        <p:spPr>
          <a:xfrm>
            <a:off x="10195560" y="3822192"/>
            <a:ext cx="1389888" cy="292608"/>
          </a:xfrm>
          <a:prstGeom prst="roundRect">
            <a:avLst>
              <a:gd name="adj" fmla="val 15625"/>
            </a:avLst>
          </a:prstGeom>
          <a:solidFill>
            <a:srgbClr val="F1F3F7"/>
          </a:solidFill>
          <a:ln w="6350">
            <a:solidFill>
              <a:srgbClr val="D5DCE8"/>
            </a:solidFill>
            <a:prstDash val="solid"/>
          </a:ln>
        </p:spPr>
      </p:sp>
      <p:sp>
        <p:nvSpPr>
          <p:cNvPr id="56" name="Text 54"/>
          <p:cNvSpPr txBox="1"/>
          <p:nvPr/>
        </p:nvSpPr>
        <p:spPr>
          <a:xfrm>
            <a:off x="10195560" y="3822192"/>
            <a:ext cx="1389888" cy="292608"/>
          </a:xfrm>
          <a:prstGeom prst="rect">
            <a:avLst/>
          </a:prstGeom>
          <a:noFill/>
          <a:ln/>
        </p:spPr>
        <p:txBody>
          <a:bodyPr wrap="square" lIns="0" tIns="0" rIns="0" bIns="0" rtlCol="0" anchor="ctr"/>
          <a:lstStyle/>
          <a:p>
            <a:pPr algn="ctr" indent="0" marL="0">
              <a:buNone/>
            </a:pPr>
            <a:r>
              <a:rPr lang="en-US" sz="1000" dirty="0">
                <a:solidFill>
                  <a:srgbClr val="1B2340"/>
                </a:solidFill>
              </a:rPr>
              <a:t>Mouvements</a:t>
            </a:r>
            <a:endParaRPr lang="en-US" sz="1000" dirty="0"/>
          </a:p>
        </p:txBody>
      </p:sp>
      <p:sp>
        <p:nvSpPr>
          <p:cNvPr id="57" name="encadré Attention"/>
          <p:cNvSpPr/>
          <p:nvPr/>
        </p:nvSpPr>
        <p:spPr>
          <a:xfrm>
            <a:off x="7178040" y="4434840"/>
            <a:ext cx="4480560" cy="1737360"/>
          </a:xfrm>
          <a:prstGeom prst="roundRect">
            <a:avLst>
              <a:gd name="adj" fmla="val 6316"/>
            </a:avLst>
          </a:prstGeom>
          <a:solidFill>
            <a:srgbClr val="FFF4D6"/>
          </a:solidFill>
          <a:ln w="12700">
            <a:solidFill>
              <a:srgbClr val="FFF4D6"/>
            </a:solidFill>
            <a:prstDash val="solid"/>
          </a:ln>
        </p:spPr>
      </p:sp>
      <p:pic>
        <p:nvPicPr>
          <p:cNvPr id="58" name="Image 0" descr="Attention">    </p:cNvPr>
          <p:cNvPicPr>
            <a:picLocks noChangeAspect="1"/>
          </p:cNvPicPr>
          <p:nvPr/>
        </p:nvPicPr>
        <p:blipFill>
          <a:blip r:embed="rId1"/>
          <a:stretch>
            <a:fillRect/>
          </a:stretch>
        </p:blipFill>
        <p:spPr>
          <a:xfrm>
            <a:off x="7379208" y="4617720"/>
            <a:ext cx="347472" cy="347472"/>
          </a:xfrm>
          <a:prstGeom prst="rect">
            <a:avLst/>
          </a:prstGeom>
        </p:spPr>
      </p:pic>
      <p:sp>
        <p:nvSpPr>
          <p:cNvPr id="59" name="Text 56"/>
          <p:cNvSpPr txBox="1"/>
          <p:nvPr/>
        </p:nvSpPr>
        <p:spPr>
          <a:xfrm>
            <a:off x="7891272" y="4581144"/>
            <a:ext cx="3584448" cy="1463040"/>
          </a:xfrm>
          <a:prstGeom prst="rect">
            <a:avLst/>
          </a:prstGeom>
          <a:noFill/>
          <a:ln/>
        </p:spPr>
        <p:txBody>
          <a:bodyPr wrap="square" lIns="0" tIns="0" rIns="0" bIns="0" rtlCol="0" anchor="ctr"/>
          <a:lstStyle/>
          <a:p>
            <a:pPr indent="0" marL="0">
              <a:buNone/>
            </a:pPr>
            <a:r>
              <a:rPr lang="en-US" sz="1400" b="1" dirty="0">
                <a:solidFill>
                  <a:srgbClr val="B26A00"/>
                </a:solidFill>
              </a:rPr>
              <a:t>Attention : </a:t>
            </a:r>
            <a:pPr indent="0" marL="0">
              <a:buNone/>
            </a:pPr>
            <a:r>
              <a:rPr lang="en-US" sz="1400" dirty="0">
                <a:solidFill>
                  <a:srgbClr val="1B2340"/>
                </a:solidFill>
              </a:rPr>
              <a:t>si plus tard n8n te montre seulement « Sheet1 », c'est que tu as copié le lien du fichier .xlsx. Reprends le lien de la version Google Sheets.</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Ce que contient le tableau</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E8E3E"/>
          </a:solidFill>
          <a:ln w="12700">
            <a:solidFill>
              <a:srgbClr val="1E8E3E"/>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1 · SHEETS</a:t>
            </a:r>
            <a:endParaRPr lang="en-US" sz="1200" dirty="0"/>
          </a:p>
        </p:txBody>
      </p:sp>
      <p:graphicFrame>
        <p:nvGraphicFramePr>
          <p:cNvPr id="12"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2743200"/>
                <a:gridCol w="6336792"/>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Onglet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E8E3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Qui le remplit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E8E3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Ce qu'on y trouve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E8E3E"/>
                    </a:solidFill>
                  </a:tcPr>
                </a:tc>
              </a:tr>
              <a:tr h="68580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Produits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toi, avec le client, au départ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code (P001, P002…), nom, prix d'achat et de vente, stock de départ, seuil d'alerte, fournisseur. Le stock actuel se calcule tout seul.</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Commandes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n8n (Stock 1)</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une ligne par vente : date, client, téléphone, produit, quantité, montant, statut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50292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Arrivages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n8n (Stock 3)</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une ligne par livraison du fournisseur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Mouvements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à la main, si besoin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les corrections : casse, perte, retour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50292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Tableau de bord</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les formules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les chiffres clés et les alertes, rien à remplir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bl>
          </a:graphicData>
        </a:graphic>
      </p:graphicFrame>
      <p:sp>
        <p:nvSpPr>
          <p:cNvPr id="6" name="encadré Règle d'or"/>
          <p:cNvSpPr/>
          <p:nvPr/>
        </p:nvSpPr>
        <p:spPr>
          <a:xfrm>
            <a:off x="548640" y="4846320"/>
            <a:ext cx="5440680" cy="1280160"/>
          </a:xfrm>
          <a:prstGeom prst="roundRect">
            <a:avLst>
              <a:gd name="adj" fmla="val 8571"/>
            </a:avLst>
          </a:prstGeom>
          <a:solidFill>
            <a:srgbClr val="FFF4D6"/>
          </a:solidFill>
          <a:ln w="12700">
            <a:solidFill>
              <a:srgbClr val="FFF4D6"/>
            </a:solidFill>
            <a:prstDash val="solid"/>
          </a:ln>
        </p:spPr>
      </p:sp>
      <p:pic>
        <p:nvPicPr>
          <p:cNvPr id="7" name="Image 0" descr="Règle d'or">    </p:cNvPr>
          <p:cNvPicPr>
            <a:picLocks noChangeAspect="1"/>
          </p:cNvPicPr>
          <p:nvPr/>
        </p:nvPicPr>
        <p:blipFill>
          <a:blip r:embed="rId1"/>
          <a:stretch>
            <a:fillRect/>
          </a:stretch>
        </p:blipFill>
        <p:spPr>
          <a:xfrm>
            <a:off x="749808" y="5029200"/>
            <a:ext cx="347472" cy="347472"/>
          </a:xfrm>
          <a:prstGeom prst="rect">
            <a:avLst/>
          </a:prstGeom>
        </p:spPr>
      </p:pic>
      <p:sp>
        <p:nvSpPr>
          <p:cNvPr id="8" name="Text 4"/>
          <p:cNvSpPr txBox="1"/>
          <p:nvPr/>
        </p:nvSpPr>
        <p:spPr>
          <a:xfrm>
            <a:off x="1261872" y="4992624"/>
            <a:ext cx="4544568" cy="1005840"/>
          </a:xfrm>
          <a:prstGeom prst="rect">
            <a:avLst/>
          </a:prstGeom>
          <a:noFill/>
          <a:ln/>
        </p:spPr>
        <p:txBody>
          <a:bodyPr wrap="square" lIns="0" tIns="0" rIns="0" bIns="0" rtlCol="0" anchor="ctr"/>
          <a:lstStyle/>
          <a:p>
            <a:pPr indent="0" marL="0">
              <a:buNone/>
            </a:pPr>
            <a:r>
              <a:rPr lang="en-US" sz="1400" b="1" dirty="0">
                <a:solidFill>
                  <a:srgbClr val="B26A00"/>
                </a:solidFill>
              </a:rPr>
              <a:t>Règle d'or : </a:t>
            </a:r>
            <a:pPr indent="0" marL="0">
              <a:buNone/>
            </a:pPr>
            <a:r>
              <a:rPr lang="en-US" sz="1400" dirty="0">
                <a:solidFill>
                  <a:srgbClr val="1B2340"/>
                </a:solidFill>
              </a:rPr>
              <a:t>ne renomme jamais un onglet ni un titre de colonne. n8n les retrouve par leur nom.</a:t>
            </a:r>
            <a:endParaRPr lang="en-US" sz="1400" dirty="0"/>
          </a:p>
        </p:txBody>
      </p:sp>
      <p:sp>
        <p:nvSpPr>
          <p:cNvPr id="9" name="encadré Astuce"/>
          <p:cNvSpPr/>
          <p:nvPr/>
        </p:nvSpPr>
        <p:spPr>
          <a:xfrm>
            <a:off x="6199632" y="4846320"/>
            <a:ext cx="5440680" cy="1280160"/>
          </a:xfrm>
          <a:prstGeom prst="roundRect">
            <a:avLst>
              <a:gd name="adj" fmla="val 8571"/>
            </a:avLst>
          </a:prstGeom>
          <a:solidFill>
            <a:srgbClr val="E8F5EC"/>
          </a:solidFill>
          <a:ln w="12700">
            <a:solidFill>
              <a:srgbClr val="E8F5EC"/>
            </a:solidFill>
            <a:prstDash val="solid"/>
          </a:ln>
        </p:spPr>
      </p:sp>
      <p:pic>
        <p:nvPicPr>
          <p:cNvPr id="10" name="Image 1" descr="Astuce">    </p:cNvPr>
          <p:cNvPicPr>
            <a:picLocks noChangeAspect="1"/>
          </p:cNvPicPr>
          <p:nvPr/>
        </p:nvPicPr>
        <p:blipFill>
          <a:blip r:embed="rId2"/>
          <a:stretch>
            <a:fillRect/>
          </a:stretch>
        </p:blipFill>
        <p:spPr>
          <a:xfrm>
            <a:off x="6400800" y="5029200"/>
            <a:ext cx="347472" cy="347472"/>
          </a:xfrm>
          <a:prstGeom prst="rect">
            <a:avLst/>
          </a:prstGeom>
        </p:spPr>
      </p:pic>
      <p:sp>
        <p:nvSpPr>
          <p:cNvPr id="11" name="Text 6"/>
          <p:cNvSpPr txBox="1"/>
          <p:nvPr/>
        </p:nvSpPr>
        <p:spPr>
          <a:xfrm>
            <a:off x="6912864" y="4992624"/>
            <a:ext cx="4544568" cy="1005840"/>
          </a:xfrm>
          <a:prstGeom prst="rect">
            <a:avLst/>
          </a:prstGeom>
          <a:noFill/>
          <a:ln/>
        </p:spPr>
        <p:txBody>
          <a:bodyPr wrap="square" lIns="0" tIns="0" rIns="0" bIns="0" rtlCol="0" anchor="ctr"/>
          <a:lstStyle/>
          <a:p>
            <a:pPr indent="0" marL="0">
              <a:buNone/>
            </a:pPr>
            <a:r>
              <a:rPr lang="en-US" sz="1400" b="1" dirty="0">
                <a:solidFill>
                  <a:srgbClr val="1E8E3E"/>
                </a:solidFill>
              </a:rPr>
              <a:t>Astuce : </a:t>
            </a:r>
            <a:pPr indent="0" marL="0">
              <a:buNone/>
            </a:pPr>
            <a:r>
              <a:rPr lang="en-US" sz="1400" dirty="0">
                <a:solidFill>
                  <a:srgbClr val="1B2340"/>
                </a:solidFill>
              </a:rPr>
              <a:t>supprime les lignes « EXEMPLE » et remplis les vrais produits avec le client. Une vente au statut « Annulée » ne compte plus.</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ercle étape"/>
          <p:cNvSpPr/>
          <p:nvPr/>
        </p:nvSpPr>
        <p:spPr>
          <a:xfrm>
            <a:off x="822960" y="1965960"/>
            <a:ext cx="2468880" cy="2468880"/>
          </a:xfrm>
          <a:prstGeom prst="ellipse">
            <a:avLst/>
          </a:prstGeom>
          <a:solidFill>
            <a:srgbClr val="EA4B71"/>
          </a:solidFill>
          <a:ln w="12700">
            <a:solidFill>
              <a:srgbClr val="EA4B71"/>
            </a:solidFill>
            <a:prstDash val="solid"/>
          </a:ln>
        </p:spPr>
      </p:sp>
      <p:sp>
        <p:nvSpPr>
          <p:cNvPr id="3" name="Text 1"/>
          <p:cNvSpPr txBox="1"/>
          <p:nvPr/>
        </p:nvSpPr>
        <p:spPr>
          <a:xfrm>
            <a:off x="822960" y="1965960"/>
            <a:ext cx="2468880" cy="1600200"/>
          </a:xfrm>
          <a:prstGeom prst="rect">
            <a:avLst/>
          </a:prstGeom>
          <a:noFill/>
          <a:ln/>
        </p:spPr>
        <p:txBody>
          <a:bodyPr wrap="square" lIns="0" tIns="0" rIns="0" bIns="0" rtlCol="0" anchor="b"/>
          <a:lstStyle/>
          <a:p>
            <a:pPr algn="ctr" indent="0" marL="0">
              <a:buNone/>
            </a:pPr>
            <a:r>
              <a:rPr lang="en-US" sz="8000" b="1" dirty="0">
                <a:solidFill>
                  <a:srgbClr val="FFFFFF"/>
                </a:solidFill>
                <a:latin typeface="Arial" pitchFamily="34" charset="0"/>
                <a:ea typeface="Arial" pitchFamily="34" charset="-122"/>
                <a:cs typeface="Arial" pitchFamily="34" charset="-120"/>
              </a:rPr>
              <a:t>2</a:t>
            </a:r>
            <a:endParaRPr lang="en-US" sz="8000" dirty="0"/>
          </a:p>
        </p:txBody>
      </p:sp>
      <p:pic>
        <p:nvPicPr>
          <p:cNvPr id="4" name="Image 0" descr="FaProjectDiagram">    </p:cNvPr>
          <p:cNvPicPr>
            <a:picLocks noChangeAspect="1"/>
          </p:cNvPicPr>
          <p:nvPr/>
        </p:nvPicPr>
        <p:blipFill>
          <a:blip r:embed="rId1"/>
          <a:stretch>
            <a:fillRect/>
          </a:stretch>
        </p:blipFill>
        <p:spPr>
          <a:xfrm>
            <a:off x="1828800" y="3611880"/>
            <a:ext cx="457200" cy="457200"/>
          </a:xfrm>
          <a:prstGeom prst="rect">
            <a:avLst/>
          </a:prstGeom>
        </p:spPr>
      </p:pic>
      <p:sp>
        <p:nvSpPr>
          <p:cNvPr id="5" name="Text 2"/>
          <p:cNvSpPr txBox="1"/>
          <p:nvPr/>
        </p:nvSpPr>
        <p:spPr>
          <a:xfrm>
            <a:off x="3931920" y="1874520"/>
            <a:ext cx="4572000" cy="365760"/>
          </a:xfrm>
          <a:prstGeom prst="rect">
            <a:avLst/>
          </a:prstGeom>
          <a:noFill/>
          <a:ln/>
        </p:spPr>
        <p:txBody>
          <a:bodyPr wrap="square" lIns="0" tIns="0" rIns="0" bIns="0" rtlCol="0" anchor="t"/>
          <a:lstStyle/>
          <a:p>
            <a:pPr indent="0" marL="0">
              <a:buNone/>
            </a:pPr>
            <a:r>
              <a:rPr lang="en-US" sz="1400" b="1" spc="300" kern="0" dirty="0">
                <a:solidFill>
                  <a:srgbClr val="F5C518"/>
                </a:solidFill>
              </a:rPr>
              <a:t>ÉTAPE 2</a:t>
            </a:r>
            <a:endParaRPr lang="en-US" sz="1400" dirty="0"/>
          </a:p>
        </p:txBody>
      </p:sp>
      <p:sp>
        <p:nvSpPr>
          <p:cNvPr id="6" name="Text 0"/>
          <p:cNvSpPr/>
          <p:nvPr>
            <p:ph idx="100" type="title" hasCustomPrompt="1"/>
          </p:nvPr>
        </p:nvSpPr>
        <p:spPr>
          <a:xfrm>
            <a:off x="3931920" y="2377440"/>
            <a:ext cx="7680960" cy="1188720"/>
          </a:xfrm>
          <a:prstGeom prst="rect">
            <a:avLst/>
          </a:prstGeom>
          <a:noFill/>
          <a:ln/>
        </p:spPr>
        <p:txBody>
          <a:bodyPr wrap="square" lIns="0" tIns="0" rIns="0" bIns="0" rtlCol="0" anchor="t"/>
          <a:lstStyle/>
          <a:p>
            <a:pPr algn="l" indent="0" marL="0">
              <a:buNone/>
            </a:pPr>
            <a:r>
              <a:rPr lang="en-US" sz="4000" b="1" dirty="0">
                <a:solidFill>
                  <a:schemeClr val="bg1"/>
                </a:solidFill>
              </a:rPr>
              <a:t>n8n : importer et connecter</a:t>
            </a:r>
            <a:endParaRPr lang="en-US" sz="4000" dirty="0"/>
          </a:p>
        </p:txBody>
      </p:sp>
      <p:sp>
        <p:nvSpPr>
          <p:cNvPr id="7" name="Text 0"/>
          <p:cNvSpPr/>
          <p:nvPr>
            <p:ph idx="101" type="body" hasCustomPrompt="1"/>
          </p:nvPr>
        </p:nvSpPr>
        <p:spPr>
          <a:xfrm>
            <a:off x="3931920" y="3611880"/>
            <a:ext cx="7498080" cy="1280160"/>
          </a:xfrm>
          <a:prstGeom prst="rect">
            <a:avLst/>
          </a:prstGeom>
          <a:noFill/>
          <a:ln/>
        </p:spPr>
        <p:txBody>
          <a:bodyPr wrap="square" lIns="0" tIns="0" rIns="0" bIns="0" rtlCol="0" anchor="t"/>
          <a:lstStyle/>
          <a:p>
            <a:pPr indent="0" marL="0">
              <a:buNone/>
            </a:pPr>
            <a:r>
              <a:rPr lang="en-US" sz="1800" dirty="0">
                <a:solidFill>
                  <a:schemeClr val="bg2"/>
                </a:solidFill>
              </a:rPr>
              <a:t>Mettre les 4 automatisations dans n8n et les relier au Google Sheet. Premier test sans WhatsApp.</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C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Importer les 4 workflows</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EA4B71"/>
          </a:solidFill>
          <a:ln w="12700">
            <a:solidFill>
              <a:srgbClr val="EA4B71"/>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2 · N8N</a:t>
            </a:r>
            <a:endParaRPr lang="en-US" sz="1200" dirty="0"/>
          </a:p>
        </p:txBody>
      </p:sp>
      <p:sp>
        <p:nvSpPr>
          <p:cNvPr id="5" name="numéro 1"/>
          <p:cNvSpPr/>
          <p:nvPr/>
        </p:nvSpPr>
        <p:spPr>
          <a:xfrm>
            <a:off x="548640" y="1435608"/>
            <a:ext cx="402336" cy="402336"/>
          </a:xfrm>
          <a:prstGeom prst="ellipse">
            <a:avLst/>
          </a:prstGeom>
          <a:solidFill>
            <a:srgbClr val="EA4B71"/>
          </a:solidFill>
          <a:ln w="12700">
            <a:solidFill>
              <a:srgbClr val="EA4B71"/>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742432" cy="863194"/>
          </a:xfrm>
          <a:prstGeom prst="rect">
            <a:avLst/>
          </a:prstGeom>
          <a:noFill/>
          <a:ln/>
        </p:spPr>
        <p:txBody>
          <a:bodyPr wrap="square" lIns="0" tIns="0" rIns="0" bIns="0" rtlCol="0" anchor="t"/>
          <a:lstStyle/>
          <a:p>
            <a:pPr indent="0" marL="0">
              <a:buNone/>
            </a:pPr>
            <a:r>
              <a:rPr lang="en-US" sz="1500" b="1" dirty="0">
                <a:solidFill>
                  <a:srgbClr val="1B2340"/>
                </a:solidFill>
              </a:rPr>
              <a:t>Connecte-toi à ton espace n8n</a:t>
            </a:r>
            <a:pPr indent="0" marL="0">
              <a:buNone/>
            </a:pPr>
            <a:r>
              <a:rPr lang="en-US" sz="1500" dirty="0">
                <a:solidFill>
                  <a:srgbClr val="3A4566"/>
                </a:solidFill>
              </a:rPr>
              <a:t>  (ex. tonnom.app.n8n.cloud).</a:t>
            </a:r>
            <a:endParaRPr lang="en-US" sz="1500" dirty="0"/>
          </a:p>
        </p:txBody>
      </p:sp>
      <p:sp>
        <p:nvSpPr>
          <p:cNvPr id="8" name="numéro 2"/>
          <p:cNvSpPr/>
          <p:nvPr/>
        </p:nvSpPr>
        <p:spPr>
          <a:xfrm>
            <a:off x="548640" y="2408530"/>
            <a:ext cx="402336" cy="402336"/>
          </a:xfrm>
          <a:prstGeom prst="ellipse">
            <a:avLst/>
          </a:prstGeom>
          <a:solidFill>
            <a:srgbClr val="EA4B71"/>
          </a:solidFill>
          <a:ln w="12700">
            <a:solidFill>
              <a:srgbClr val="EA4B71"/>
            </a:solidFill>
            <a:prstDash val="solid"/>
          </a:ln>
        </p:spPr>
      </p:sp>
      <p:sp>
        <p:nvSpPr>
          <p:cNvPr id="9" name="Text 7"/>
          <p:cNvSpPr txBox="1"/>
          <p:nvPr/>
        </p:nvSpPr>
        <p:spPr>
          <a:xfrm>
            <a:off x="548640" y="24085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390242"/>
            <a:ext cx="5742432" cy="863194"/>
          </a:xfrm>
          <a:prstGeom prst="rect">
            <a:avLst/>
          </a:prstGeom>
          <a:noFill/>
          <a:ln/>
        </p:spPr>
        <p:txBody>
          <a:bodyPr wrap="square" lIns="0" tIns="0" rIns="0" bIns="0" rtlCol="0" anchor="t"/>
          <a:lstStyle/>
          <a:p>
            <a:pPr indent="0" marL="0">
              <a:buNone/>
            </a:pPr>
            <a:r>
              <a:rPr lang="en-US" sz="1500" b="1" dirty="0">
                <a:solidFill>
                  <a:srgbClr val="1B2340"/>
                </a:solidFill>
              </a:rPr>
              <a:t>Clique sur Create workflow :</a:t>
            </a:r>
            <a:pPr indent="0" marL="0">
              <a:buNone/>
            </a:pPr>
            <a:r>
              <a:rPr lang="en-US" sz="1500" dirty="0">
                <a:solidFill>
                  <a:srgbClr val="3A4566"/>
                </a:solidFill>
              </a:rPr>
              <a:t>  une page vide s'ouvre.</a:t>
            </a:r>
            <a:endParaRPr lang="en-US" sz="1500" dirty="0"/>
          </a:p>
        </p:txBody>
      </p:sp>
      <p:sp>
        <p:nvSpPr>
          <p:cNvPr id="11" name="numéro 3"/>
          <p:cNvSpPr/>
          <p:nvPr/>
        </p:nvSpPr>
        <p:spPr>
          <a:xfrm>
            <a:off x="548640" y="3381451"/>
            <a:ext cx="402336" cy="402336"/>
          </a:xfrm>
          <a:prstGeom prst="ellipse">
            <a:avLst/>
          </a:prstGeom>
          <a:solidFill>
            <a:srgbClr val="EA4B71"/>
          </a:solidFill>
          <a:ln w="12700">
            <a:solidFill>
              <a:srgbClr val="EA4B71"/>
            </a:solidFill>
            <a:prstDash val="solid"/>
          </a:ln>
        </p:spPr>
      </p:sp>
      <p:sp>
        <p:nvSpPr>
          <p:cNvPr id="12" name="Text 10"/>
          <p:cNvSpPr txBox="1"/>
          <p:nvPr/>
        </p:nvSpPr>
        <p:spPr>
          <a:xfrm>
            <a:off x="548640" y="338145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363163"/>
            <a:ext cx="5742432" cy="863194"/>
          </a:xfrm>
          <a:prstGeom prst="rect">
            <a:avLst/>
          </a:prstGeom>
          <a:noFill/>
          <a:ln/>
        </p:spPr>
        <p:txBody>
          <a:bodyPr wrap="square" lIns="0" tIns="0" rIns="0" bIns="0" rtlCol="0" anchor="t"/>
          <a:lstStyle/>
          <a:p>
            <a:pPr indent="0" marL="0">
              <a:buNone/>
            </a:pPr>
            <a:r>
              <a:rPr lang="en-US" sz="1500" b="1" dirty="0">
                <a:solidFill>
                  <a:srgbClr val="1B2340"/>
                </a:solidFill>
              </a:rPr>
              <a:t>En haut à droite : … → Import from file</a:t>
            </a:r>
            <a:pPr indent="0" marL="0">
              <a:buNone/>
            </a:pPr>
            <a:r>
              <a:rPr lang="en-US" sz="1500" dirty="0">
                <a:solidFill>
                  <a:srgbClr val="3A4566"/>
                </a:solidFill>
              </a:rPr>
              <a:t>  et choisis workflow_1_commande_alerte_stock.json.</a:t>
            </a:r>
            <a:endParaRPr lang="en-US" sz="1500" dirty="0"/>
          </a:p>
        </p:txBody>
      </p:sp>
      <p:sp>
        <p:nvSpPr>
          <p:cNvPr id="14" name="numéro 4"/>
          <p:cNvSpPr/>
          <p:nvPr/>
        </p:nvSpPr>
        <p:spPr>
          <a:xfrm>
            <a:off x="548640" y="4354373"/>
            <a:ext cx="402336" cy="402336"/>
          </a:xfrm>
          <a:prstGeom prst="ellipse">
            <a:avLst/>
          </a:prstGeom>
          <a:solidFill>
            <a:srgbClr val="EA4B71"/>
          </a:solidFill>
          <a:ln w="12700">
            <a:solidFill>
              <a:srgbClr val="EA4B71"/>
            </a:solidFill>
            <a:prstDash val="solid"/>
          </a:ln>
        </p:spPr>
      </p:sp>
      <p:sp>
        <p:nvSpPr>
          <p:cNvPr id="15" name="Text 13"/>
          <p:cNvSpPr txBox="1"/>
          <p:nvPr/>
        </p:nvSpPr>
        <p:spPr>
          <a:xfrm>
            <a:off x="548640" y="435437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4336085"/>
            <a:ext cx="5742432" cy="863194"/>
          </a:xfrm>
          <a:prstGeom prst="rect">
            <a:avLst/>
          </a:prstGeom>
          <a:noFill/>
          <a:ln/>
        </p:spPr>
        <p:txBody>
          <a:bodyPr wrap="square" lIns="0" tIns="0" rIns="0" bIns="0" rtlCol="0" anchor="t"/>
          <a:lstStyle/>
          <a:p>
            <a:pPr indent="0" marL="0">
              <a:buNone/>
            </a:pPr>
            <a:r>
              <a:rPr lang="en-US" sz="1500" b="1" dirty="0">
                <a:solidFill>
                  <a:srgbClr val="1B2340"/>
                </a:solidFill>
              </a:rPr>
              <a:t>Renomme-le « Stock 1 »</a:t>
            </a:r>
            <a:pPr indent="0" marL="0">
              <a:buNone/>
            </a:pPr>
            <a:r>
              <a:rPr lang="en-US" sz="1500" dirty="0">
                <a:solidFill>
                  <a:srgbClr val="3A4566"/>
                </a:solidFill>
              </a:rPr>
              <a:t>  (clic sur le nom en haut à gauche), puis Ctrl+S.</a:t>
            </a:r>
            <a:endParaRPr lang="en-US" sz="1500" dirty="0"/>
          </a:p>
        </p:txBody>
      </p:sp>
      <p:sp>
        <p:nvSpPr>
          <p:cNvPr id="17" name="numéro 5"/>
          <p:cNvSpPr/>
          <p:nvPr/>
        </p:nvSpPr>
        <p:spPr>
          <a:xfrm>
            <a:off x="548640" y="5327294"/>
            <a:ext cx="402336" cy="402336"/>
          </a:xfrm>
          <a:prstGeom prst="ellipse">
            <a:avLst/>
          </a:prstGeom>
          <a:solidFill>
            <a:srgbClr val="EA4B71"/>
          </a:solidFill>
          <a:ln w="12700">
            <a:solidFill>
              <a:srgbClr val="EA4B71"/>
            </a:solidFill>
            <a:prstDash val="solid"/>
          </a:ln>
        </p:spPr>
      </p:sp>
      <p:sp>
        <p:nvSpPr>
          <p:cNvPr id="18" name="Text 16"/>
          <p:cNvSpPr txBox="1"/>
          <p:nvPr/>
        </p:nvSpPr>
        <p:spPr>
          <a:xfrm>
            <a:off x="548640" y="532729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9" name="Text 17"/>
          <p:cNvSpPr txBox="1"/>
          <p:nvPr/>
        </p:nvSpPr>
        <p:spPr>
          <a:xfrm>
            <a:off x="1115568" y="5309006"/>
            <a:ext cx="5742432" cy="863194"/>
          </a:xfrm>
          <a:prstGeom prst="rect">
            <a:avLst/>
          </a:prstGeom>
          <a:noFill/>
          <a:ln/>
        </p:spPr>
        <p:txBody>
          <a:bodyPr wrap="square" lIns="0" tIns="0" rIns="0" bIns="0" rtlCol="0" anchor="t"/>
          <a:lstStyle/>
          <a:p>
            <a:pPr indent="0" marL="0">
              <a:buNone/>
            </a:pPr>
            <a:r>
              <a:rPr lang="en-US" sz="1500" b="1" dirty="0">
                <a:solidFill>
                  <a:srgbClr val="1B2340"/>
                </a:solidFill>
              </a:rPr>
              <a:t>Retourne à l'accueil et recommence</a:t>
            </a:r>
            <a:pPr indent="0" marL="0">
              <a:buNone/>
            </a:pPr>
            <a:r>
              <a:rPr lang="en-US" sz="1500" dirty="0">
                <a:solidFill>
                  <a:srgbClr val="3A4566"/>
                </a:solidFill>
              </a:rPr>
              <a:t>  pour les 3 autres fichiers : Stock 2, Stock 3, Stock 4.</a:t>
            </a:r>
            <a:endParaRPr lang="en-US" sz="1500" dirty="0"/>
          </a:p>
        </p:txBody>
      </p:sp>
      <p:sp>
        <p:nvSpPr>
          <p:cNvPr id="20" name="carte"/>
          <p:cNvSpPr/>
          <p:nvPr/>
        </p:nvSpPr>
        <p:spPr>
          <a:xfrm>
            <a:off x="7178040" y="1463040"/>
            <a:ext cx="4462272" cy="2651760"/>
          </a:xfrm>
          <a:prstGeom prst="roundRect">
            <a:avLst>
              <a:gd name="adj" fmla="val 5172"/>
            </a:avLst>
          </a:prstGeom>
          <a:solidFill>
            <a:srgbClr val="EA4B71"/>
          </a:solidFill>
          <a:ln w="12700">
            <a:solidFill>
              <a:srgbClr val="EA4B71"/>
            </a:solidFill>
            <a:prstDash val="solid"/>
          </a:ln>
        </p:spPr>
      </p:sp>
      <p:sp>
        <p:nvSpPr>
          <p:cNvPr id="21" name="Text 19"/>
          <p:cNvSpPr txBox="1"/>
          <p:nvPr/>
        </p:nvSpPr>
        <p:spPr>
          <a:xfrm>
            <a:off x="7498080" y="1691640"/>
            <a:ext cx="3657600" cy="365760"/>
          </a:xfrm>
          <a:prstGeom prst="rect">
            <a:avLst/>
          </a:prstGeom>
          <a:noFill/>
          <a:ln/>
        </p:spPr>
        <p:txBody>
          <a:bodyPr wrap="square" lIns="0" tIns="0" rIns="0" bIns="0" rtlCol="0" anchor="t"/>
          <a:lstStyle/>
          <a:p>
            <a:pPr indent="0" marL="0">
              <a:buNone/>
            </a:pPr>
            <a:r>
              <a:rPr lang="en-US" sz="1400" b="1" spc="300" kern="0" dirty="0">
                <a:solidFill>
                  <a:srgbClr val="FFFFFF"/>
                </a:solidFill>
              </a:rPr>
              <a:t>RÈGLE D'OR</a:t>
            </a:r>
            <a:endParaRPr lang="en-US" sz="1400" dirty="0"/>
          </a:p>
        </p:txBody>
      </p:sp>
      <p:sp>
        <p:nvSpPr>
          <p:cNvPr id="22" name="Text 20"/>
          <p:cNvSpPr txBox="1"/>
          <p:nvPr/>
        </p:nvSpPr>
        <p:spPr>
          <a:xfrm>
            <a:off x="7498080" y="2103120"/>
            <a:ext cx="3931920" cy="822960"/>
          </a:xfrm>
          <a:prstGeom prst="rect">
            <a:avLst/>
          </a:prstGeom>
          <a:noFill/>
          <a:ln/>
        </p:spPr>
        <p:txBody>
          <a:bodyPr wrap="square" lIns="0" tIns="0" rIns="0" bIns="0" rtlCol="0" anchor="t"/>
          <a:lstStyle/>
          <a:p>
            <a:pPr indent="0" marL="0">
              <a:buNone/>
            </a:pPr>
            <a:r>
              <a:rPr lang="en-US" sz="2600" b="1" dirty="0">
                <a:solidFill>
                  <a:srgbClr val="FFFFFF"/>
                </a:solidFill>
              </a:rPr>
              <a:t>Une page vide = un fichier</a:t>
            </a:r>
            <a:endParaRPr lang="en-US" sz="2600" dirty="0"/>
          </a:p>
        </p:txBody>
      </p:sp>
      <p:sp>
        <p:nvSpPr>
          <p:cNvPr id="23" name="Text 21"/>
          <p:cNvSpPr txBox="1"/>
          <p:nvPr/>
        </p:nvSpPr>
        <p:spPr>
          <a:xfrm>
            <a:off x="7498080" y="3108960"/>
            <a:ext cx="3931920" cy="731520"/>
          </a:xfrm>
          <a:prstGeom prst="rect">
            <a:avLst/>
          </a:prstGeom>
          <a:noFill/>
          <a:ln/>
        </p:spPr>
        <p:txBody>
          <a:bodyPr wrap="square" lIns="0" tIns="0" rIns="0" bIns="0" rtlCol="0" anchor="t"/>
          <a:lstStyle/>
          <a:p>
            <a:pPr indent="0" marL="0">
              <a:buNone/>
            </a:pPr>
            <a:r>
              <a:rPr lang="en-US" sz="1500" dirty="0">
                <a:solidFill>
                  <a:srgbClr val="FFFFFF"/>
                </a:solidFill>
              </a:rPr>
              <a:t>Jamais deux fichiers dans la même page.</a:t>
            </a:r>
            <a:endParaRPr lang="en-US" sz="1500" dirty="0"/>
          </a:p>
        </p:txBody>
      </p:sp>
      <p:sp>
        <p:nvSpPr>
          <p:cNvPr id="24" name="encadré Erreur fréquente"/>
          <p:cNvSpPr/>
          <p:nvPr/>
        </p:nvSpPr>
        <p:spPr>
          <a:xfrm>
            <a:off x="7178040" y="4343400"/>
            <a:ext cx="4462272" cy="1783080"/>
          </a:xfrm>
          <a:prstGeom prst="roundRect">
            <a:avLst>
              <a:gd name="adj" fmla="val 6154"/>
            </a:avLst>
          </a:prstGeom>
          <a:solidFill>
            <a:srgbClr val="FDE8E7"/>
          </a:solidFill>
          <a:ln w="12700">
            <a:solidFill>
              <a:srgbClr val="FDE8E7"/>
            </a:solidFill>
            <a:prstDash val="solid"/>
          </a:ln>
        </p:spPr>
      </p:sp>
      <p:pic>
        <p:nvPicPr>
          <p:cNvPr id="25" name="Image 0" descr="Erreur fréquente">    </p:cNvPr>
          <p:cNvPicPr>
            <a:picLocks noChangeAspect="1"/>
          </p:cNvPicPr>
          <p:nvPr/>
        </p:nvPicPr>
        <p:blipFill>
          <a:blip r:embed="rId1"/>
          <a:stretch>
            <a:fillRect/>
          </a:stretch>
        </p:blipFill>
        <p:spPr>
          <a:xfrm>
            <a:off x="7379208" y="4526280"/>
            <a:ext cx="347472" cy="347472"/>
          </a:xfrm>
          <a:prstGeom prst="rect">
            <a:avLst/>
          </a:prstGeom>
        </p:spPr>
      </p:pic>
      <p:sp>
        <p:nvSpPr>
          <p:cNvPr id="26" name="Text 23"/>
          <p:cNvSpPr txBox="1"/>
          <p:nvPr/>
        </p:nvSpPr>
        <p:spPr>
          <a:xfrm>
            <a:off x="7891272" y="4489704"/>
            <a:ext cx="3566160" cy="1508760"/>
          </a:xfrm>
          <a:prstGeom prst="rect">
            <a:avLst/>
          </a:prstGeom>
          <a:noFill/>
          <a:ln/>
        </p:spPr>
        <p:txBody>
          <a:bodyPr wrap="square" lIns="0" tIns="0" rIns="0" bIns="0" rtlCol="0" anchor="ctr"/>
          <a:lstStyle/>
          <a:p>
            <a:pPr indent="0" marL="0">
              <a:buNone/>
            </a:pPr>
            <a:r>
              <a:rPr lang="en-US" sz="1400" b="1" dirty="0">
                <a:solidFill>
                  <a:srgbClr val="D93025"/>
                </a:solidFill>
              </a:rPr>
              <a:t>Erreur fréquente : </a:t>
            </a:r>
            <a:pPr indent="0" marL="0">
              <a:buNone/>
            </a:pPr>
            <a:r>
              <a:rPr lang="en-US" sz="1400" dirty="0">
                <a:solidFill>
                  <a:srgbClr val="1B2340"/>
                </a:solidFill>
              </a:rPr>
              <a:t>si tu vois des nœuds qui finissent par « 1 » (ex. « Lire les produits1 »), deux fichiers sont dans la même page. Supprime la page et réimporte proprement.</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À quoi ressemble Stock 1</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EA4B71"/>
          </a:solidFill>
          <a:ln w="12700">
            <a:solidFill>
              <a:srgbClr val="EA4B71"/>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2 · N8N</a:t>
            </a:r>
            <a:endParaRPr lang="en-US" sz="1200" dirty="0"/>
          </a:p>
        </p:txBody>
      </p:sp>
      <p:sp>
        <p:nvSpPr>
          <p:cNvPr id="5" name="nœud Formulaire de commande"/>
          <p:cNvSpPr/>
          <p:nvPr/>
        </p:nvSpPr>
        <p:spPr>
          <a:xfrm>
            <a:off x="731520" y="1600200"/>
            <a:ext cx="2331720" cy="1188720"/>
          </a:xfrm>
          <a:prstGeom prst="roundRect">
            <a:avLst>
              <a:gd name="adj" fmla="val 9231"/>
            </a:avLst>
          </a:prstGeom>
          <a:solidFill>
            <a:srgbClr val="FFFFFF"/>
          </a:solidFill>
          <a:ln w="31750">
            <a:solidFill>
              <a:srgbClr val="9AA6C2"/>
            </a:solidFill>
            <a:prstDash val="solid"/>
          </a:ln>
        </p:spPr>
      </p:sp>
      <p:sp>
        <p:nvSpPr>
          <p:cNvPr id="6" name="Shape 4"/>
          <p:cNvSpPr/>
          <p:nvPr/>
        </p:nvSpPr>
        <p:spPr>
          <a:xfrm>
            <a:off x="868680" y="1737360"/>
            <a:ext cx="310896" cy="310896"/>
          </a:xfrm>
          <a:prstGeom prst="ellipse">
            <a:avLst/>
          </a:prstGeom>
          <a:solidFill>
            <a:srgbClr val="9AA6C2"/>
          </a:solidFill>
          <a:ln w="12700">
            <a:solidFill>
              <a:srgbClr val="9AA6C2"/>
            </a:solidFill>
            <a:prstDash val="solid"/>
          </a:ln>
        </p:spPr>
      </p:sp>
      <p:sp>
        <p:nvSpPr>
          <p:cNvPr id="7" name="Text 5"/>
          <p:cNvSpPr txBox="1"/>
          <p:nvPr/>
        </p:nvSpPr>
        <p:spPr>
          <a:xfrm>
            <a:off x="868680" y="17373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txBox="1"/>
          <p:nvPr/>
        </p:nvSpPr>
        <p:spPr>
          <a:xfrm>
            <a:off x="868680" y="2103120"/>
            <a:ext cx="2057400" cy="640080"/>
          </a:xfrm>
          <a:prstGeom prst="rect">
            <a:avLst/>
          </a:prstGeom>
          <a:noFill/>
          <a:ln/>
        </p:spPr>
        <p:txBody>
          <a:bodyPr wrap="square" lIns="0" tIns="0" rIns="0" bIns="0" rtlCol="0" anchor="t"/>
          <a:lstStyle/>
          <a:p>
            <a:pPr indent="0" marL="0">
              <a:buNone/>
            </a:pPr>
            <a:r>
              <a:rPr lang="en-US" sz="1300" b="1" dirty="0">
                <a:solidFill>
                  <a:srgbClr val="1B2340"/>
                </a:solidFill>
              </a:rPr>
              <a:t>Formulaire de commande</a:t>
            </a:r>
            <a:endParaRPr lang="en-US" sz="1300" dirty="0"/>
          </a:p>
        </p:txBody>
      </p:sp>
      <p:sp>
        <p:nvSpPr>
          <p:cNvPr id="9" name="flèche"/>
          <p:cNvSpPr/>
          <p:nvPr/>
        </p:nvSpPr>
        <p:spPr>
          <a:xfrm>
            <a:off x="3090672" y="2194560"/>
            <a:ext cx="448056" cy="914"/>
          </a:xfrm>
          <a:prstGeom prst="line">
            <a:avLst/>
          </a:prstGeom>
          <a:noFill/>
          <a:ln w="25400">
            <a:solidFill>
              <a:srgbClr val="1B2340"/>
            </a:solidFill>
            <a:prstDash val="solid"/>
            <a:tailEnd type="triangle"/>
          </a:ln>
        </p:spPr>
      </p:sp>
      <p:sp>
        <p:nvSpPr>
          <p:cNvPr id="10" name="nœud Lire les produits"/>
          <p:cNvSpPr/>
          <p:nvPr/>
        </p:nvSpPr>
        <p:spPr>
          <a:xfrm>
            <a:off x="3566160" y="1600200"/>
            <a:ext cx="2331720" cy="1188720"/>
          </a:xfrm>
          <a:prstGeom prst="roundRect">
            <a:avLst>
              <a:gd name="adj" fmla="val 9231"/>
            </a:avLst>
          </a:prstGeom>
          <a:solidFill>
            <a:srgbClr val="FFFFFF"/>
          </a:solidFill>
          <a:ln w="31750">
            <a:solidFill>
              <a:srgbClr val="1E8E3E"/>
            </a:solidFill>
            <a:prstDash val="solid"/>
          </a:ln>
        </p:spPr>
      </p:sp>
      <p:sp>
        <p:nvSpPr>
          <p:cNvPr id="11" name="Shape 9"/>
          <p:cNvSpPr/>
          <p:nvPr/>
        </p:nvSpPr>
        <p:spPr>
          <a:xfrm>
            <a:off x="3703320" y="1737360"/>
            <a:ext cx="310896" cy="310896"/>
          </a:xfrm>
          <a:prstGeom prst="ellipse">
            <a:avLst/>
          </a:prstGeom>
          <a:solidFill>
            <a:srgbClr val="1E8E3E"/>
          </a:solidFill>
          <a:ln w="12700">
            <a:solidFill>
              <a:srgbClr val="1E8E3E"/>
            </a:solidFill>
            <a:prstDash val="solid"/>
          </a:ln>
        </p:spPr>
      </p:sp>
      <p:sp>
        <p:nvSpPr>
          <p:cNvPr id="12" name="Text 10"/>
          <p:cNvSpPr txBox="1"/>
          <p:nvPr/>
        </p:nvSpPr>
        <p:spPr>
          <a:xfrm>
            <a:off x="3703320" y="17373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Text 11"/>
          <p:cNvSpPr txBox="1"/>
          <p:nvPr/>
        </p:nvSpPr>
        <p:spPr>
          <a:xfrm>
            <a:off x="3703320" y="2103120"/>
            <a:ext cx="2057400" cy="640080"/>
          </a:xfrm>
          <a:prstGeom prst="rect">
            <a:avLst/>
          </a:prstGeom>
          <a:noFill/>
          <a:ln/>
        </p:spPr>
        <p:txBody>
          <a:bodyPr wrap="square" lIns="0" tIns="0" rIns="0" bIns="0" rtlCol="0" anchor="t"/>
          <a:lstStyle/>
          <a:p>
            <a:pPr indent="0" marL="0">
              <a:buNone/>
            </a:pPr>
            <a:r>
              <a:rPr lang="en-US" sz="1300" b="1" dirty="0">
                <a:solidFill>
                  <a:srgbClr val="1B2340"/>
                </a:solidFill>
              </a:rPr>
              <a:t>Lire les produits</a:t>
            </a:r>
            <a:endParaRPr lang="en-US" sz="1300" dirty="0"/>
          </a:p>
        </p:txBody>
      </p:sp>
      <p:sp>
        <p:nvSpPr>
          <p:cNvPr id="14" name="flèche"/>
          <p:cNvSpPr/>
          <p:nvPr/>
        </p:nvSpPr>
        <p:spPr>
          <a:xfrm>
            <a:off x="5925312" y="2194560"/>
            <a:ext cx="448056" cy="914"/>
          </a:xfrm>
          <a:prstGeom prst="line">
            <a:avLst/>
          </a:prstGeom>
          <a:noFill/>
          <a:ln w="25400">
            <a:solidFill>
              <a:srgbClr val="1B2340"/>
            </a:solidFill>
            <a:prstDash val="solid"/>
            <a:tailEnd type="triangle"/>
          </a:ln>
        </p:spPr>
      </p:sp>
      <p:sp>
        <p:nvSpPr>
          <p:cNvPr id="15" name="nœud Préparer la commande"/>
          <p:cNvSpPr/>
          <p:nvPr/>
        </p:nvSpPr>
        <p:spPr>
          <a:xfrm>
            <a:off x="6400800" y="1600200"/>
            <a:ext cx="2331720" cy="1188720"/>
          </a:xfrm>
          <a:prstGeom prst="roundRect">
            <a:avLst>
              <a:gd name="adj" fmla="val 9231"/>
            </a:avLst>
          </a:prstGeom>
          <a:solidFill>
            <a:srgbClr val="FFFFFF"/>
          </a:solidFill>
          <a:ln w="31750">
            <a:solidFill>
              <a:srgbClr val="EA4B71"/>
            </a:solidFill>
            <a:prstDash val="solid"/>
          </a:ln>
        </p:spPr>
      </p:sp>
      <p:sp>
        <p:nvSpPr>
          <p:cNvPr id="16" name="Shape 14"/>
          <p:cNvSpPr/>
          <p:nvPr/>
        </p:nvSpPr>
        <p:spPr>
          <a:xfrm>
            <a:off x="6537960" y="1737360"/>
            <a:ext cx="310896" cy="310896"/>
          </a:xfrm>
          <a:prstGeom prst="ellipse">
            <a:avLst/>
          </a:prstGeom>
          <a:solidFill>
            <a:srgbClr val="EA4B71"/>
          </a:solidFill>
          <a:ln w="12700">
            <a:solidFill>
              <a:srgbClr val="EA4B71"/>
            </a:solidFill>
            <a:prstDash val="solid"/>
          </a:ln>
        </p:spPr>
      </p:sp>
      <p:sp>
        <p:nvSpPr>
          <p:cNvPr id="17" name="Text 15"/>
          <p:cNvSpPr txBox="1"/>
          <p:nvPr/>
        </p:nvSpPr>
        <p:spPr>
          <a:xfrm>
            <a:off x="6537960" y="17373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8" name="Text 16"/>
          <p:cNvSpPr txBox="1"/>
          <p:nvPr/>
        </p:nvSpPr>
        <p:spPr>
          <a:xfrm>
            <a:off x="6537960" y="2103120"/>
            <a:ext cx="2057400" cy="640080"/>
          </a:xfrm>
          <a:prstGeom prst="rect">
            <a:avLst/>
          </a:prstGeom>
          <a:noFill/>
          <a:ln/>
        </p:spPr>
        <p:txBody>
          <a:bodyPr wrap="square" lIns="0" tIns="0" rIns="0" bIns="0" rtlCol="0" anchor="t"/>
          <a:lstStyle/>
          <a:p>
            <a:pPr indent="0" marL="0">
              <a:buNone/>
            </a:pPr>
            <a:r>
              <a:rPr lang="en-US" sz="1300" b="1" dirty="0">
                <a:solidFill>
                  <a:srgbClr val="1B2340"/>
                </a:solidFill>
              </a:rPr>
              <a:t>Préparer la commande</a:t>
            </a:r>
            <a:endParaRPr lang="en-US" sz="1300" dirty="0"/>
          </a:p>
        </p:txBody>
      </p:sp>
      <p:sp>
        <p:nvSpPr>
          <p:cNvPr id="19" name="flèche"/>
          <p:cNvSpPr/>
          <p:nvPr/>
        </p:nvSpPr>
        <p:spPr>
          <a:xfrm>
            <a:off x="8759952" y="2194560"/>
            <a:ext cx="448056" cy="914"/>
          </a:xfrm>
          <a:prstGeom prst="line">
            <a:avLst/>
          </a:prstGeom>
          <a:noFill/>
          <a:ln w="25400">
            <a:solidFill>
              <a:srgbClr val="1B2340"/>
            </a:solidFill>
            <a:prstDash val="solid"/>
            <a:tailEnd type="triangle"/>
          </a:ln>
        </p:spPr>
      </p:sp>
      <p:sp>
        <p:nvSpPr>
          <p:cNvPr id="20" name="nœud Ajouter dans Commandes"/>
          <p:cNvSpPr/>
          <p:nvPr/>
        </p:nvSpPr>
        <p:spPr>
          <a:xfrm>
            <a:off x="9235440" y="1600200"/>
            <a:ext cx="2331720" cy="1188720"/>
          </a:xfrm>
          <a:prstGeom prst="roundRect">
            <a:avLst>
              <a:gd name="adj" fmla="val 9231"/>
            </a:avLst>
          </a:prstGeom>
          <a:solidFill>
            <a:srgbClr val="FFFFFF"/>
          </a:solidFill>
          <a:ln w="31750">
            <a:solidFill>
              <a:srgbClr val="1E8E3E"/>
            </a:solidFill>
            <a:prstDash val="solid"/>
          </a:ln>
        </p:spPr>
      </p:sp>
      <p:sp>
        <p:nvSpPr>
          <p:cNvPr id="21" name="Shape 19"/>
          <p:cNvSpPr/>
          <p:nvPr/>
        </p:nvSpPr>
        <p:spPr>
          <a:xfrm>
            <a:off x="9372600" y="1737360"/>
            <a:ext cx="310896" cy="310896"/>
          </a:xfrm>
          <a:prstGeom prst="ellipse">
            <a:avLst/>
          </a:prstGeom>
          <a:solidFill>
            <a:srgbClr val="1E8E3E"/>
          </a:solidFill>
          <a:ln w="12700">
            <a:solidFill>
              <a:srgbClr val="1E8E3E"/>
            </a:solidFill>
            <a:prstDash val="solid"/>
          </a:ln>
        </p:spPr>
      </p:sp>
      <p:sp>
        <p:nvSpPr>
          <p:cNvPr id="22" name="Text 20"/>
          <p:cNvSpPr txBox="1"/>
          <p:nvPr/>
        </p:nvSpPr>
        <p:spPr>
          <a:xfrm>
            <a:off x="9372600" y="17373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3" name="Text 21"/>
          <p:cNvSpPr txBox="1"/>
          <p:nvPr/>
        </p:nvSpPr>
        <p:spPr>
          <a:xfrm>
            <a:off x="9372600" y="2103120"/>
            <a:ext cx="2057400" cy="640080"/>
          </a:xfrm>
          <a:prstGeom prst="rect">
            <a:avLst/>
          </a:prstGeom>
          <a:noFill/>
          <a:ln/>
        </p:spPr>
        <p:txBody>
          <a:bodyPr wrap="square" lIns="0" tIns="0" rIns="0" bIns="0" rtlCol="0" anchor="t"/>
          <a:lstStyle/>
          <a:p>
            <a:pPr indent="0" marL="0">
              <a:buNone/>
            </a:pPr>
            <a:r>
              <a:rPr lang="en-US" sz="1300" b="1" dirty="0">
                <a:solidFill>
                  <a:srgbClr val="1B2340"/>
                </a:solidFill>
              </a:rPr>
              <a:t>Ajouter dans Commandes</a:t>
            </a:r>
            <a:endParaRPr lang="en-US" sz="1300" dirty="0"/>
          </a:p>
        </p:txBody>
      </p:sp>
      <p:sp>
        <p:nvSpPr>
          <p:cNvPr id="24" name="nœud WhatsApp patron : nouvelle commande"/>
          <p:cNvSpPr/>
          <p:nvPr/>
        </p:nvSpPr>
        <p:spPr>
          <a:xfrm>
            <a:off x="731520" y="3429000"/>
            <a:ext cx="2331720" cy="1188720"/>
          </a:xfrm>
          <a:prstGeom prst="roundRect">
            <a:avLst>
              <a:gd name="adj" fmla="val 9231"/>
            </a:avLst>
          </a:prstGeom>
          <a:solidFill>
            <a:srgbClr val="FFFFFF"/>
          </a:solidFill>
          <a:ln w="31750">
            <a:solidFill>
              <a:srgbClr val="128C7E"/>
            </a:solidFill>
            <a:prstDash val="solid"/>
          </a:ln>
        </p:spPr>
      </p:sp>
      <p:sp>
        <p:nvSpPr>
          <p:cNvPr id="25" name="Shape 23"/>
          <p:cNvSpPr/>
          <p:nvPr/>
        </p:nvSpPr>
        <p:spPr>
          <a:xfrm>
            <a:off x="868680" y="3566160"/>
            <a:ext cx="310896" cy="310896"/>
          </a:xfrm>
          <a:prstGeom prst="ellipse">
            <a:avLst/>
          </a:prstGeom>
          <a:solidFill>
            <a:srgbClr val="128C7E"/>
          </a:solidFill>
          <a:ln w="12700">
            <a:solidFill>
              <a:srgbClr val="128C7E"/>
            </a:solidFill>
            <a:prstDash val="solid"/>
          </a:ln>
        </p:spPr>
      </p:sp>
      <p:sp>
        <p:nvSpPr>
          <p:cNvPr id="26" name="Text 24"/>
          <p:cNvSpPr txBox="1"/>
          <p:nvPr/>
        </p:nvSpPr>
        <p:spPr>
          <a:xfrm>
            <a:off x="868680" y="35661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7" name="Text 25"/>
          <p:cNvSpPr txBox="1"/>
          <p:nvPr/>
        </p:nvSpPr>
        <p:spPr>
          <a:xfrm>
            <a:off x="868680" y="3931920"/>
            <a:ext cx="2057400" cy="640080"/>
          </a:xfrm>
          <a:prstGeom prst="rect">
            <a:avLst/>
          </a:prstGeom>
          <a:noFill/>
          <a:ln/>
        </p:spPr>
        <p:txBody>
          <a:bodyPr wrap="square" lIns="0" tIns="0" rIns="0" bIns="0" rtlCol="0" anchor="t"/>
          <a:lstStyle/>
          <a:p>
            <a:pPr indent="0" marL="0">
              <a:buNone/>
            </a:pPr>
            <a:r>
              <a:rPr lang="en-US" sz="1300" b="1" dirty="0">
                <a:solidFill>
                  <a:srgbClr val="1B2340"/>
                </a:solidFill>
              </a:rPr>
              <a:t>WhatsApp patron : nouvelle commande</a:t>
            </a:r>
            <a:endParaRPr lang="en-US" sz="1300" dirty="0"/>
          </a:p>
        </p:txBody>
      </p:sp>
      <p:sp>
        <p:nvSpPr>
          <p:cNvPr id="28" name="flèche"/>
          <p:cNvSpPr/>
          <p:nvPr/>
        </p:nvSpPr>
        <p:spPr>
          <a:xfrm>
            <a:off x="3090672" y="4023360"/>
            <a:ext cx="448056" cy="914"/>
          </a:xfrm>
          <a:prstGeom prst="line">
            <a:avLst/>
          </a:prstGeom>
          <a:noFill/>
          <a:ln w="25400">
            <a:solidFill>
              <a:srgbClr val="1B2340"/>
            </a:solidFill>
            <a:prstDash val="solid"/>
            <a:tailEnd type="triangle"/>
          </a:ln>
        </p:spPr>
      </p:sp>
      <p:sp>
        <p:nvSpPr>
          <p:cNvPr id="29" name="nœud WhatsApp client : confirmation"/>
          <p:cNvSpPr/>
          <p:nvPr/>
        </p:nvSpPr>
        <p:spPr>
          <a:xfrm>
            <a:off x="3566160" y="3429000"/>
            <a:ext cx="2331720" cy="1188720"/>
          </a:xfrm>
          <a:prstGeom prst="roundRect">
            <a:avLst>
              <a:gd name="adj" fmla="val 9231"/>
            </a:avLst>
          </a:prstGeom>
          <a:solidFill>
            <a:srgbClr val="FFFFFF"/>
          </a:solidFill>
          <a:ln w="31750">
            <a:solidFill>
              <a:srgbClr val="128C7E"/>
            </a:solidFill>
            <a:prstDash val="solid"/>
          </a:ln>
        </p:spPr>
      </p:sp>
      <p:sp>
        <p:nvSpPr>
          <p:cNvPr id="30" name="Shape 28"/>
          <p:cNvSpPr/>
          <p:nvPr/>
        </p:nvSpPr>
        <p:spPr>
          <a:xfrm>
            <a:off x="3703320" y="3566160"/>
            <a:ext cx="310896" cy="310896"/>
          </a:xfrm>
          <a:prstGeom prst="ellipse">
            <a:avLst/>
          </a:prstGeom>
          <a:solidFill>
            <a:srgbClr val="128C7E"/>
          </a:solidFill>
          <a:ln w="12700">
            <a:solidFill>
              <a:srgbClr val="128C7E"/>
            </a:solidFill>
            <a:prstDash val="solid"/>
          </a:ln>
        </p:spPr>
      </p:sp>
      <p:sp>
        <p:nvSpPr>
          <p:cNvPr id="31" name="Text 29"/>
          <p:cNvSpPr txBox="1"/>
          <p:nvPr/>
        </p:nvSpPr>
        <p:spPr>
          <a:xfrm>
            <a:off x="3703320" y="35661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2" name="Text 30"/>
          <p:cNvSpPr txBox="1"/>
          <p:nvPr/>
        </p:nvSpPr>
        <p:spPr>
          <a:xfrm>
            <a:off x="3703320" y="3931920"/>
            <a:ext cx="2057400" cy="640080"/>
          </a:xfrm>
          <a:prstGeom prst="rect">
            <a:avLst/>
          </a:prstGeom>
          <a:noFill/>
          <a:ln/>
        </p:spPr>
        <p:txBody>
          <a:bodyPr wrap="square" lIns="0" tIns="0" rIns="0" bIns="0" rtlCol="0" anchor="t"/>
          <a:lstStyle/>
          <a:p>
            <a:pPr indent="0" marL="0">
              <a:buNone/>
            </a:pPr>
            <a:r>
              <a:rPr lang="en-US" sz="1300" b="1" dirty="0">
                <a:solidFill>
                  <a:srgbClr val="1B2340"/>
                </a:solidFill>
              </a:rPr>
              <a:t>WhatsApp client : confirmation</a:t>
            </a:r>
            <a:endParaRPr lang="en-US" sz="1300" dirty="0"/>
          </a:p>
        </p:txBody>
      </p:sp>
      <p:sp>
        <p:nvSpPr>
          <p:cNvPr id="33" name="flèche"/>
          <p:cNvSpPr/>
          <p:nvPr/>
        </p:nvSpPr>
        <p:spPr>
          <a:xfrm>
            <a:off x="5925312" y="4023360"/>
            <a:ext cx="448056" cy="914"/>
          </a:xfrm>
          <a:prstGeom prst="line">
            <a:avLst/>
          </a:prstGeom>
          <a:noFill/>
          <a:ln w="25400">
            <a:solidFill>
              <a:srgbClr val="1B2340"/>
            </a:solidFill>
            <a:prstDash val="solid"/>
            <a:tailEnd type="triangle"/>
          </a:ln>
        </p:spPr>
      </p:sp>
      <p:sp>
        <p:nvSpPr>
          <p:cNvPr id="34" name="nœud Stock bas ?"/>
          <p:cNvSpPr/>
          <p:nvPr/>
        </p:nvSpPr>
        <p:spPr>
          <a:xfrm>
            <a:off x="6400800" y="3429000"/>
            <a:ext cx="2331720" cy="1188720"/>
          </a:xfrm>
          <a:prstGeom prst="roundRect">
            <a:avLst>
              <a:gd name="adj" fmla="val 9231"/>
            </a:avLst>
          </a:prstGeom>
          <a:solidFill>
            <a:srgbClr val="FFFFFF"/>
          </a:solidFill>
          <a:ln w="31750">
            <a:solidFill>
              <a:srgbClr val="6B4FBB"/>
            </a:solidFill>
            <a:prstDash val="solid"/>
          </a:ln>
        </p:spPr>
      </p:sp>
      <p:sp>
        <p:nvSpPr>
          <p:cNvPr id="35" name="Shape 33"/>
          <p:cNvSpPr/>
          <p:nvPr/>
        </p:nvSpPr>
        <p:spPr>
          <a:xfrm>
            <a:off x="6537960" y="3566160"/>
            <a:ext cx="310896" cy="310896"/>
          </a:xfrm>
          <a:prstGeom prst="ellipse">
            <a:avLst/>
          </a:prstGeom>
          <a:solidFill>
            <a:srgbClr val="6B4FBB"/>
          </a:solidFill>
          <a:ln w="12700">
            <a:solidFill>
              <a:srgbClr val="6B4FBB"/>
            </a:solidFill>
            <a:prstDash val="solid"/>
          </a:ln>
        </p:spPr>
      </p:sp>
      <p:sp>
        <p:nvSpPr>
          <p:cNvPr id="36" name="Text 34"/>
          <p:cNvSpPr txBox="1"/>
          <p:nvPr/>
        </p:nvSpPr>
        <p:spPr>
          <a:xfrm>
            <a:off x="6537960" y="35661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37" name="Text 35"/>
          <p:cNvSpPr txBox="1"/>
          <p:nvPr/>
        </p:nvSpPr>
        <p:spPr>
          <a:xfrm>
            <a:off x="6537960" y="3931920"/>
            <a:ext cx="2057400" cy="640080"/>
          </a:xfrm>
          <a:prstGeom prst="rect">
            <a:avLst/>
          </a:prstGeom>
          <a:noFill/>
          <a:ln/>
        </p:spPr>
        <p:txBody>
          <a:bodyPr wrap="square" lIns="0" tIns="0" rIns="0" bIns="0" rtlCol="0" anchor="t"/>
          <a:lstStyle/>
          <a:p>
            <a:pPr indent="0" marL="0">
              <a:buNone/>
            </a:pPr>
            <a:r>
              <a:rPr lang="en-US" sz="1300" b="1" dirty="0">
                <a:solidFill>
                  <a:srgbClr val="1B2340"/>
                </a:solidFill>
              </a:rPr>
              <a:t>Stock bas ?</a:t>
            </a:r>
            <a:endParaRPr lang="en-US" sz="1300" dirty="0"/>
          </a:p>
        </p:txBody>
      </p:sp>
      <p:sp>
        <p:nvSpPr>
          <p:cNvPr id="38" name="flèche"/>
          <p:cNvSpPr/>
          <p:nvPr/>
        </p:nvSpPr>
        <p:spPr>
          <a:xfrm>
            <a:off x="8759952" y="4023360"/>
            <a:ext cx="448056" cy="914"/>
          </a:xfrm>
          <a:prstGeom prst="line">
            <a:avLst/>
          </a:prstGeom>
          <a:noFill/>
          <a:ln w="25400">
            <a:solidFill>
              <a:srgbClr val="1B2340"/>
            </a:solidFill>
            <a:prstDash val="solid"/>
            <a:tailEnd type="triangle"/>
          </a:ln>
        </p:spPr>
      </p:sp>
      <p:sp>
        <p:nvSpPr>
          <p:cNvPr id="39" name="nœud WhatsApp patron : alerte stock"/>
          <p:cNvSpPr/>
          <p:nvPr/>
        </p:nvSpPr>
        <p:spPr>
          <a:xfrm>
            <a:off x="9235440" y="3429000"/>
            <a:ext cx="2331720" cy="1188720"/>
          </a:xfrm>
          <a:prstGeom prst="roundRect">
            <a:avLst>
              <a:gd name="adj" fmla="val 9231"/>
            </a:avLst>
          </a:prstGeom>
          <a:solidFill>
            <a:srgbClr val="FFFFFF"/>
          </a:solidFill>
          <a:ln w="31750">
            <a:solidFill>
              <a:srgbClr val="128C7E"/>
            </a:solidFill>
            <a:prstDash val="solid"/>
          </a:ln>
        </p:spPr>
      </p:sp>
      <p:sp>
        <p:nvSpPr>
          <p:cNvPr id="40" name="Shape 38"/>
          <p:cNvSpPr/>
          <p:nvPr/>
        </p:nvSpPr>
        <p:spPr>
          <a:xfrm>
            <a:off x="9372600" y="3566160"/>
            <a:ext cx="310896" cy="310896"/>
          </a:xfrm>
          <a:prstGeom prst="ellipse">
            <a:avLst/>
          </a:prstGeom>
          <a:solidFill>
            <a:srgbClr val="128C7E"/>
          </a:solidFill>
          <a:ln w="12700">
            <a:solidFill>
              <a:srgbClr val="128C7E"/>
            </a:solidFill>
            <a:prstDash val="solid"/>
          </a:ln>
        </p:spPr>
      </p:sp>
      <p:sp>
        <p:nvSpPr>
          <p:cNvPr id="41" name="Text 39"/>
          <p:cNvSpPr txBox="1"/>
          <p:nvPr/>
        </p:nvSpPr>
        <p:spPr>
          <a:xfrm>
            <a:off x="9372600" y="35661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8</a:t>
            </a:r>
            <a:endParaRPr lang="en-US" sz="1100" dirty="0"/>
          </a:p>
        </p:txBody>
      </p:sp>
      <p:sp>
        <p:nvSpPr>
          <p:cNvPr id="42" name="Text 40"/>
          <p:cNvSpPr txBox="1"/>
          <p:nvPr/>
        </p:nvSpPr>
        <p:spPr>
          <a:xfrm>
            <a:off x="9372600" y="3931920"/>
            <a:ext cx="2057400" cy="640080"/>
          </a:xfrm>
          <a:prstGeom prst="rect">
            <a:avLst/>
          </a:prstGeom>
          <a:noFill/>
          <a:ln/>
        </p:spPr>
        <p:txBody>
          <a:bodyPr wrap="square" lIns="0" tIns="0" rIns="0" bIns="0" rtlCol="0" anchor="t"/>
          <a:lstStyle/>
          <a:p>
            <a:pPr indent="0" marL="0">
              <a:buNone/>
            </a:pPr>
            <a:r>
              <a:rPr lang="en-US" sz="1300" b="1" dirty="0">
                <a:solidFill>
                  <a:srgbClr val="1B2340"/>
                </a:solidFill>
              </a:rPr>
              <a:t>WhatsApp patron : alerte stock</a:t>
            </a:r>
            <a:endParaRPr lang="en-US" sz="1300" dirty="0"/>
          </a:p>
        </p:txBody>
      </p:sp>
      <p:sp>
        <p:nvSpPr>
          <p:cNvPr id="43" name="flèche"/>
          <p:cNvSpPr/>
          <p:nvPr/>
        </p:nvSpPr>
        <p:spPr>
          <a:xfrm>
            <a:off x="10396728" y="2816352"/>
            <a:ext cx="914" cy="585216"/>
          </a:xfrm>
          <a:prstGeom prst="line">
            <a:avLst/>
          </a:prstGeom>
          <a:noFill/>
          <a:ln w="25400">
            <a:solidFill>
              <a:srgbClr val="1B2340"/>
            </a:solidFill>
            <a:prstDash val="solid"/>
            <a:tailEnd type="triangle"/>
          </a:ln>
        </p:spPr>
      </p:sp>
      <p:sp>
        <p:nvSpPr>
          <p:cNvPr id="44" name="Text 42"/>
          <p:cNvSpPr txBox="1"/>
          <p:nvPr/>
        </p:nvSpPr>
        <p:spPr>
          <a:xfrm>
            <a:off x="8641080" y="2852928"/>
            <a:ext cx="3017520" cy="457200"/>
          </a:xfrm>
          <a:prstGeom prst="rect">
            <a:avLst/>
          </a:prstGeom>
          <a:noFill/>
          <a:ln/>
        </p:spPr>
        <p:txBody>
          <a:bodyPr wrap="square" lIns="0" tIns="0" rIns="0" bIns="0" rtlCol="0" anchor="t"/>
          <a:lstStyle/>
          <a:p>
            <a:pPr indent="0" marL="0">
              <a:buNone/>
            </a:pPr>
            <a:r>
              <a:rPr lang="en-US" sz="1100" dirty="0">
                <a:solidFill>
                  <a:srgbClr val="6B7280"/>
                </a:solidFill>
              </a:rPr>
              <a:t>puis on continue sur la ligne du bas</a:t>
            </a:r>
            <a:endParaRPr lang="en-US" sz="1100" dirty="0"/>
          </a:p>
        </p:txBody>
      </p:sp>
      <p:sp>
        <p:nvSpPr>
          <p:cNvPr id="45" name="Shape 43"/>
          <p:cNvSpPr/>
          <p:nvPr/>
        </p:nvSpPr>
        <p:spPr>
          <a:xfrm>
            <a:off x="731520" y="5029200"/>
            <a:ext cx="274320" cy="274320"/>
          </a:xfrm>
          <a:prstGeom prst="ellipse">
            <a:avLst/>
          </a:prstGeom>
          <a:solidFill>
            <a:srgbClr val="9AA6C2"/>
          </a:solidFill>
          <a:ln w="12700">
            <a:solidFill>
              <a:srgbClr val="9AA6C2"/>
            </a:solidFill>
            <a:prstDash val="solid"/>
          </a:ln>
        </p:spPr>
      </p:sp>
      <p:sp>
        <p:nvSpPr>
          <p:cNvPr id="46" name="Text 44"/>
          <p:cNvSpPr txBox="1"/>
          <p:nvPr/>
        </p:nvSpPr>
        <p:spPr>
          <a:xfrm>
            <a:off x="1115568" y="4983480"/>
            <a:ext cx="1737360" cy="365760"/>
          </a:xfrm>
          <a:prstGeom prst="rect">
            <a:avLst/>
          </a:prstGeom>
          <a:noFill/>
          <a:ln/>
        </p:spPr>
        <p:txBody>
          <a:bodyPr wrap="square" lIns="0" tIns="0" rIns="0" bIns="0" rtlCol="0" anchor="ctr"/>
          <a:lstStyle/>
          <a:p>
            <a:pPr indent="0" marL="0">
              <a:buNone/>
            </a:pPr>
            <a:r>
              <a:rPr lang="en-US" sz="1400" dirty="0">
                <a:solidFill>
                  <a:srgbClr val="1B2340"/>
                </a:solidFill>
              </a:rPr>
              <a:t>Déclencheur</a:t>
            </a:r>
            <a:endParaRPr lang="en-US" sz="1400" dirty="0"/>
          </a:p>
        </p:txBody>
      </p:sp>
      <p:sp>
        <p:nvSpPr>
          <p:cNvPr id="47" name="Shape 45"/>
          <p:cNvSpPr/>
          <p:nvPr/>
        </p:nvSpPr>
        <p:spPr>
          <a:xfrm>
            <a:off x="2971800" y="5029200"/>
            <a:ext cx="274320" cy="274320"/>
          </a:xfrm>
          <a:prstGeom prst="ellipse">
            <a:avLst/>
          </a:prstGeom>
          <a:solidFill>
            <a:srgbClr val="1E8E3E"/>
          </a:solidFill>
          <a:ln w="12700">
            <a:solidFill>
              <a:srgbClr val="1E8E3E"/>
            </a:solidFill>
            <a:prstDash val="solid"/>
          </a:ln>
        </p:spPr>
      </p:sp>
      <p:sp>
        <p:nvSpPr>
          <p:cNvPr id="48" name="Text 46"/>
          <p:cNvSpPr txBox="1"/>
          <p:nvPr/>
        </p:nvSpPr>
        <p:spPr>
          <a:xfrm>
            <a:off x="3355848" y="4983480"/>
            <a:ext cx="1737360" cy="365760"/>
          </a:xfrm>
          <a:prstGeom prst="rect">
            <a:avLst/>
          </a:prstGeom>
          <a:noFill/>
          <a:ln/>
        </p:spPr>
        <p:txBody>
          <a:bodyPr wrap="square" lIns="0" tIns="0" rIns="0" bIns="0" rtlCol="0" anchor="ctr"/>
          <a:lstStyle/>
          <a:p>
            <a:pPr indent="0" marL="0">
              <a:buNone/>
            </a:pPr>
            <a:r>
              <a:rPr lang="en-US" sz="1400" dirty="0">
                <a:solidFill>
                  <a:srgbClr val="1B2340"/>
                </a:solidFill>
              </a:rPr>
              <a:t>Google Sheets</a:t>
            </a:r>
            <a:endParaRPr lang="en-US" sz="1400" dirty="0"/>
          </a:p>
        </p:txBody>
      </p:sp>
      <p:sp>
        <p:nvSpPr>
          <p:cNvPr id="49" name="Shape 47"/>
          <p:cNvSpPr/>
          <p:nvPr/>
        </p:nvSpPr>
        <p:spPr>
          <a:xfrm>
            <a:off x="5212080" y="5029200"/>
            <a:ext cx="274320" cy="274320"/>
          </a:xfrm>
          <a:prstGeom prst="ellipse">
            <a:avLst/>
          </a:prstGeom>
          <a:solidFill>
            <a:srgbClr val="EA4B71"/>
          </a:solidFill>
          <a:ln w="12700">
            <a:solidFill>
              <a:srgbClr val="EA4B71"/>
            </a:solidFill>
            <a:prstDash val="solid"/>
          </a:ln>
        </p:spPr>
      </p:sp>
      <p:sp>
        <p:nvSpPr>
          <p:cNvPr id="50" name="Text 48"/>
          <p:cNvSpPr txBox="1"/>
          <p:nvPr/>
        </p:nvSpPr>
        <p:spPr>
          <a:xfrm>
            <a:off x="5596128" y="4983480"/>
            <a:ext cx="1737360" cy="365760"/>
          </a:xfrm>
          <a:prstGeom prst="rect">
            <a:avLst/>
          </a:prstGeom>
          <a:noFill/>
          <a:ln/>
        </p:spPr>
        <p:txBody>
          <a:bodyPr wrap="square" lIns="0" tIns="0" rIns="0" bIns="0" rtlCol="0" anchor="ctr"/>
          <a:lstStyle/>
          <a:p>
            <a:pPr indent="0" marL="0">
              <a:buNone/>
            </a:pPr>
            <a:r>
              <a:rPr lang="en-US" sz="1400" dirty="0">
                <a:solidFill>
                  <a:srgbClr val="1B2340"/>
                </a:solidFill>
              </a:rPr>
              <a:t>Calcul</a:t>
            </a:r>
            <a:endParaRPr lang="en-US" sz="1400" dirty="0"/>
          </a:p>
        </p:txBody>
      </p:sp>
      <p:sp>
        <p:nvSpPr>
          <p:cNvPr id="51" name="Shape 49"/>
          <p:cNvSpPr/>
          <p:nvPr/>
        </p:nvSpPr>
        <p:spPr>
          <a:xfrm>
            <a:off x="7452360" y="5029200"/>
            <a:ext cx="274320" cy="274320"/>
          </a:xfrm>
          <a:prstGeom prst="ellipse">
            <a:avLst/>
          </a:prstGeom>
          <a:solidFill>
            <a:srgbClr val="128C7E"/>
          </a:solidFill>
          <a:ln w="12700">
            <a:solidFill>
              <a:srgbClr val="128C7E"/>
            </a:solidFill>
            <a:prstDash val="solid"/>
          </a:ln>
        </p:spPr>
      </p:sp>
      <p:sp>
        <p:nvSpPr>
          <p:cNvPr id="52" name="Text 50"/>
          <p:cNvSpPr txBox="1"/>
          <p:nvPr/>
        </p:nvSpPr>
        <p:spPr>
          <a:xfrm>
            <a:off x="7836408" y="4983480"/>
            <a:ext cx="1737360" cy="365760"/>
          </a:xfrm>
          <a:prstGeom prst="rect">
            <a:avLst/>
          </a:prstGeom>
          <a:noFill/>
          <a:ln/>
        </p:spPr>
        <p:txBody>
          <a:bodyPr wrap="square" lIns="0" tIns="0" rIns="0" bIns="0" rtlCol="0" anchor="ctr"/>
          <a:lstStyle/>
          <a:p>
            <a:pPr indent="0" marL="0">
              <a:buNone/>
            </a:pPr>
            <a:r>
              <a:rPr lang="en-US" sz="1400" dirty="0">
                <a:solidFill>
                  <a:srgbClr val="1B2340"/>
                </a:solidFill>
              </a:rPr>
              <a:t>WhatsApp</a:t>
            </a:r>
            <a:endParaRPr lang="en-US" sz="1400" dirty="0"/>
          </a:p>
        </p:txBody>
      </p:sp>
      <p:sp>
        <p:nvSpPr>
          <p:cNvPr id="53" name="Shape 51"/>
          <p:cNvSpPr/>
          <p:nvPr/>
        </p:nvSpPr>
        <p:spPr>
          <a:xfrm>
            <a:off x="9692640" y="5029200"/>
            <a:ext cx="274320" cy="274320"/>
          </a:xfrm>
          <a:prstGeom prst="ellipse">
            <a:avLst/>
          </a:prstGeom>
          <a:solidFill>
            <a:srgbClr val="6B4FBB"/>
          </a:solidFill>
          <a:ln w="12700">
            <a:solidFill>
              <a:srgbClr val="6B4FBB"/>
            </a:solidFill>
            <a:prstDash val="solid"/>
          </a:ln>
        </p:spPr>
      </p:sp>
      <p:sp>
        <p:nvSpPr>
          <p:cNvPr id="54" name="Text 52"/>
          <p:cNvSpPr txBox="1"/>
          <p:nvPr/>
        </p:nvSpPr>
        <p:spPr>
          <a:xfrm>
            <a:off x="10076688" y="4983480"/>
            <a:ext cx="1737360" cy="365760"/>
          </a:xfrm>
          <a:prstGeom prst="rect">
            <a:avLst/>
          </a:prstGeom>
          <a:noFill/>
          <a:ln/>
        </p:spPr>
        <p:txBody>
          <a:bodyPr wrap="square" lIns="0" tIns="0" rIns="0" bIns="0" rtlCol="0" anchor="ctr"/>
          <a:lstStyle/>
          <a:p>
            <a:pPr indent="0" marL="0">
              <a:buNone/>
            </a:pPr>
            <a:r>
              <a:rPr lang="en-US" sz="1400" dirty="0">
                <a:solidFill>
                  <a:srgbClr val="1B2340"/>
                </a:solidFill>
              </a:rPr>
              <a:t>Condition</a:t>
            </a:r>
            <a:endParaRPr lang="en-US" sz="1400" dirty="0"/>
          </a:p>
        </p:txBody>
      </p:sp>
      <p:sp>
        <p:nvSpPr>
          <p:cNvPr id="55" name="Text 53"/>
          <p:cNvSpPr txBox="1"/>
          <p:nvPr/>
        </p:nvSpPr>
        <p:spPr>
          <a:xfrm>
            <a:off x="731520" y="5486400"/>
            <a:ext cx="10972800" cy="731520"/>
          </a:xfrm>
          <a:prstGeom prst="rect">
            <a:avLst/>
          </a:prstGeom>
          <a:noFill/>
          <a:ln/>
        </p:spPr>
        <p:txBody>
          <a:bodyPr wrap="square" lIns="0" tIns="0" rIns="0" bIns="0" rtlCol="0" anchor="t"/>
          <a:lstStyle/>
          <a:p>
            <a:pPr indent="0" marL="0">
              <a:buNone/>
            </a:pPr>
            <a:r>
              <a:rPr lang="en-US" sz="1400" dirty="0">
                <a:solidFill>
                  <a:srgbClr val="3A4566"/>
                </a:solidFill>
              </a:rPr>
              <a:t>Le vendeur remplit le formulaire (1). n8n lit les produits (2), calcule (3), écrit la vente (4), prévient le patron (5) et le client (6). Si le stock est bas (7), le patron reçoit une alerte (8).</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Connecter Google Sheets</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EA4B71"/>
          </a:solidFill>
          <a:ln w="12700">
            <a:solidFill>
              <a:srgbClr val="EA4B71"/>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2 · N8N</a:t>
            </a:r>
            <a:endParaRPr lang="en-US" sz="1200" dirty="0"/>
          </a:p>
        </p:txBody>
      </p:sp>
      <p:sp>
        <p:nvSpPr>
          <p:cNvPr id="5" name="numéro 1"/>
          <p:cNvSpPr/>
          <p:nvPr/>
        </p:nvSpPr>
        <p:spPr>
          <a:xfrm>
            <a:off x="548640" y="1435608"/>
            <a:ext cx="402336" cy="402336"/>
          </a:xfrm>
          <a:prstGeom prst="ellipse">
            <a:avLst/>
          </a:prstGeom>
          <a:solidFill>
            <a:srgbClr val="EA4B71"/>
          </a:solidFill>
          <a:ln w="12700">
            <a:solidFill>
              <a:srgbClr val="EA4B71"/>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193792" cy="701040"/>
          </a:xfrm>
          <a:prstGeom prst="rect">
            <a:avLst/>
          </a:prstGeom>
          <a:noFill/>
          <a:ln/>
        </p:spPr>
        <p:txBody>
          <a:bodyPr wrap="square" lIns="0" tIns="0" rIns="0" bIns="0" rtlCol="0" anchor="t"/>
          <a:lstStyle/>
          <a:p>
            <a:pPr indent="0" marL="0">
              <a:buNone/>
            </a:pPr>
            <a:r>
              <a:rPr lang="en-US" sz="1400" b="1" dirty="0">
                <a:solidFill>
                  <a:srgbClr val="1B2340"/>
                </a:solidFill>
              </a:rPr>
              <a:t>Double-clique sur le nœud « Lire les produits ».</a:t>
            </a:r>
            <a:endParaRPr lang="en-US" sz="1400" dirty="0"/>
          </a:p>
        </p:txBody>
      </p:sp>
      <p:sp>
        <p:nvSpPr>
          <p:cNvPr id="8" name="numéro 2"/>
          <p:cNvSpPr/>
          <p:nvPr/>
        </p:nvSpPr>
        <p:spPr>
          <a:xfrm>
            <a:off x="548640" y="2246376"/>
            <a:ext cx="402336" cy="402336"/>
          </a:xfrm>
          <a:prstGeom prst="ellipse">
            <a:avLst/>
          </a:prstGeom>
          <a:solidFill>
            <a:srgbClr val="EA4B71"/>
          </a:solidFill>
          <a:ln w="12700">
            <a:solidFill>
              <a:srgbClr val="EA4B71"/>
            </a:solidFill>
            <a:prstDash val="solid"/>
          </a:ln>
        </p:spPr>
      </p:sp>
      <p:sp>
        <p:nvSpPr>
          <p:cNvPr id="9" name="Text 7"/>
          <p:cNvSpPr txBox="1"/>
          <p:nvPr/>
        </p:nvSpPr>
        <p:spPr>
          <a:xfrm>
            <a:off x="548640" y="22463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228088"/>
            <a:ext cx="5193792" cy="701040"/>
          </a:xfrm>
          <a:prstGeom prst="rect">
            <a:avLst/>
          </a:prstGeom>
          <a:noFill/>
          <a:ln/>
        </p:spPr>
        <p:txBody>
          <a:bodyPr wrap="square" lIns="0" tIns="0" rIns="0" bIns="0" rtlCol="0" anchor="t"/>
          <a:lstStyle/>
          <a:p>
            <a:pPr indent="0" marL="0">
              <a:buNone/>
            </a:pPr>
            <a:r>
              <a:rPr lang="en-US" sz="1400" b="1" dirty="0">
                <a:solidFill>
                  <a:srgbClr val="1B2340"/>
                </a:solidFill>
              </a:rPr>
              <a:t>Credential → Create new credential</a:t>
            </a:r>
            <a:pPr indent="0" marL="0">
              <a:buNone/>
            </a:pPr>
            <a:r>
              <a:rPr lang="en-US" sz="1400" dirty="0">
                <a:solidFill>
                  <a:srgbClr val="3A4566"/>
                </a:solidFill>
              </a:rPr>
              <a:t>  → Sign in with Google → choisis le compte → autorise.</a:t>
            </a:r>
            <a:endParaRPr lang="en-US" sz="1400" dirty="0"/>
          </a:p>
        </p:txBody>
      </p:sp>
      <p:sp>
        <p:nvSpPr>
          <p:cNvPr id="11" name="numéro 3"/>
          <p:cNvSpPr/>
          <p:nvPr/>
        </p:nvSpPr>
        <p:spPr>
          <a:xfrm>
            <a:off x="548640" y="3057144"/>
            <a:ext cx="402336" cy="402336"/>
          </a:xfrm>
          <a:prstGeom prst="ellipse">
            <a:avLst/>
          </a:prstGeom>
          <a:solidFill>
            <a:srgbClr val="EA4B71"/>
          </a:solidFill>
          <a:ln w="12700">
            <a:solidFill>
              <a:srgbClr val="EA4B71"/>
            </a:solidFill>
            <a:prstDash val="solid"/>
          </a:ln>
        </p:spPr>
      </p:sp>
      <p:sp>
        <p:nvSpPr>
          <p:cNvPr id="12" name="Text 10"/>
          <p:cNvSpPr txBox="1"/>
          <p:nvPr/>
        </p:nvSpPr>
        <p:spPr>
          <a:xfrm>
            <a:off x="548640" y="30571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038856"/>
            <a:ext cx="5193792" cy="701040"/>
          </a:xfrm>
          <a:prstGeom prst="rect">
            <a:avLst/>
          </a:prstGeom>
          <a:noFill/>
          <a:ln/>
        </p:spPr>
        <p:txBody>
          <a:bodyPr wrap="square" lIns="0" tIns="0" rIns="0" bIns="0" rtlCol="0" anchor="t"/>
          <a:lstStyle/>
          <a:p>
            <a:pPr indent="0" marL="0">
              <a:buNone/>
            </a:pPr>
            <a:r>
              <a:rPr lang="en-US" sz="1400" b="1" dirty="0">
                <a:solidFill>
                  <a:srgbClr val="1B2340"/>
                </a:solidFill>
              </a:rPr>
              <a:t>Document : By URL</a:t>
            </a:r>
            <a:pPr indent="0" marL="0">
              <a:buNone/>
            </a:pPr>
            <a:r>
              <a:rPr lang="en-US" sz="1400" dirty="0">
                <a:solidFill>
                  <a:srgbClr val="3A4566"/>
                </a:solidFill>
              </a:rPr>
              <a:t>  → colle le lien du Google Sheet.</a:t>
            </a:r>
            <a:endParaRPr lang="en-US" sz="1400" dirty="0"/>
          </a:p>
        </p:txBody>
      </p:sp>
      <p:sp>
        <p:nvSpPr>
          <p:cNvPr id="14" name="numéro 4"/>
          <p:cNvSpPr/>
          <p:nvPr/>
        </p:nvSpPr>
        <p:spPr>
          <a:xfrm>
            <a:off x="548640" y="3867912"/>
            <a:ext cx="402336" cy="402336"/>
          </a:xfrm>
          <a:prstGeom prst="ellipse">
            <a:avLst/>
          </a:prstGeom>
          <a:solidFill>
            <a:srgbClr val="EA4B71"/>
          </a:solidFill>
          <a:ln w="12700">
            <a:solidFill>
              <a:srgbClr val="EA4B71"/>
            </a:solidFill>
            <a:prstDash val="solid"/>
          </a:ln>
        </p:spPr>
      </p:sp>
      <p:sp>
        <p:nvSpPr>
          <p:cNvPr id="15" name="Text 13"/>
          <p:cNvSpPr txBox="1"/>
          <p:nvPr/>
        </p:nvSpPr>
        <p:spPr>
          <a:xfrm>
            <a:off x="548640" y="38679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3849624"/>
            <a:ext cx="5193792" cy="701040"/>
          </a:xfrm>
          <a:prstGeom prst="rect">
            <a:avLst/>
          </a:prstGeom>
          <a:noFill/>
          <a:ln/>
        </p:spPr>
        <p:txBody>
          <a:bodyPr wrap="square" lIns="0" tIns="0" rIns="0" bIns="0" rtlCol="0" anchor="t"/>
          <a:lstStyle/>
          <a:p>
            <a:pPr indent="0" marL="0">
              <a:buNone/>
            </a:pPr>
            <a:r>
              <a:rPr lang="en-US" sz="1400" b="1" dirty="0">
                <a:solidFill>
                  <a:srgbClr val="1B2340"/>
                </a:solidFill>
              </a:rPr>
              <a:t>Sheet : passe de « By Name » à From list</a:t>
            </a:r>
            <a:pPr indent="0" marL="0">
              <a:buNone/>
            </a:pPr>
            <a:r>
              <a:rPr lang="en-US" sz="1400" dirty="0">
                <a:solidFill>
                  <a:srgbClr val="3A4566"/>
                </a:solidFill>
              </a:rPr>
              <a:t>  → choisis l'onglet (tableau à droite).</a:t>
            </a:r>
            <a:endParaRPr lang="en-US" sz="1400" dirty="0"/>
          </a:p>
        </p:txBody>
      </p:sp>
      <p:sp>
        <p:nvSpPr>
          <p:cNvPr id="17" name="numéro 5"/>
          <p:cNvSpPr/>
          <p:nvPr/>
        </p:nvSpPr>
        <p:spPr>
          <a:xfrm>
            <a:off x="548640" y="4678680"/>
            <a:ext cx="402336" cy="402336"/>
          </a:xfrm>
          <a:prstGeom prst="ellipse">
            <a:avLst/>
          </a:prstGeom>
          <a:solidFill>
            <a:srgbClr val="EA4B71"/>
          </a:solidFill>
          <a:ln w="12700">
            <a:solidFill>
              <a:srgbClr val="EA4B71"/>
            </a:solidFill>
            <a:prstDash val="solid"/>
          </a:ln>
        </p:spPr>
      </p:sp>
      <p:sp>
        <p:nvSpPr>
          <p:cNvPr id="18" name="Text 16"/>
          <p:cNvSpPr txBox="1"/>
          <p:nvPr/>
        </p:nvSpPr>
        <p:spPr>
          <a:xfrm>
            <a:off x="548640" y="4678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9" name="Text 17"/>
          <p:cNvSpPr txBox="1"/>
          <p:nvPr/>
        </p:nvSpPr>
        <p:spPr>
          <a:xfrm>
            <a:off x="1115568" y="4660392"/>
            <a:ext cx="5193792" cy="701040"/>
          </a:xfrm>
          <a:prstGeom prst="rect">
            <a:avLst/>
          </a:prstGeom>
          <a:noFill/>
          <a:ln/>
        </p:spPr>
        <p:txBody>
          <a:bodyPr wrap="square" lIns="0" tIns="0" rIns="0" bIns="0" rtlCol="0" anchor="t"/>
          <a:lstStyle/>
          <a:p>
            <a:pPr indent="0" marL="0">
              <a:buNone/>
            </a:pPr>
            <a:r>
              <a:rPr lang="en-US" sz="1400" b="1" dirty="0">
                <a:solidFill>
                  <a:srgbClr val="1B2340"/>
                </a:solidFill>
              </a:rPr>
              <a:t>Dans les nœuds « Ajouter dans… » :</a:t>
            </a:r>
            <a:pPr indent="0" marL="0">
              <a:buNone/>
            </a:pPr>
            <a:r>
              <a:rPr lang="en-US" sz="1400" dirty="0">
                <a:solidFill>
                  <a:srgbClr val="3A4566"/>
                </a:solidFill>
              </a:rPr>
              <a:t>  Mapping Column Mode = Map Automatically.</a:t>
            </a:r>
            <a:endParaRPr lang="en-US" sz="1400" dirty="0"/>
          </a:p>
        </p:txBody>
      </p:sp>
      <p:sp>
        <p:nvSpPr>
          <p:cNvPr id="20" name="numéro 6"/>
          <p:cNvSpPr/>
          <p:nvPr/>
        </p:nvSpPr>
        <p:spPr>
          <a:xfrm>
            <a:off x="548640" y="5489448"/>
            <a:ext cx="402336" cy="402336"/>
          </a:xfrm>
          <a:prstGeom prst="ellipse">
            <a:avLst/>
          </a:prstGeom>
          <a:solidFill>
            <a:srgbClr val="EA4B71"/>
          </a:solidFill>
          <a:ln w="12700">
            <a:solidFill>
              <a:srgbClr val="EA4B71"/>
            </a:solidFill>
            <a:prstDash val="solid"/>
          </a:ln>
        </p:spPr>
      </p:sp>
      <p:sp>
        <p:nvSpPr>
          <p:cNvPr id="21" name="Text 19"/>
          <p:cNvSpPr txBox="1"/>
          <p:nvPr/>
        </p:nvSpPr>
        <p:spPr>
          <a:xfrm>
            <a:off x="548640" y="54894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2" name="Text 20"/>
          <p:cNvSpPr txBox="1"/>
          <p:nvPr/>
        </p:nvSpPr>
        <p:spPr>
          <a:xfrm>
            <a:off x="1115568" y="5471160"/>
            <a:ext cx="5193792" cy="701040"/>
          </a:xfrm>
          <a:prstGeom prst="rect">
            <a:avLst/>
          </a:prstGeom>
          <a:noFill/>
          <a:ln/>
        </p:spPr>
        <p:txBody>
          <a:bodyPr wrap="square" lIns="0" tIns="0" rIns="0" bIns="0" rtlCol="0" anchor="t"/>
          <a:lstStyle/>
          <a:p>
            <a:pPr indent="0" marL="0">
              <a:buNone/>
            </a:pPr>
            <a:r>
              <a:rPr lang="en-US" sz="1400" b="1" dirty="0">
                <a:solidFill>
                  <a:srgbClr val="1B2340"/>
                </a:solidFill>
              </a:rPr>
              <a:t>Même chose dans chaque nœud Google Sheets</a:t>
            </a:r>
            <a:pPr indent="0" marL="0">
              <a:buNone/>
            </a:pPr>
            <a:r>
              <a:rPr lang="en-US" sz="1400" dirty="0">
                <a:solidFill>
                  <a:srgbClr val="3A4566"/>
                </a:solidFill>
              </a:rPr>
              <a:t>  des 4 workflows (même connexion, même lien).</a:t>
            </a:r>
            <a:endParaRPr lang="en-US" sz="1400" dirty="0"/>
          </a:p>
        </p:txBody>
      </p:sp>
      <p:graphicFrame>
        <p:nvGraphicFramePr>
          <p:cNvPr id="16" name="tableau"/>
          <p:cNvGraphicFramePr>
            <a:graphicFrameLocks noGrp="1"/>
          </p:cNvGraphicFramePr>
          <p:nvPr>
            <p:extLst>
              <p:ext uri="{D42A27DB-BD31-4B8C-83A1-F6EECF244321}">
                <p14:modId xmlns:p14="http://schemas.microsoft.com/office/powerpoint/2010/main" val="1579011935"/>
              </p:ext>
            </p:extLst>
          </p:nvPr>
        </p:nvGraphicFramePr>
        <p:xfrm>
          <a:off x="6583680" y="1417320"/>
          <a:ext cx="5056632" cy="914400"/>
        </p:xfrm>
        <a:graphic>
          <a:graphicData uri="http://schemas.openxmlformats.org/drawingml/2006/table">
            <a:tbl>
              <a:tblPr/>
              <a:tblGrid>
                <a:gridCol w="1143000"/>
                <a:gridCol w="2496312"/>
                <a:gridCol w="141732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Workflow</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E8E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Nœud</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E8E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Onglet</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E8E3E"/>
                    </a:solidFill>
                  </a:tcPr>
                </a:tc>
              </a:tr>
              <a:tr h="402336">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Stock 1</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Lire les produits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Produits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Stock 1</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Ajouter dans Commandes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Commandes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402336">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Stock 2</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Lire les commandes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Commandes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Stock 2</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Lire les produits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Produits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402336">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Stock 3</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Lire les produits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Produits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Stock 3</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Ajouter dans Arrivages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Arrivages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402336">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Stock 4</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Lire les produits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Produits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bl>
          </a:graphicData>
        </a:graphic>
      </p:graphicFrame>
      <p:sp>
        <p:nvSpPr>
          <p:cNvPr id="24" name="encadré Attention"/>
          <p:cNvSpPr/>
          <p:nvPr/>
        </p:nvSpPr>
        <p:spPr>
          <a:xfrm>
            <a:off x="6583680" y="4800600"/>
            <a:ext cx="5056632" cy="1325880"/>
          </a:xfrm>
          <a:prstGeom prst="roundRect">
            <a:avLst>
              <a:gd name="adj" fmla="val 8276"/>
            </a:avLst>
          </a:prstGeom>
          <a:solidFill>
            <a:srgbClr val="FFF4D6"/>
          </a:solidFill>
          <a:ln w="12700">
            <a:solidFill>
              <a:srgbClr val="FFF4D6"/>
            </a:solidFill>
            <a:prstDash val="solid"/>
          </a:ln>
        </p:spPr>
      </p:sp>
      <p:pic>
        <p:nvPicPr>
          <p:cNvPr id="25" name="Image 0" descr="Attention">    </p:cNvPr>
          <p:cNvPicPr>
            <a:picLocks noChangeAspect="1"/>
          </p:cNvPicPr>
          <p:nvPr/>
        </p:nvPicPr>
        <p:blipFill>
          <a:blip r:embed="rId1"/>
          <a:stretch>
            <a:fillRect/>
          </a:stretch>
        </p:blipFill>
        <p:spPr>
          <a:xfrm>
            <a:off x="6784848" y="4983480"/>
            <a:ext cx="347472" cy="347472"/>
          </a:xfrm>
          <a:prstGeom prst="rect">
            <a:avLst/>
          </a:prstGeom>
        </p:spPr>
      </p:pic>
      <p:sp>
        <p:nvSpPr>
          <p:cNvPr id="26" name="Text 22"/>
          <p:cNvSpPr txBox="1"/>
          <p:nvPr/>
        </p:nvSpPr>
        <p:spPr>
          <a:xfrm>
            <a:off x="7296912" y="4946904"/>
            <a:ext cx="4160520" cy="1051560"/>
          </a:xfrm>
          <a:prstGeom prst="rect">
            <a:avLst/>
          </a:prstGeom>
          <a:noFill/>
          <a:ln/>
        </p:spPr>
        <p:txBody>
          <a:bodyPr wrap="square" lIns="0" tIns="0" rIns="0" bIns="0" rtlCol="0" anchor="ctr"/>
          <a:lstStyle/>
          <a:p>
            <a:pPr indent="0" marL="0">
              <a:buNone/>
            </a:pPr>
            <a:r>
              <a:rPr lang="en-US" sz="1400" b="1" dirty="0">
                <a:solidFill>
                  <a:srgbClr val="B26A00"/>
                </a:solidFill>
              </a:rPr>
              <a:t>Attention : </a:t>
            </a:r>
            <a:pPr indent="0" marL="0">
              <a:buNone/>
            </a:pPr>
            <a:r>
              <a:rPr lang="en-US" sz="1400" dirty="0">
                <a:solidFill>
                  <a:srgbClr val="1B2340"/>
                </a:solidFill>
              </a:rPr>
              <a:t>dans « Lire les produits », ne supprime pas l'option Range A4:P204 (dans Options). Sans elle, n8n lit mal le tableau.</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Premier test, sans WhatsApp</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EA4B71"/>
          </a:solidFill>
          <a:ln w="12700">
            <a:solidFill>
              <a:srgbClr val="EA4B71"/>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2 · N8N</a:t>
            </a:r>
            <a:endParaRPr lang="en-US" sz="1200" dirty="0"/>
          </a:p>
        </p:txBody>
      </p:sp>
      <p:sp>
        <p:nvSpPr>
          <p:cNvPr id="5" name="numéro 1"/>
          <p:cNvSpPr/>
          <p:nvPr/>
        </p:nvSpPr>
        <p:spPr>
          <a:xfrm>
            <a:off x="548640" y="1435608"/>
            <a:ext cx="402336" cy="402336"/>
          </a:xfrm>
          <a:prstGeom prst="ellipse">
            <a:avLst/>
          </a:prstGeom>
          <a:solidFill>
            <a:srgbClr val="EA4B71"/>
          </a:solidFill>
          <a:ln w="12700">
            <a:solidFill>
              <a:srgbClr val="EA4B71"/>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468112" cy="914400"/>
          </a:xfrm>
          <a:prstGeom prst="rect">
            <a:avLst/>
          </a:prstGeom>
          <a:noFill/>
          <a:ln/>
        </p:spPr>
        <p:txBody>
          <a:bodyPr wrap="square" lIns="0" tIns="0" rIns="0" bIns="0" rtlCol="0" anchor="t"/>
          <a:lstStyle/>
          <a:p>
            <a:pPr indent="0" marL="0">
              <a:buNone/>
            </a:pPr>
            <a:r>
              <a:rPr lang="en-US" sz="1500" b="1" dirty="0">
                <a:solidFill>
                  <a:srgbClr val="1B2340"/>
                </a:solidFill>
              </a:rPr>
              <a:t>Dans Stock 1, sélectionne les 3 nœuds WhatsApp et appuie sur D.</a:t>
            </a:r>
            <a:pPr indent="0" marL="0">
              <a:buNone/>
            </a:pPr>
            <a:r>
              <a:rPr lang="en-US" sz="1500" dirty="0">
                <a:solidFill>
                  <a:srgbClr val="3A4566"/>
                </a:solidFill>
              </a:rPr>
              <a:t>  Ils deviennent gris : ils sont en pause.</a:t>
            </a:r>
            <a:endParaRPr lang="en-US" sz="1500" dirty="0"/>
          </a:p>
        </p:txBody>
      </p:sp>
      <p:sp>
        <p:nvSpPr>
          <p:cNvPr id="8" name="numéro 2"/>
          <p:cNvSpPr/>
          <p:nvPr/>
        </p:nvSpPr>
        <p:spPr>
          <a:xfrm>
            <a:off x="548640" y="2459736"/>
            <a:ext cx="402336" cy="402336"/>
          </a:xfrm>
          <a:prstGeom prst="ellipse">
            <a:avLst/>
          </a:prstGeom>
          <a:solidFill>
            <a:srgbClr val="EA4B71"/>
          </a:solidFill>
          <a:ln w="12700">
            <a:solidFill>
              <a:srgbClr val="EA4B71"/>
            </a:solidFill>
            <a:prstDash val="solid"/>
          </a:ln>
        </p:spPr>
      </p:sp>
      <p:sp>
        <p:nvSpPr>
          <p:cNvPr id="9" name="Text 7"/>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441448"/>
            <a:ext cx="5468112" cy="914400"/>
          </a:xfrm>
          <a:prstGeom prst="rect">
            <a:avLst/>
          </a:prstGeom>
          <a:noFill/>
          <a:ln/>
        </p:spPr>
        <p:txBody>
          <a:bodyPr wrap="square" lIns="0" tIns="0" rIns="0" bIns="0" rtlCol="0" anchor="t"/>
          <a:lstStyle/>
          <a:p>
            <a:pPr indent="0" marL="0">
              <a:buNone/>
            </a:pPr>
            <a:r>
              <a:rPr lang="en-US" sz="1500" b="1" dirty="0">
                <a:solidFill>
                  <a:srgbClr val="1B2340"/>
                </a:solidFill>
              </a:rPr>
              <a:t>Ctrl+S, puis clique sur Execute workflow.</a:t>
            </a:r>
            <a:endParaRPr lang="en-US" sz="1500" dirty="0"/>
          </a:p>
        </p:txBody>
      </p:sp>
      <p:sp>
        <p:nvSpPr>
          <p:cNvPr id="11" name="numéro 3"/>
          <p:cNvSpPr/>
          <p:nvPr/>
        </p:nvSpPr>
        <p:spPr>
          <a:xfrm>
            <a:off x="548640" y="3483864"/>
            <a:ext cx="402336" cy="402336"/>
          </a:xfrm>
          <a:prstGeom prst="ellipse">
            <a:avLst/>
          </a:prstGeom>
          <a:solidFill>
            <a:srgbClr val="EA4B71"/>
          </a:solidFill>
          <a:ln w="12700">
            <a:solidFill>
              <a:srgbClr val="EA4B71"/>
            </a:solidFill>
            <a:prstDash val="solid"/>
          </a:ln>
        </p:spPr>
      </p:sp>
      <p:sp>
        <p:nvSpPr>
          <p:cNvPr id="12" name="Text 10"/>
          <p:cNvSpPr txBox="1"/>
          <p:nvPr/>
        </p:nvSpPr>
        <p:spPr>
          <a:xfrm>
            <a:off x="548640" y="34838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465576"/>
            <a:ext cx="5468112" cy="914400"/>
          </a:xfrm>
          <a:prstGeom prst="rect">
            <a:avLst/>
          </a:prstGeom>
          <a:noFill/>
          <a:ln/>
        </p:spPr>
        <p:txBody>
          <a:bodyPr wrap="square" lIns="0" tIns="0" rIns="0" bIns="0" rtlCol="0" anchor="t"/>
          <a:lstStyle/>
          <a:p>
            <a:pPr indent="0" marL="0">
              <a:buNone/>
            </a:pPr>
            <a:r>
              <a:rPr lang="en-US" sz="1500" b="1" dirty="0">
                <a:solidFill>
                  <a:srgbClr val="1B2340"/>
                </a:solidFill>
              </a:rPr>
              <a:t>Le formulaire s'ouvre :</a:t>
            </a:r>
            <a:pPr indent="0" marL="0">
              <a:buNone/>
            </a:pPr>
            <a:r>
              <a:rPr lang="en-US" sz="1500" dirty="0">
                <a:solidFill>
                  <a:srgbClr val="3A4566"/>
                </a:solidFill>
              </a:rPr>
              <a:t>  client Jean, ton numéro, code produit P002, quantité 2 → Envoyer.</a:t>
            </a:r>
            <a:endParaRPr lang="en-US" sz="1500" dirty="0"/>
          </a:p>
        </p:txBody>
      </p:sp>
      <p:sp>
        <p:nvSpPr>
          <p:cNvPr id="14" name="numéro 4"/>
          <p:cNvSpPr/>
          <p:nvPr/>
        </p:nvSpPr>
        <p:spPr>
          <a:xfrm>
            <a:off x="548640" y="4507992"/>
            <a:ext cx="402336" cy="402336"/>
          </a:xfrm>
          <a:prstGeom prst="ellipse">
            <a:avLst/>
          </a:prstGeom>
          <a:solidFill>
            <a:srgbClr val="EA4B71"/>
          </a:solidFill>
          <a:ln w="12700">
            <a:solidFill>
              <a:srgbClr val="EA4B71"/>
            </a:solidFill>
            <a:prstDash val="solid"/>
          </a:ln>
        </p:spPr>
      </p:sp>
      <p:sp>
        <p:nvSpPr>
          <p:cNvPr id="15" name="Text 13"/>
          <p:cNvSpPr txBox="1"/>
          <p:nvPr/>
        </p:nvSpPr>
        <p:spPr>
          <a:xfrm>
            <a:off x="54864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4489704"/>
            <a:ext cx="5468112" cy="914400"/>
          </a:xfrm>
          <a:prstGeom prst="rect">
            <a:avLst/>
          </a:prstGeom>
          <a:noFill/>
          <a:ln/>
        </p:spPr>
        <p:txBody>
          <a:bodyPr wrap="square" lIns="0" tIns="0" rIns="0" bIns="0" rtlCol="0" anchor="t"/>
          <a:lstStyle/>
          <a:p>
            <a:pPr indent="0" marL="0">
              <a:buNone/>
            </a:pPr>
            <a:r>
              <a:rPr lang="en-US" sz="1500" b="1" dirty="0">
                <a:solidFill>
                  <a:srgbClr val="1B2340"/>
                </a:solidFill>
              </a:rPr>
              <a:t>Ouvre le Google Sheet</a:t>
            </a:r>
            <a:pPr indent="0" marL="0">
              <a:buNone/>
            </a:pPr>
            <a:r>
              <a:rPr lang="en-US" sz="1500" dirty="0">
                <a:solidFill>
                  <a:srgbClr val="3A4566"/>
                </a:solidFill>
              </a:rPr>
              <a:t>  et vérifie le résultat (à droite).</a:t>
            </a:r>
            <a:endParaRPr lang="en-US" sz="1500" dirty="0"/>
          </a:p>
        </p:txBody>
      </p:sp>
      <p:sp>
        <p:nvSpPr>
          <p:cNvPr id="17" name="carte"/>
          <p:cNvSpPr/>
          <p:nvPr/>
        </p:nvSpPr>
        <p:spPr>
          <a:xfrm>
            <a:off x="6949440" y="1463040"/>
            <a:ext cx="4690872" cy="4617720"/>
          </a:xfrm>
          <a:prstGeom prst="roundRect">
            <a:avLst>
              <a:gd name="adj" fmla="val 2970"/>
            </a:avLst>
          </a:prstGeom>
          <a:solidFill>
            <a:srgbClr val="E8F5EC"/>
          </a:solidFill>
          <a:ln w="12700">
            <a:solidFill>
              <a:srgbClr val="E8F5EC"/>
            </a:solidFill>
            <a:prstDash val="solid"/>
          </a:ln>
        </p:spPr>
      </p:sp>
      <p:sp>
        <p:nvSpPr>
          <p:cNvPr id="18" name="Text 16"/>
          <p:cNvSpPr txBox="1"/>
          <p:nvPr/>
        </p:nvSpPr>
        <p:spPr>
          <a:xfrm>
            <a:off x="7269480" y="1691640"/>
            <a:ext cx="4114800" cy="457200"/>
          </a:xfrm>
          <a:prstGeom prst="rect">
            <a:avLst/>
          </a:prstGeom>
          <a:noFill/>
          <a:ln/>
        </p:spPr>
        <p:txBody>
          <a:bodyPr wrap="square" lIns="0" tIns="0" rIns="0" bIns="0" rtlCol="0" anchor="t"/>
          <a:lstStyle/>
          <a:p>
            <a:pPr indent="0" marL="0">
              <a:buNone/>
            </a:pPr>
            <a:r>
              <a:rPr lang="en-US" sz="2000" b="1" dirty="0">
                <a:solidFill>
                  <a:srgbClr val="1E8E3E"/>
                </a:solidFill>
              </a:rPr>
              <a:t>Résultat attendu</a:t>
            </a:r>
            <a:endParaRPr lang="en-US" sz="2000" dirty="0"/>
          </a:p>
        </p:txBody>
      </p:sp>
      <p:pic>
        <p:nvPicPr>
          <p:cNvPr id="19" name="Image 0" descr="ok">    </p:cNvPr>
          <p:cNvPicPr>
            <a:picLocks noChangeAspect="1"/>
          </p:cNvPicPr>
          <p:nvPr/>
        </p:nvPicPr>
        <p:blipFill>
          <a:blip r:embed="rId1"/>
          <a:stretch>
            <a:fillRect/>
          </a:stretch>
        </p:blipFill>
        <p:spPr>
          <a:xfrm>
            <a:off x="7269480" y="2331720"/>
            <a:ext cx="384048" cy="384048"/>
          </a:xfrm>
          <a:prstGeom prst="rect">
            <a:avLst/>
          </a:prstGeom>
        </p:spPr>
      </p:pic>
      <p:sp>
        <p:nvSpPr>
          <p:cNvPr id="20" name="Text 17"/>
          <p:cNvSpPr txBox="1"/>
          <p:nvPr/>
        </p:nvSpPr>
        <p:spPr>
          <a:xfrm>
            <a:off x="7818120" y="2286000"/>
            <a:ext cx="3611880" cy="868680"/>
          </a:xfrm>
          <a:prstGeom prst="rect">
            <a:avLst/>
          </a:prstGeom>
          <a:noFill/>
          <a:ln/>
        </p:spPr>
        <p:txBody>
          <a:bodyPr wrap="square" lIns="0" tIns="0" rIns="0" bIns="0" rtlCol="0" anchor="t"/>
          <a:lstStyle/>
          <a:p>
            <a:pPr indent="0" marL="0">
              <a:buNone/>
            </a:pPr>
            <a:r>
              <a:rPr lang="en-US" sz="1500" dirty="0">
                <a:solidFill>
                  <a:srgbClr val="1B2340"/>
                </a:solidFill>
              </a:rPr>
              <a:t>Une nouvelle ligne « Jean » dans l'onglet Commandes</a:t>
            </a:r>
            <a:endParaRPr lang="en-US" sz="1500" dirty="0"/>
          </a:p>
        </p:txBody>
      </p:sp>
      <p:pic>
        <p:nvPicPr>
          <p:cNvPr id="21" name="Image 1" descr="ok">    </p:cNvPr>
          <p:cNvPicPr>
            <a:picLocks noChangeAspect="1"/>
          </p:cNvPicPr>
          <p:nvPr/>
        </p:nvPicPr>
        <p:blipFill>
          <a:blip r:embed="rId2"/>
          <a:stretch>
            <a:fillRect/>
          </a:stretch>
        </p:blipFill>
        <p:spPr>
          <a:xfrm>
            <a:off x="7269480" y="3337560"/>
            <a:ext cx="384048" cy="384048"/>
          </a:xfrm>
          <a:prstGeom prst="rect">
            <a:avLst/>
          </a:prstGeom>
        </p:spPr>
      </p:pic>
      <p:sp>
        <p:nvSpPr>
          <p:cNvPr id="22" name="Text 18"/>
          <p:cNvSpPr txBox="1"/>
          <p:nvPr/>
        </p:nvSpPr>
        <p:spPr>
          <a:xfrm>
            <a:off x="7818120" y="3291840"/>
            <a:ext cx="3611880" cy="868680"/>
          </a:xfrm>
          <a:prstGeom prst="rect">
            <a:avLst/>
          </a:prstGeom>
          <a:noFill/>
          <a:ln/>
        </p:spPr>
        <p:txBody>
          <a:bodyPr wrap="square" lIns="0" tIns="0" rIns="0" bIns="0" rtlCol="0" anchor="t"/>
          <a:lstStyle/>
          <a:p>
            <a:pPr indent="0" marL="0">
              <a:buNone/>
            </a:pPr>
            <a:r>
              <a:rPr lang="en-US" sz="1500" dirty="0">
                <a:solidFill>
                  <a:srgbClr val="1B2340"/>
                </a:solidFill>
              </a:rPr>
              <a:t>Dans Produits, le stock de P002 (Huile 5 L) passe de 10 à 8</a:t>
            </a:r>
            <a:endParaRPr lang="en-US" sz="1500" dirty="0"/>
          </a:p>
        </p:txBody>
      </p:sp>
      <p:pic>
        <p:nvPicPr>
          <p:cNvPr id="23" name="Image 2" descr="ok">    </p:cNvPr>
          <p:cNvPicPr>
            <a:picLocks noChangeAspect="1"/>
          </p:cNvPicPr>
          <p:nvPr/>
        </p:nvPicPr>
        <p:blipFill>
          <a:blip r:embed="rId3"/>
          <a:stretch>
            <a:fillRect/>
          </a:stretch>
        </p:blipFill>
        <p:spPr>
          <a:xfrm>
            <a:off x="7269480" y="4343400"/>
            <a:ext cx="384048" cy="384048"/>
          </a:xfrm>
          <a:prstGeom prst="rect">
            <a:avLst/>
          </a:prstGeom>
        </p:spPr>
      </p:pic>
      <p:sp>
        <p:nvSpPr>
          <p:cNvPr id="24" name="Text 19"/>
          <p:cNvSpPr txBox="1"/>
          <p:nvPr/>
        </p:nvSpPr>
        <p:spPr>
          <a:xfrm>
            <a:off x="7818120" y="4297680"/>
            <a:ext cx="3611880" cy="868680"/>
          </a:xfrm>
          <a:prstGeom prst="rect">
            <a:avLst/>
          </a:prstGeom>
          <a:noFill/>
          <a:ln/>
        </p:spPr>
        <p:txBody>
          <a:bodyPr wrap="square" lIns="0" tIns="0" rIns="0" bIns="0" rtlCol="0" anchor="t"/>
          <a:lstStyle/>
          <a:p>
            <a:pPr indent="0" marL="0">
              <a:buNone/>
            </a:pPr>
            <a:r>
              <a:rPr lang="en-US" sz="1500" dirty="0">
                <a:solidFill>
                  <a:srgbClr val="1B2340"/>
                </a:solidFill>
              </a:rPr>
              <a:t>Dans n8n, les nœuds actifs sont verts</a:t>
            </a:r>
            <a:endParaRPr lang="en-US" sz="1500" dirty="0"/>
          </a:p>
        </p:txBody>
      </p:sp>
      <p:sp>
        <p:nvSpPr>
          <p:cNvPr id="25" name="Text 20"/>
          <p:cNvSpPr txBox="1"/>
          <p:nvPr/>
        </p:nvSpPr>
        <p:spPr>
          <a:xfrm>
            <a:off x="7269480" y="5349240"/>
            <a:ext cx="4114800" cy="548640"/>
          </a:xfrm>
          <a:prstGeom prst="rect">
            <a:avLst/>
          </a:prstGeom>
          <a:noFill/>
          <a:ln/>
        </p:spPr>
        <p:txBody>
          <a:bodyPr wrap="square" lIns="0" tIns="0" rIns="0" bIns="0" rtlCol="0" anchor="t"/>
          <a:lstStyle/>
          <a:p>
            <a:pPr indent="0" marL="0">
              <a:buNone/>
            </a:pPr>
            <a:r>
              <a:rPr lang="en-US" sz="1300" i="1" dirty="0">
                <a:solidFill>
                  <a:srgbClr val="3A4566"/>
                </a:solidFill>
              </a:rPr>
              <a:t>Un nœud rouge ? Clique dessus, lis le message, va au dépannage.</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ercle étape"/>
          <p:cNvSpPr/>
          <p:nvPr/>
        </p:nvSpPr>
        <p:spPr>
          <a:xfrm>
            <a:off x="822960" y="1965960"/>
            <a:ext cx="2468880" cy="2468880"/>
          </a:xfrm>
          <a:prstGeom prst="ellipse">
            <a:avLst/>
          </a:prstGeom>
          <a:solidFill>
            <a:srgbClr val="1877F2"/>
          </a:solidFill>
          <a:ln w="12700">
            <a:solidFill>
              <a:srgbClr val="1877F2"/>
            </a:solidFill>
            <a:prstDash val="solid"/>
          </a:ln>
        </p:spPr>
      </p:sp>
      <p:sp>
        <p:nvSpPr>
          <p:cNvPr id="3" name="Text 1"/>
          <p:cNvSpPr txBox="1"/>
          <p:nvPr/>
        </p:nvSpPr>
        <p:spPr>
          <a:xfrm>
            <a:off x="822960" y="1965960"/>
            <a:ext cx="2468880" cy="1600200"/>
          </a:xfrm>
          <a:prstGeom prst="rect">
            <a:avLst/>
          </a:prstGeom>
          <a:noFill/>
          <a:ln/>
        </p:spPr>
        <p:txBody>
          <a:bodyPr wrap="square" lIns="0" tIns="0" rIns="0" bIns="0" rtlCol="0" anchor="b"/>
          <a:lstStyle/>
          <a:p>
            <a:pPr algn="ctr" indent="0" marL="0">
              <a:buNone/>
            </a:pPr>
            <a:r>
              <a:rPr lang="en-US" sz="8000" b="1" dirty="0">
                <a:solidFill>
                  <a:srgbClr val="FFFFFF"/>
                </a:solidFill>
                <a:latin typeface="Arial" pitchFamily="34" charset="0"/>
                <a:ea typeface="Arial" pitchFamily="34" charset="-122"/>
                <a:cs typeface="Arial" pitchFamily="34" charset="-120"/>
              </a:rPr>
              <a:t>3</a:t>
            </a:r>
            <a:endParaRPr lang="en-US" sz="8000" dirty="0"/>
          </a:p>
        </p:txBody>
      </p:sp>
      <p:pic>
        <p:nvPicPr>
          <p:cNvPr id="4" name="Image 0" descr="SiMeta">    </p:cNvPr>
          <p:cNvPicPr>
            <a:picLocks noChangeAspect="1"/>
          </p:cNvPicPr>
          <p:nvPr/>
        </p:nvPicPr>
        <p:blipFill>
          <a:blip r:embed="rId1"/>
          <a:stretch>
            <a:fillRect/>
          </a:stretch>
        </p:blipFill>
        <p:spPr>
          <a:xfrm>
            <a:off x="1828800" y="3611880"/>
            <a:ext cx="457200" cy="457200"/>
          </a:xfrm>
          <a:prstGeom prst="rect">
            <a:avLst/>
          </a:prstGeom>
        </p:spPr>
      </p:pic>
      <p:sp>
        <p:nvSpPr>
          <p:cNvPr id="5" name="Text 2"/>
          <p:cNvSpPr txBox="1"/>
          <p:nvPr/>
        </p:nvSpPr>
        <p:spPr>
          <a:xfrm>
            <a:off x="3931920" y="1874520"/>
            <a:ext cx="4572000" cy="365760"/>
          </a:xfrm>
          <a:prstGeom prst="rect">
            <a:avLst/>
          </a:prstGeom>
          <a:noFill/>
          <a:ln/>
        </p:spPr>
        <p:txBody>
          <a:bodyPr wrap="square" lIns="0" tIns="0" rIns="0" bIns="0" rtlCol="0" anchor="t"/>
          <a:lstStyle/>
          <a:p>
            <a:pPr indent="0" marL="0">
              <a:buNone/>
            </a:pPr>
            <a:r>
              <a:rPr lang="en-US" sz="1400" b="1" spc="300" kern="0" dirty="0">
                <a:solidFill>
                  <a:srgbClr val="F5C518"/>
                </a:solidFill>
              </a:rPr>
              <a:t>ÉTAPE 3</a:t>
            </a:r>
            <a:endParaRPr lang="en-US" sz="1400" dirty="0"/>
          </a:p>
        </p:txBody>
      </p:sp>
      <p:sp>
        <p:nvSpPr>
          <p:cNvPr id="6" name="Text 0"/>
          <p:cNvSpPr/>
          <p:nvPr>
            <p:ph idx="100" type="title" hasCustomPrompt="1"/>
          </p:nvPr>
        </p:nvSpPr>
        <p:spPr>
          <a:xfrm>
            <a:off x="3931920" y="2377440"/>
            <a:ext cx="7680960" cy="1188720"/>
          </a:xfrm>
          <a:prstGeom prst="rect">
            <a:avLst/>
          </a:prstGeom>
          <a:noFill/>
          <a:ln/>
        </p:spPr>
        <p:txBody>
          <a:bodyPr wrap="square" lIns="0" tIns="0" rIns="0" bIns="0" rtlCol="0" anchor="t"/>
          <a:lstStyle/>
          <a:p>
            <a:pPr algn="l" indent="0" marL="0">
              <a:buNone/>
            </a:pPr>
            <a:r>
              <a:rPr lang="en-US" sz="4000" b="1" dirty="0">
                <a:solidFill>
                  <a:schemeClr val="bg1"/>
                </a:solidFill>
              </a:rPr>
              <a:t>Meta : ouvrir l'accès WhatsApp</a:t>
            </a:r>
            <a:endParaRPr lang="en-US" sz="4000" dirty="0"/>
          </a:p>
        </p:txBody>
      </p:sp>
      <p:sp>
        <p:nvSpPr>
          <p:cNvPr id="7" name="Text 0"/>
          <p:cNvSpPr/>
          <p:nvPr>
            <p:ph idx="101" type="body" hasCustomPrompt="1"/>
          </p:nvPr>
        </p:nvSpPr>
        <p:spPr>
          <a:xfrm>
            <a:off x="3931920" y="3611880"/>
            <a:ext cx="7498080" cy="1280160"/>
          </a:xfrm>
          <a:prstGeom prst="rect">
            <a:avLst/>
          </a:prstGeom>
          <a:noFill/>
          <a:ln/>
        </p:spPr>
        <p:txBody>
          <a:bodyPr wrap="square" lIns="0" tIns="0" rIns="0" bIns="0" rtlCol="0" anchor="t"/>
          <a:lstStyle/>
          <a:p>
            <a:pPr indent="0" marL="0">
              <a:buNone/>
            </a:pPr>
            <a:r>
              <a:rPr lang="en-US" sz="1800" dirty="0">
                <a:solidFill>
                  <a:schemeClr val="bg2"/>
                </a:solidFill>
              </a:rPr>
              <a:t>Créer l'app Meta, recevoir le premier message, écrire les modèles et obtenir le token.</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C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Créer l'app Meta</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877F2"/>
          </a:solidFill>
          <a:ln w="12700">
            <a:solidFill>
              <a:srgbClr val="1877F2"/>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3 · META</a:t>
            </a:r>
            <a:endParaRPr lang="en-US" sz="1200" dirty="0"/>
          </a:p>
        </p:txBody>
      </p:sp>
      <p:sp>
        <p:nvSpPr>
          <p:cNvPr id="5" name="numéro 1"/>
          <p:cNvSpPr/>
          <p:nvPr/>
        </p:nvSpPr>
        <p:spPr>
          <a:xfrm>
            <a:off x="548640" y="1435608"/>
            <a:ext cx="402336" cy="402336"/>
          </a:xfrm>
          <a:prstGeom prst="ellipse">
            <a:avLst/>
          </a:prstGeom>
          <a:solidFill>
            <a:srgbClr val="1877F2"/>
          </a:solidFill>
          <a:ln w="12700">
            <a:solidFill>
              <a:srgbClr val="1877F2"/>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742432" cy="863194"/>
          </a:xfrm>
          <a:prstGeom prst="rect">
            <a:avLst/>
          </a:prstGeom>
          <a:noFill/>
          <a:ln/>
        </p:spPr>
        <p:txBody>
          <a:bodyPr wrap="square" lIns="0" tIns="0" rIns="0" bIns="0" rtlCol="0" anchor="t"/>
          <a:lstStyle/>
          <a:p>
            <a:pPr indent="0" marL="0">
              <a:buNone/>
            </a:pPr>
            <a:r>
              <a:rPr lang="en-US" sz="1500" b="1" dirty="0">
                <a:solidFill>
                  <a:srgbClr val="1B2340"/>
                </a:solidFill>
              </a:rPr>
              <a:t>Va sur developers.facebook.com</a:t>
            </a:r>
            <a:pPr indent="0" marL="0">
              <a:buNone/>
            </a:pPr>
            <a:r>
              <a:rPr lang="en-US" sz="1500" dirty="0">
                <a:solidFill>
                  <a:srgbClr val="3A4566"/>
                </a:solidFill>
              </a:rPr>
              <a:t>  et connecte-toi avec Facebook.</a:t>
            </a:r>
            <a:endParaRPr lang="en-US" sz="1500" dirty="0"/>
          </a:p>
        </p:txBody>
      </p:sp>
      <p:sp>
        <p:nvSpPr>
          <p:cNvPr id="8" name="numéro 2"/>
          <p:cNvSpPr/>
          <p:nvPr/>
        </p:nvSpPr>
        <p:spPr>
          <a:xfrm>
            <a:off x="548640" y="2408530"/>
            <a:ext cx="402336" cy="402336"/>
          </a:xfrm>
          <a:prstGeom prst="ellipse">
            <a:avLst/>
          </a:prstGeom>
          <a:solidFill>
            <a:srgbClr val="1877F2"/>
          </a:solidFill>
          <a:ln w="12700">
            <a:solidFill>
              <a:srgbClr val="1877F2"/>
            </a:solidFill>
            <a:prstDash val="solid"/>
          </a:ln>
        </p:spPr>
      </p:sp>
      <p:sp>
        <p:nvSpPr>
          <p:cNvPr id="9" name="Text 7"/>
          <p:cNvSpPr txBox="1"/>
          <p:nvPr/>
        </p:nvSpPr>
        <p:spPr>
          <a:xfrm>
            <a:off x="548640" y="24085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390242"/>
            <a:ext cx="5742432" cy="863194"/>
          </a:xfrm>
          <a:prstGeom prst="rect">
            <a:avLst/>
          </a:prstGeom>
          <a:noFill/>
          <a:ln/>
        </p:spPr>
        <p:txBody>
          <a:bodyPr wrap="square" lIns="0" tIns="0" rIns="0" bIns="0" rtlCol="0" anchor="t"/>
          <a:lstStyle/>
          <a:p>
            <a:pPr indent="0" marL="0">
              <a:buNone/>
            </a:pPr>
            <a:r>
              <a:rPr lang="en-US" sz="1500" b="1" dirty="0">
                <a:solidFill>
                  <a:srgbClr val="1B2340"/>
                </a:solidFill>
              </a:rPr>
              <a:t>Mes applications → Créer une app.</a:t>
            </a:r>
            <a:endParaRPr lang="en-US" sz="1500" dirty="0"/>
          </a:p>
        </p:txBody>
      </p:sp>
      <p:sp>
        <p:nvSpPr>
          <p:cNvPr id="11" name="numéro 3"/>
          <p:cNvSpPr/>
          <p:nvPr/>
        </p:nvSpPr>
        <p:spPr>
          <a:xfrm>
            <a:off x="548640" y="3381451"/>
            <a:ext cx="402336" cy="402336"/>
          </a:xfrm>
          <a:prstGeom prst="ellipse">
            <a:avLst/>
          </a:prstGeom>
          <a:solidFill>
            <a:srgbClr val="1877F2"/>
          </a:solidFill>
          <a:ln w="12700">
            <a:solidFill>
              <a:srgbClr val="1877F2"/>
            </a:solidFill>
            <a:prstDash val="solid"/>
          </a:ln>
        </p:spPr>
      </p:sp>
      <p:sp>
        <p:nvSpPr>
          <p:cNvPr id="12" name="Text 10"/>
          <p:cNvSpPr txBox="1"/>
          <p:nvPr/>
        </p:nvSpPr>
        <p:spPr>
          <a:xfrm>
            <a:off x="548640" y="338145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363163"/>
            <a:ext cx="5742432" cy="863194"/>
          </a:xfrm>
          <a:prstGeom prst="rect">
            <a:avLst/>
          </a:prstGeom>
          <a:noFill/>
          <a:ln/>
        </p:spPr>
        <p:txBody>
          <a:bodyPr wrap="square" lIns="0" tIns="0" rIns="0" bIns="0" rtlCol="0" anchor="t"/>
          <a:lstStyle/>
          <a:p>
            <a:pPr indent="0" marL="0">
              <a:buNone/>
            </a:pPr>
            <a:r>
              <a:rPr lang="en-US" sz="1500" b="1" dirty="0">
                <a:solidFill>
                  <a:srgbClr val="1B2340"/>
                </a:solidFill>
              </a:rPr>
              <a:t>Cas d'utilisation :</a:t>
            </a:r>
            <a:pPr indent="0" marL="0">
              <a:buNone/>
            </a:pPr>
            <a:r>
              <a:rPr lang="en-US" sz="1500" dirty="0">
                <a:solidFill>
                  <a:srgbClr val="3A4566"/>
                </a:solidFill>
              </a:rPr>
              <a:t>  « Se connecter avec les clients via WhatsApp ».</a:t>
            </a:r>
            <a:endParaRPr lang="en-US" sz="1500" dirty="0"/>
          </a:p>
        </p:txBody>
      </p:sp>
      <p:sp>
        <p:nvSpPr>
          <p:cNvPr id="14" name="numéro 4"/>
          <p:cNvSpPr/>
          <p:nvPr/>
        </p:nvSpPr>
        <p:spPr>
          <a:xfrm>
            <a:off x="548640" y="4354373"/>
            <a:ext cx="402336" cy="402336"/>
          </a:xfrm>
          <a:prstGeom prst="ellipse">
            <a:avLst/>
          </a:prstGeom>
          <a:solidFill>
            <a:srgbClr val="1877F2"/>
          </a:solidFill>
          <a:ln w="12700">
            <a:solidFill>
              <a:srgbClr val="1877F2"/>
            </a:solidFill>
            <a:prstDash val="solid"/>
          </a:ln>
        </p:spPr>
      </p:sp>
      <p:sp>
        <p:nvSpPr>
          <p:cNvPr id="15" name="Text 13"/>
          <p:cNvSpPr txBox="1"/>
          <p:nvPr/>
        </p:nvSpPr>
        <p:spPr>
          <a:xfrm>
            <a:off x="548640" y="435437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4336085"/>
            <a:ext cx="5742432" cy="863194"/>
          </a:xfrm>
          <a:prstGeom prst="rect">
            <a:avLst/>
          </a:prstGeom>
          <a:noFill/>
          <a:ln/>
        </p:spPr>
        <p:txBody>
          <a:bodyPr wrap="square" lIns="0" tIns="0" rIns="0" bIns="0" rtlCol="0" anchor="t"/>
          <a:lstStyle/>
          <a:p>
            <a:pPr indent="0" marL="0">
              <a:buNone/>
            </a:pPr>
            <a:r>
              <a:rPr lang="en-US" sz="1500" b="1" dirty="0">
                <a:solidFill>
                  <a:srgbClr val="1B2340"/>
                </a:solidFill>
              </a:rPr>
              <a:t>Relie l'app au portefeuille business</a:t>
            </a:r>
            <a:pPr indent="0" marL="0">
              <a:buNone/>
            </a:pPr>
            <a:r>
              <a:rPr lang="en-US" sz="1500" dirty="0">
                <a:solidFill>
                  <a:srgbClr val="3A4566"/>
                </a:solidFill>
              </a:rPr>
              <a:t>  de l'entreprise (pour nous : ADigitalGround).</a:t>
            </a:r>
            <a:endParaRPr lang="en-US" sz="1500" dirty="0"/>
          </a:p>
        </p:txBody>
      </p:sp>
      <p:sp>
        <p:nvSpPr>
          <p:cNvPr id="17" name="numéro 5"/>
          <p:cNvSpPr/>
          <p:nvPr/>
        </p:nvSpPr>
        <p:spPr>
          <a:xfrm>
            <a:off x="548640" y="5327294"/>
            <a:ext cx="402336" cy="402336"/>
          </a:xfrm>
          <a:prstGeom prst="ellipse">
            <a:avLst/>
          </a:prstGeom>
          <a:solidFill>
            <a:srgbClr val="1877F2"/>
          </a:solidFill>
          <a:ln w="12700">
            <a:solidFill>
              <a:srgbClr val="1877F2"/>
            </a:solidFill>
            <a:prstDash val="solid"/>
          </a:ln>
        </p:spPr>
      </p:sp>
      <p:sp>
        <p:nvSpPr>
          <p:cNvPr id="18" name="Text 16"/>
          <p:cNvSpPr txBox="1"/>
          <p:nvPr/>
        </p:nvSpPr>
        <p:spPr>
          <a:xfrm>
            <a:off x="548640" y="532729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9" name="Text 17"/>
          <p:cNvSpPr txBox="1"/>
          <p:nvPr/>
        </p:nvSpPr>
        <p:spPr>
          <a:xfrm>
            <a:off x="1115568" y="5309006"/>
            <a:ext cx="5742432" cy="863194"/>
          </a:xfrm>
          <a:prstGeom prst="rect">
            <a:avLst/>
          </a:prstGeom>
          <a:noFill/>
          <a:ln/>
        </p:spPr>
        <p:txBody>
          <a:bodyPr wrap="square" lIns="0" tIns="0" rIns="0" bIns="0" rtlCol="0" anchor="t"/>
          <a:lstStyle/>
          <a:p>
            <a:pPr indent="0" marL="0">
              <a:buNone/>
            </a:pPr>
            <a:r>
              <a:rPr lang="en-US" sz="1500" b="1" dirty="0">
                <a:solidFill>
                  <a:srgbClr val="1B2340"/>
                </a:solidFill>
              </a:rPr>
              <a:t>Dans l'app, choisis « Intégrer avec l'API »</a:t>
            </a:r>
            <a:pPr indent="0" marL="0">
              <a:buNone/>
            </a:pPr>
            <a:r>
              <a:rPr lang="en-US" sz="1500" dirty="0">
                <a:solidFill>
                  <a:srgbClr val="3A4566"/>
                </a:solidFill>
              </a:rPr>
              <a:t>  puis « Étape 1. Faites un essai ».</a:t>
            </a:r>
            <a:endParaRPr lang="en-US" sz="1500" dirty="0"/>
          </a:p>
        </p:txBody>
      </p:sp>
      <p:sp>
        <p:nvSpPr>
          <p:cNvPr id="20" name="fenêtre developers.facebook.com/apps"/>
          <p:cNvSpPr/>
          <p:nvPr/>
        </p:nvSpPr>
        <p:spPr>
          <a:xfrm>
            <a:off x="7178040" y="1463040"/>
            <a:ext cx="4462272" cy="2468880"/>
          </a:xfrm>
          <a:prstGeom prst="roundRect">
            <a:avLst>
              <a:gd name="adj" fmla="val 3704"/>
            </a:avLst>
          </a:prstGeom>
          <a:solidFill>
            <a:srgbClr val="FFFFFF"/>
          </a:solidFill>
          <a:ln w="12700">
            <a:solidFill>
              <a:srgbClr val="D5DCE8"/>
            </a:solidFill>
            <a:prstDash val="solid"/>
          </a:ln>
          <a:effectLst>
            <a:outerShdw sx="100000" sy="100000" kx="0" ky="0" algn="bl" rotWithShape="0" blurRad="101600" dist="38100" dir="5400000">
              <a:srgbClr val="1B2340">
                <a:alpha val="12000"/>
              </a:srgbClr>
            </a:outerShdw>
          </a:effectLst>
        </p:spPr>
      </p:sp>
      <p:sp>
        <p:nvSpPr>
          <p:cNvPr id="21" name="barre fenêtre"/>
          <p:cNvSpPr/>
          <p:nvPr/>
        </p:nvSpPr>
        <p:spPr>
          <a:xfrm>
            <a:off x="7196328" y="1481328"/>
            <a:ext cx="4425696" cy="329184"/>
          </a:xfrm>
          <a:prstGeom prst="rect">
            <a:avLst/>
          </a:prstGeom>
          <a:solidFill>
            <a:srgbClr val="F1F3F7"/>
          </a:solidFill>
          <a:ln w="12700">
            <a:solidFill>
              <a:srgbClr val="F1F3F7"/>
            </a:solidFill>
            <a:prstDash val="solid"/>
          </a:ln>
        </p:spPr>
      </p:sp>
      <p:sp>
        <p:nvSpPr>
          <p:cNvPr id="22" name="Shape 20"/>
          <p:cNvSpPr/>
          <p:nvPr/>
        </p:nvSpPr>
        <p:spPr>
          <a:xfrm>
            <a:off x="7315200" y="1581912"/>
            <a:ext cx="109728" cy="109728"/>
          </a:xfrm>
          <a:prstGeom prst="ellipse">
            <a:avLst/>
          </a:prstGeom>
          <a:solidFill>
            <a:srgbClr val="FF5F57"/>
          </a:solidFill>
          <a:ln w="12700">
            <a:solidFill>
              <a:srgbClr val="FF5F57"/>
            </a:solidFill>
            <a:prstDash val="solid"/>
          </a:ln>
        </p:spPr>
      </p:sp>
      <p:sp>
        <p:nvSpPr>
          <p:cNvPr id="23" name="Shape 21"/>
          <p:cNvSpPr/>
          <p:nvPr/>
        </p:nvSpPr>
        <p:spPr>
          <a:xfrm>
            <a:off x="7498080" y="1581912"/>
            <a:ext cx="109728" cy="109728"/>
          </a:xfrm>
          <a:prstGeom prst="ellipse">
            <a:avLst/>
          </a:prstGeom>
          <a:solidFill>
            <a:srgbClr val="FEBC2E"/>
          </a:solidFill>
          <a:ln w="12700">
            <a:solidFill>
              <a:srgbClr val="FEBC2E"/>
            </a:solidFill>
            <a:prstDash val="solid"/>
          </a:ln>
        </p:spPr>
      </p:sp>
      <p:sp>
        <p:nvSpPr>
          <p:cNvPr id="24" name="Shape 22"/>
          <p:cNvSpPr/>
          <p:nvPr/>
        </p:nvSpPr>
        <p:spPr>
          <a:xfrm>
            <a:off x="7680960" y="1581912"/>
            <a:ext cx="109728" cy="109728"/>
          </a:xfrm>
          <a:prstGeom prst="ellipse">
            <a:avLst/>
          </a:prstGeom>
          <a:solidFill>
            <a:srgbClr val="28C840"/>
          </a:solidFill>
          <a:ln w="12700">
            <a:solidFill>
              <a:srgbClr val="28C840"/>
            </a:solidFill>
            <a:prstDash val="solid"/>
          </a:ln>
        </p:spPr>
      </p:sp>
      <p:sp>
        <p:nvSpPr>
          <p:cNvPr id="25" name="Text 23"/>
          <p:cNvSpPr txBox="1"/>
          <p:nvPr/>
        </p:nvSpPr>
        <p:spPr>
          <a:xfrm>
            <a:off x="7955280" y="1499616"/>
            <a:ext cx="3547872" cy="292608"/>
          </a:xfrm>
          <a:prstGeom prst="rect">
            <a:avLst/>
          </a:prstGeom>
          <a:noFill/>
          <a:ln/>
        </p:spPr>
        <p:txBody>
          <a:bodyPr wrap="square" lIns="0" tIns="0" rIns="0" bIns="0" rtlCol="0" anchor="ctr"/>
          <a:lstStyle/>
          <a:p>
            <a:pPr indent="0" marL="0">
              <a:buNone/>
            </a:pPr>
            <a:r>
              <a:rPr lang="en-US" sz="1100" dirty="0">
                <a:solidFill>
                  <a:srgbClr val="6B7280"/>
                </a:solidFill>
              </a:rPr>
              <a:t>developers.facebook.com/apps</a:t>
            </a:r>
            <a:endParaRPr lang="en-US" sz="1100" dirty="0"/>
          </a:p>
        </p:txBody>
      </p:sp>
      <p:sp>
        <p:nvSpPr>
          <p:cNvPr id="26" name="carte"/>
          <p:cNvSpPr/>
          <p:nvPr/>
        </p:nvSpPr>
        <p:spPr>
          <a:xfrm>
            <a:off x="7406640" y="2011680"/>
            <a:ext cx="4005072" cy="1691640"/>
          </a:xfrm>
          <a:prstGeom prst="roundRect">
            <a:avLst>
              <a:gd name="adj" fmla="val 8108"/>
            </a:avLst>
          </a:prstGeom>
          <a:solidFill>
            <a:srgbClr val="F6F8FC"/>
          </a:solidFill>
          <a:ln w="12700">
            <a:solidFill>
              <a:srgbClr val="F6F8FC"/>
            </a:solidFill>
            <a:prstDash val="solid"/>
          </a:ln>
        </p:spPr>
      </p:sp>
      <p:sp>
        <p:nvSpPr>
          <p:cNvPr id="27" name="Text 25"/>
          <p:cNvSpPr txBox="1"/>
          <p:nvPr/>
        </p:nvSpPr>
        <p:spPr>
          <a:xfrm>
            <a:off x="7635240" y="2148840"/>
            <a:ext cx="3657600" cy="1463040"/>
          </a:xfrm>
          <a:prstGeom prst="rect">
            <a:avLst/>
          </a:prstGeom>
          <a:noFill/>
          <a:ln/>
        </p:spPr>
        <p:txBody>
          <a:bodyPr wrap="square" lIns="0" tIns="0" rIns="0" bIns="0" rtlCol="0" anchor="t"/>
          <a:lstStyle/>
          <a:p>
            <a:pPr indent="0" marL="0">
              <a:buNone/>
            </a:pPr>
            <a:r>
              <a:rPr lang="en-US" sz="1500" b="1" dirty="0">
                <a:solidFill>
                  <a:srgbClr val="1B2340"/>
                </a:solidFill>
              </a:rPr>
              <a:t>Allegra business</a:t>
            </a:r>
            <a:endParaRPr lang="en-US" sz="1300" dirty="0"/>
          </a:p>
          <a:p>
            <a:pPr indent="0" marL="0">
              <a:buNone/>
            </a:pPr>
            <a:r>
              <a:rPr lang="en-US" sz="1300" dirty="0">
                <a:solidFill>
                  <a:srgbClr val="1B2340"/>
                </a:solidFill>
              </a:rPr>
              <a:t>Mode : En développement</a:t>
            </a:r>
            <a:endParaRPr lang="en-US" sz="1300" dirty="0"/>
          </a:p>
          <a:p>
            <a:pPr indent="0" marL="0">
              <a:buNone/>
            </a:pPr>
            <a:r>
              <a:rPr lang="en-US" sz="1300" dirty="0">
                <a:solidFill>
                  <a:srgbClr val="1877F2"/>
                </a:solidFill>
              </a:rPr>
              <a:t>Entreprise : ADigitalGround</a:t>
            </a:r>
            <a:endParaRPr lang="en-US" sz="1300" dirty="0"/>
          </a:p>
        </p:txBody>
      </p:sp>
      <p:sp>
        <p:nvSpPr>
          <p:cNvPr id="28" name="encadré Astuce"/>
          <p:cNvSpPr/>
          <p:nvPr/>
        </p:nvSpPr>
        <p:spPr>
          <a:xfrm>
            <a:off x="7178040" y="4160520"/>
            <a:ext cx="4462272" cy="1920240"/>
          </a:xfrm>
          <a:prstGeom prst="roundRect">
            <a:avLst>
              <a:gd name="adj" fmla="val 5714"/>
            </a:avLst>
          </a:prstGeom>
          <a:solidFill>
            <a:srgbClr val="E8F5EC"/>
          </a:solidFill>
          <a:ln w="12700">
            <a:solidFill>
              <a:srgbClr val="E8F5EC"/>
            </a:solidFill>
            <a:prstDash val="solid"/>
          </a:ln>
        </p:spPr>
      </p:sp>
      <p:pic>
        <p:nvPicPr>
          <p:cNvPr id="29" name="Image 0" descr="Astuce">    </p:cNvPr>
          <p:cNvPicPr>
            <a:picLocks noChangeAspect="1"/>
          </p:cNvPicPr>
          <p:nvPr/>
        </p:nvPicPr>
        <p:blipFill>
          <a:blip r:embed="rId1"/>
          <a:stretch>
            <a:fillRect/>
          </a:stretch>
        </p:blipFill>
        <p:spPr>
          <a:xfrm>
            <a:off x="7379208" y="4343400"/>
            <a:ext cx="347472" cy="347472"/>
          </a:xfrm>
          <a:prstGeom prst="rect">
            <a:avLst/>
          </a:prstGeom>
        </p:spPr>
      </p:pic>
      <p:sp>
        <p:nvSpPr>
          <p:cNvPr id="30" name="Text 27"/>
          <p:cNvSpPr txBox="1"/>
          <p:nvPr/>
        </p:nvSpPr>
        <p:spPr>
          <a:xfrm>
            <a:off x="7891272" y="4306824"/>
            <a:ext cx="3566160" cy="1645920"/>
          </a:xfrm>
          <a:prstGeom prst="rect">
            <a:avLst/>
          </a:prstGeom>
          <a:noFill/>
          <a:ln/>
        </p:spPr>
        <p:txBody>
          <a:bodyPr wrap="square" lIns="0" tIns="0" rIns="0" bIns="0" rtlCol="0" anchor="ctr"/>
          <a:lstStyle/>
          <a:p>
            <a:pPr indent="0" marL="0">
              <a:buNone/>
            </a:pPr>
            <a:r>
              <a:rPr lang="en-US" sz="1400" b="1" dirty="0">
                <a:solidFill>
                  <a:srgbClr val="1E8E3E"/>
                </a:solidFill>
              </a:rPr>
              <a:t>Astuce : </a:t>
            </a:r>
            <a:pPr indent="0" marL="0">
              <a:buNone/>
            </a:pPr>
            <a:r>
              <a:rPr lang="en-US" sz="1400" dirty="0">
                <a:solidFill>
                  <a:srgbClr val="1B2340"/>
                </a:solidFill>
              </a:rPr>
              <a:t>si l'entreprise a déjà une app (comme « Allegra business »), utilise-la. N'en crée pas une deuxième.</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 numéro de test et le « Hello World »</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877F2"/>
          </a:solidFill>
          <a:ln w="12700">
            <a:solidFill>
              <a:srgbClr val="1877F2"/>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3 · META</a:t>
            </a:r>
            <a:endParaRPr lang="en-US" sz="1200" dirty="0"/>
          </a:p>
        </p:txBody>
      </p:sp>
      <p:sp>
        <p:nvSpPr>
          <p:cNvPr id="5" name="numéro 1"/>
          <p:cNvSpPr/>
          <p:nvPr/>
        </p:nvSpPr>
        <p:spPr>
          <a:xfrm>
            <a:off x="548640" y="1435608"/>
            <a:ext cx="402336" cy="402336"/>
          </a:xfrm>
          <a:prstGeom prst="ellipse">
            <a:avLst/>
          </a:prstGeom>
          <a:solidFill>
            <a:srgbClr val="1877F2"/>
          </a:solidFill>
          <a:ln w="12700">
            <a:solidFill>
              <a:srgbClr val="1877F2"/>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4553712" cy="1005840"/>
          </a:xfrm>
          <a:prstGeom prst="rect">
            <a:avLst/>
          </a:prstGeom>
          <a:noFill/>
          <a:ln/>
        </p:spPr>
        <p:txBody>
          <a:bodyPr wrap="square" lIns="0" tIns="0" rIns="0" bIns="0" rtlCol="0" anchor="t"/>
          <a:lstStyle/>
          <a:p>
            <a:pPr indent="0" marL="0">
              <a:buNone/>
            </a:pPr>
            <a:r>
              <a:rPr lang="en-US" sz="1500" b="1" dirty="0">
                <a:solidFill>
                  <a:srgbClr val="1B2340"/>
                </a:solidFill>
              </a:rPr>
              <a:t>Sur « Faites un essai », Meta te donne un numéro de test gratuit</a:t>
            </a:r>
            <a:pPr indent="0" marL="0">
              <a:buNone/>
            </a:pPr>
            <a:r>
              <a:rPr lang="en-US" sz="1500" dirty="0">
                <a:solidFill>
                  <a:srgbClr val="3A4566"/>
                </a:solidFill>
              </a:rPr>
              <a:t>  (+1 555…).</a:t>
            </a:r>
            <a:endParaRPr lang="en-US" sz="1500" dirty="0"/>
          </a:p>
        </p:txBody>
      </p:sp>
      <p:sp>
        <p:nvSpPr>
          <p:cNvPr id="8" name="numéro 2"/>
          <p:cNvSpPr/>
          <p:nvPr/>
        </p:nvSpPr>
        <p:spPr>
          <a:xfrm>
            <a:off x="548640" y="2551176"/>
            <a:ext cx="402336" cy="402336"/>
          </a:xfrm>
          <a:prstGeom prst="ellipse">
            <a:avLst/>
          </a:prstGeom>
          <a:solidFill>
            <a:srgbClr val="1877F2"/>
          </a:solidFill>
          <a:ln w="12700">
            <a:solidFill>
              <a:srgbClr val="1877F2"/>
            </a:solidFill>
            <a:prstDash val="solid"/>
          </a:ln>
        </p:spPr>
      </p:sp>
      <p:sp>
        <p:nvSpPr>
          <p:cNvPr id="9" name="Text 7"/>
          <p:cNvSpPr txBox="1"/>
          <p:nvPr/>
        </p:nvSpPr>
        <p:spPr>
          <a:xfrm>
            <a:off x="548640" y="25511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532888"/>
            <a:ext cx="4553712" cy="1005840"/>
          </a:xfrm>
          <a:prstGeom prst="rect">
            <a:avLst/>
          </a:prstGeom>
          <a:noFill/>
          <a:ln/>
        </p:spPr>
        <p:txBody>
          <a:bodyPr wrap="square" lIns="0" tIns="0" rIns="0" bIns="0" rtlCol="0" anchor="t"/>
          <a:lstStyle/>
          <a:p>
            <a:pPr indent="0" marL="0">
              <a:buNone/>
            </a:pPr>
            <a:r>
              <a:rPr lang="en-US" sz="1500" b="1" dirty="0">
                <a:solidFill>
                  <a:srgbClr val="1B2340"/>
                </a:solidFill>
              </a:rPr>
              <a:t>Dans le champ « À », ajoute ton numéro +243…</a:t>
            </a:r>
            <a:pPr indent="0" marL="0">
              <a:buNone/>
            </a:pPr>
            <a:r>
              <a:rPr lang="en-US" sz="1500" dirty="0">
                <a:solidFill>
                  <a:srgbClr val="3A4566"/>
                </a:solidFill>
              </a:rPr>
              <a:t>  et tape le code reçu.</a:t>
            </a:r>
            <a:endParaRPr lang="en-US" sz="1500" dirty="0"/>
          </a:p>
        </p:txBody>
      </p:sp>
      <p:sp>
        <p:nvSpPr>
          <p:cNvPr id="11" name="numéro 3"/>
          <p:cNvSpPr/>
          <p:nvPr/>
        </p:nvSpPr>
        <p:spPr>
          <a:xfrm>
            <a:off x="548640" y="3666744"/>
            <a:ext cx="402336" cy="402336"/>
          </a:xfrm>
          <a:prstGeom prst="ellipse">
            <a:avLst/>
          </a:prstGeom>
          <a:solidFill>
            <a:srgbClr val="1877F2"/>
          </a:solidFill>
          <a:ln w="12700">
            <a:solidFill>
              <a:srgbClr val="1877F2"/>
            </a:solidFill>
            <a:prstDash val="solid"/>
          </a:ln>
        </p:spPr>
      </p:sp>
      <p:sp>
        <p:nvSpPr>
          <p:cNvPr id="12" name="Text 10"/>
          <p:cNvSpPr txBox="1"/>
          <p:nvPr/>
        </p:nvSpPr>
        <p:spPr>
          <a:xfrm>
            <a:off x="548640" y="36667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648456"/>
            <a:ext cx="4553712" cy="1005840"/>
          </a:xfrm>
          <a:prstGeom prst="rect">
            <a:avLst/>
          </a:prstGeom>
          <a:noFill/>
          <a:ln/>
        </p:spPr>
        <p:txBody>
          <a:bodyPr wrap="square" lIns="0" tIns="0" rIns="0" bIns="0" rtlCol="0" anchor="t"/>
          <a:lstStyle/>
          <a:p>
            <a:pPr indent="0" marL="0">
              <a:buNone/>
            </a:pPr>
            <a:r>
              <a:rPr lang="en-US" sz="1500" b="1" dirty="0">
                <a:solidFill>
                  <a:srgbClr val="1B2340"/>
                </a:solidFill>
              </a:rPr>
              <a:t>Clique sur Envoyer le message :</a:t>
            </a:r>
            <a:pPr indent="0" marL="0">
              <a:buNone/>
            </a:pPr>
            <a:r>
              <a:rPr lang="en-US" sz="1500" dirty="0">
                <a:solidFill>
                  <a:srgbClr val="3A4566"/>
                </a:solidFill>
              </a:rPr>
              <a:t>  tu reçois « Hello World » sur WhatsApp.</a:t>
            </a:r>
            <a:endParaRPr lang="en-US" sz="1500" dirty="0"/>
          </a:p>
        </p:txBody>
      </p:sp>
      <p:graphicFrame>
        <p:nvGraphicFramePr>
          <p:cNvPr id="20" name="tableau"/>
          <p:cNvGraphicFramePr>
            <a:graphicFrameLocks noGrp="1"/>
          </p:cNvGraphicFramePr>
          <p:nvPr>
            <p:extLst>
              <p:ext uri="{D42A27DB-BD31-4B8C-83A1-F6EECF244321}">
                <p14:modId xmlns:p14="http://schemas.microsoft.com/office/powerpoint/2010/main" val="1579011935"/>
              </p:ext>
            </p:extLst>
          </p:nvPr>
        </p:nvGraphicFramePr>
        <p:xfrm>
          <a:off x="5943600" y="1463040"/>
          <a:ext cx="5696712" cy="914400"/>
        </p:xfrm>
        <a:graphic>
          <a:graphicData uri="http://schemas.openxmlformats.org/drawingml/2006/table">
            <a:tbl>
              <a:tblPr/>
              <a:tblGrid>
                <a:gridCol w="1828800"/>
                <a:gridCol w="2130552"/>
                <a:gridCol w="173736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Numéro à noter</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Où le trouver</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À quoi il sert</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r>
              <a:tr h="1051560">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WhatsApp Business Account ID (WABA ID)</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page « Configuration de l'API », ou Paramètres Business → Comptes WhatsApp</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300" b="1" dirty="0">
                          <a:solidFill>
                            <a:srgbClr val="1877F2"/>
                          </a:solidFill>
                          <a:latin typeface="Calibri" pitchFamily="34" charset="0"/>
                          <a:ea typeface="Calibri" pitchFamily="34" charset="-122"/>
                          <a:cs typeface="Calibri" pitchFamily="34" charset="-120"/>
                        </a:rPr>
                        <a:t>à coller dans n8n (étape 4)</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340"/>
                          </a:solidFill>
                          <a:latin typeface="Calibri" pitchFamily="34" charset="0"/>
                          <a:ea typeface="Calibri" pitchFamily="34" charset="-122"/>
                          <a:cs typeface="Calibri" pitchFamily="34" charset="-120"/>
                        </a:rPr>
                        <a:t>Phone number ID</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même page, juste au-dessus</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300" dirty="0">
                          <a:solidFill>
                            <a:srgbClr val="1B2340"/>
                          </a:solidFill>
                          <a:latin typeface="Calibri" pitchFamily="34" charset="0"/>
                          <a:ea typeface="Calibri" pitchFamily="34" charset="-122"/>
                          <a:cs typeface="Calibri" pitchFamily="34" charset="-120"/>
                        </a:rPr>
                        <a:t>rien à copier : n8n le propose tout seul</a:t>
                      </a:r>
                      <a:endParaRPr lang="en-US" sz="13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bl>
          </a:graphicData>
        </a:graphic>
      </p:graphicFrame>
      <p:sp>
        <p:nvSpPr>
          <p:cNvPr id="15" name="encadré Attention"/>
          <p:cNvSpPr/>
          <p:nvPr/>
        </p:nvSpPr>
        <p:spPr>
          <a:xfrm>
            <a:off x="5943600" y="4663440"/>
            <a:ext cx="5696712" cy="1188720"/>
          </a:xfrm>
          <a:prstGeom prst="roundRect">
            <a:avLst>
              <a:gd name="adj" fmla="val 9231"/>
            </a:avLst>
          </a:prstGeom>
          <a:solidFill>
            <a:srgbClr val="FFF4D6"/>
          </a:solidFill>
          <a:ln w="12700">
            <a:solidFill>
              <a:srgbClr val="FFF4D6"/>
            </a:solidFill>
            <a:prstDash val="solid"/>
          </a:ln>
        </p:spPr>
      </p:sp>
      <p:pic>
        <p:nvPicPr>
          <p:cNvPr id="16" name="Image 0" descr="Attention">    </p:cNvPr>
          <p:cNvPicPr>
            <a:picLocks noChangeAspect="1"/>
          </p:cNvPicPr>
          <p:nvPr/>
        </p:nvPicPr>
        <p:blipFill>
          <a:blip r:embed="rId1"/>
          <a:stretch>
            <a:fillRect/>
          </a:stretch>
        </p:blipFill>
        <p:spPr>
          <a:xfrm>
            <a:off x="6144768" y="4846320"/>
            <a:ext cx="347472" cy="347472"/>
          </a:xfrm>
          <a:prstGeom prst="rect">
            <a:avLst/>
          </a:prstGeom>
        </p:spPr>
      </p:pic>
      <p:sp>
        <p:nvSpPr>
          <p:cNvPr id="17" name="Text 13"/>
          <p:cNvSpPr txBox="1"/>
          <p:nvPr/>
        </p:nvSpPr>
        <p:spPr>
          <a:xfrm>
            <a:off x="6656832" y="4809744"/>
            <a:ext cx="4800600" cy="914400"/>
          </a:xfrm>
          <a:prstGeom prst="rect">
            <a:avLst/>
          </a:prstGeom>
          <a:noFill/>
          <a:ln/>
        </p:spPr>
        <p:txBody>
          <a:bodyPr wrap="square" lIns="0" tIns="0" rIns="0" bIns="0" rtlCol="0" anchor="ctr"/>
          <a:lstStyle/>
          <a:p>
            <a:pPr indent="0" marL="0">
              <a:buNone/>
            </a:pPr>
            <a:r>
              <a:rPr lang="en-US" sz="1400" b="1" dirty="0">
                <a:solidFill>
                  <a:srgbClr val="B26A00"/>
                </a:solidFill>
              </a:rPr>
              <a:t>Attention : </a:t>
            </a:r>
            <a:pPr indent="0" marL="0">
              <a:buNone/>
            </a:pPr>
            <a:r>
              <a:rPr lang="en-US" sz="1400" dirty="0">
                <a:solidFill>
                  <a:srgbClr val="1B2340"/>
                </a:solidFill>
              </a:rPr>
              <a:t>le numéro de test n'envoie qu'à des numéros vérifiés (5 au maximum). Parfait pour tester, pas pour un client.</a:t>
            </a:r>
            <a:endParaRPr lang="en-US" sz="1400" dirty="0"/>
          </a:p>
        </p:txBody>
      </p:sp>
      <p:sp>
        <p:nvSpPr>
          <p:cNvPr id="18" name="encadré Astuce"/>
          <p:cNvSpPr/>
          <p:nvPr/>
        </p:nvSpPr>
        <p:spPr>
          <a:xfrm>
            <a:off x="548640" y="4572000"/>
            <a:ext cx="5120640" cy="1005840"/>
          </a:xfrm>
          <a:prstGeom prst="roundRect">
            <a:avLst>
              <a:gd name="adj" fmla="val 10909"/>
            </a:avLst>
          </a:prstGeom>
          <a:solidFill>
            <a:srgbClr val="E8F5EC"/>
          </a:solidFill>
          <a:ln w="12700">
            <a:solidFill>
              <a:srgbClr val="E8F5EC"/>
            </a:solidFill>
            <a:prstDash val="solid"/>
          </a:ln>
        </p:spPr>
      </p:sp>
      <p:pic>
        <p:nvPicPr>
          <p:cNvPr id="19" name="Image 1" descr="Astuce">    </p:cNvPr>
          <p:cNvPicPr>
            <a:picLocks noChangeAspect="1"/>
          </p:cNvPicPr>
          <p:nvPr/>
        </p:nvPicPr>
        <p:blipFill>
          <a:blip r:embed="rId2"/>
          <a:stretch>
            <a:fillRect/>
          </a:stretch>
        </p:blipFill>
        <p:spPr>
          <a:xfrm>
            <a:off x="749808" y="4754880"/>
            <a:ext cx="347472" cy="347472"/>
          </a:xfrm>
          <a:prstGeom prst="rect">
            <a:avLst/>
          </a:prstGeom>
        </p:spPr>
      </p:pic>
      <p:sp>
        <p:nvSpPr>
          <p:cNvPr id="20" name="Text 15"/>
          <p:cNvSpPr txBox="1"/>
          <p:nvPr/>
        </p:nvSpPr>
        <p:spPr>
          <a:xfrm>
            <a:off x="1261872" y="4718304"/>
            <a:ext cx="4224528" cy="731520"/>
          </a:xfrm>
          <a:prstGeom prst="rect">
            <a:avLst/>
          </a:prstGeom>
          <a:noFill/>
          <a:ln/>
        </p:spPr>
        <p:txBody>
          <a:bodyPr wrap="square" lIns="0" tIns="0" rIns="0" bIns="0" rtlCol="0" anchor="ctr"/>
          <a:lstStyle/>
          <a:p>
            <a:pPr indent="0" marL="0">
              <a:buNone/>
            </a:pPr>
            <a:r>
              <a:rPr lang="en-US" sz="1400" b="1" dirty="0">
                <a:solidFill>
                  <a:srgbClr val="1E8E3E"/>
                </a:solidFill>
              </a:rPr>
              <a:t>Astuce : </a:t>
            </a:r>
            <a:pPr indent="0" marL="0">
              <a:buNone/>
            </a:pPr>
            <a:r>
              <a:rPr lang="en-US" sz="1400" dirty="0">
                <a:solidFill>
                  <a:srgbClr val="1B2340"/>
                </a:solidFill>
              </a:rPr>
              <a:t>pas de Hello World ? Vérifie que ton numéro est bien validé dans « À ».</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Créer un modèle de message</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877F2"/>
          </a:solidFill>
          <a:ln w="12700">
            <a:solidFill>
              <a:srgbClr val="1877F2"/>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3 · META</a:t>
            </a:r>
            <a:endParaRPr lang="en-US" sz="1200" dirty="0"/>
          </a:p>
        </p:txBody>
      </p:sp>
      <p:sp>
        <p:nvSpPr>
          <p:cNvPr id="5" name="numéro 1"/>
          <p:cNvSpPr/>
          <p:nvPr/>
        </p:nvSpPr>
        <p:spPr>
          <a:xfrm>
            <a:off x="548640" y="1435608"/>
            <a:ext cx="402336" cy="402336"/>
          </a:xfrm>
          <a:prstGeom prst="ellipse">
            <a:avLst/>
          </a:prstGeom>
          <a:solidFill>
            <a:srgbClr val="1877F2"/>
          </a:solidFill>
          <a:ln w="12700">
            <a:solidFill>
              <a:srgbClr val="1877F2"/>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833872" cy="701040"/>
          </a:xfrm>
          <a:prstGeom prst="rect">
            <a:avLst/>
          </a:prstGeom>
          <a:noFill/>
          <a:ln/>
        </p:spPr>
        <p:txBody>
          <a:bodyPr wrap="square" lIns="0" tIns="0" rIns="0" bIns="0" rtlCol="0" anchor="t"/>
          <a:lstStyle/>
          <a:p>
            <a:pPr indent="0" marL="0">
              <a:buNone/>
            </a:pPr>
            <a:r>
              <a:rPr lang="en-US" sz="1400" b="1" dirty="0">
                <a:solidFill>
                  <a:srgbClr val="1B2340"/>
                </a:solidFill>
              </a:rPr>
              <a:t>WhatsApp Manager → Modèles de message → Créer un modèle</a:t>
            </a:r>
            <a:pPr indent="0" marL="0">
              <a:buNone/>
            </a:pPr>
            <a:r>
              <a:rPr lang="en-US" sz="1400" dirty="0">
                <a:solidFill>
                  <a:srgbClr val="3A4566"/>
                </a:solidFill>
              </a:rPr>
              <a:t>  (business.facebook.com/wa/manage/message-templates).</a:t>
            </a:r>
            <a:endParaRPr lang="en-US" sz="1400" dirty="0"/>
          </a:p>
        </p:txBody>
      </p:sp>
      <p:sp>
        <p:nvSpPr>
          <p:cNvPr id="8" name="numéro 2"/>
          <p:cNvSpPr/>
          <p:nvPr/>
        </p:nvSpPr>
        <p:spPr>
          <a:xfrm>
            <a:off x="548640" y="2246376"/>
            <a:ext cx="402336" cy="402336"/>
          </a:xfrm>
          <a:prstGeom prst="ellipse">
            <a:avLst/>
          </a:prstGeom>
          <a:solidFill>
            <a:srgbClr val="1877F2"/>
          </a:solidFill>
          <a:ln w="12700">
            <a:solidFill>
              <a:srgbClr val="1877F2"/>
            </a:solidFill>
            <a:prstDash val="solid"/>
          </a:ln>
        </p:spPr>
      </p:sp>
      <p:sp>
        <p:nvSpPr>
          <p:cNvPr id="9" name="Text 7"/>
          <p:cNvSpPr txBox="1"/>
          <p:nvPr/>
        </p:nvSpPr>
        <p:spPr>
          <a:xfrm>
            <a:off x="548640" y="22463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228088"/>
            <a:ext cx="5833872" cy="701040"/>
          </a:xfrm>
          <a:prstGeom prst="rect">
            <a:avLst/>
          </a:prstGeom>
          <a:noFill/>
          <a:ln/>
        </p:spPr>
        <p:txBody>
          <a:bodyPr wrap="square" lIns="0" tIns="0" rIns="0" bIns="0" rtlCol="0" anchor="t"/>
          <a:lstStyle/>
          <a:p>
            <a:pPr indent="0" marL="0">
              <a:buNone/>
            </a:pPr>
            <a:r>
              <a:rPr lang="en-US" sz="1400" b="1" dirty="0">
                <a:solidFill>
                  <a:srgbClr val="1B2340"/>
                </a:solidFill>
              </a:rPr>
              <a:t>En haut, vérifie le compte :</a:t>
            </a:r>
            <a:pPr indent="0" marL="0">
              <a:buNone/>
            </a:pPr>
            <a:r>
              <a:rPr lang="en-US" sz="1400" dirty="0">
                <a:solidFill>
                  <a:srgbClr val="3A4566"/>
                </a:solidFill>
              </a:rPr>
              <a:t>  Test WhatsApp Business Account.</a:t>
            </a:r>
            <a:endParaRPr lang="en-US" sz="1400" dirty="0"/>
          </a:p>
        </p:txBody>
      </p:sp>
      <p:sp>
        <p:nvSpPr>
          <p:cNvPr id="11" name="numéro 3"/>
          <p:cNvSpPr/>
          <p:nvPr/>
        </p:nvSpPr>
        <p:spPr>
          <a:xfrm>
            <a:off x="548640" y="3057144"/>
            <a:ext cx="402336" cy="402336"/>
          </a:xfrm>
          <a:prstGeom prst="ellipse">
            <a:avLst/>
          </a:prstGeom>
          <a:solidFill>
            <a:srgbClr val="1877F2"/>
          </a:solidFill>
          <a:ln w="12700">
            <a:solidFill>
              <a:srgbClr val="1877F2"/>
            </a:solidFill>
            <a:prstDash val="solid"/>
          </a:ln>
        </p:spPr>
      </p:sp>
      <p:sp>
        <p:nvSpPr>
          <p:cNvPr id="12" name="Text 10"/>
          <p:cNvSpPr txBox="1"/>
          <p:nvPr/>
        </p:nvSpPr>
        <p:spPr>
          <a:xfrm>
            <a:off x="548640" y="30571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038856"/>
            <a:ext cx="5833872" cy="701040"/>
          </a:xfrm>
          <a:prstGeom prst="rect">
            <a:avLst/>
          </a:prstGeom>
          <a:noFill/>
          <a:ln/>
        </p:spPr>
        <p:txBody>
          <a:bodyPr wrap="square" lIns="0" tIns="0" rIns="0" bIns="0" rtlCol="0" anchor="t"/>
          <a:lstStyle/>
          <a:p>
            <a:pPr indent="0" marL="0">
              <a:buNone/>
            </a:pPr>
            <a:r>
              <a:rPr lang="en-US" sz="1400" b="1" dirty="0">
                <a:solidFill>
                  <a:srgbClr val="1B2340"/>
                </a:solidFill>
              </a:rPr>
              <a:t>Catégorie Utilitaire, type Par défaut</a:t>
            </a:r>
            <a:pPr indent="0" marL="0">
              <a:buNone/>
            </a:pPr>
            <a:r>
              <a:rPr lang="en-US" sz="1400" dirty="0">
                <a:solidFill>
                  <a:srgbClr val="3A4566"/>
                </a:solidFill>
              </a:rPr>
              <a:t>  → Suivant.</a:t>
            </a:r>
            <a:endParaRPr lang="en-US" sz="1400" dirty="0"/>
          </a:p>
        </p:txBody>
      </p:sp>
      <p:sp>
        <p:nvSpPr>
          <p:cNvPr id="14" name="numéro 4"/>
          <p:cNvSpPr/>
          <p:nvPr/>
        </p:nvSpPr>
        <p:spPr>
          <a:xfrm>
            <a:off x="548640" y="3867912"/>
            <a:ext cx="402336" cy="402336"/>
          </a:xfrm>
          <a:prstGeom prst="ellipse">
            <a:avLst/>
          </a:prstGeom>
          <a:solidFill>
            <a:srgbClr val="1877F2"/>
          </a:solidFill>
          <a:ln w="12700">
            <a:solidFill>
              <a:srgbClr val="1877F2"/>
            </a:solidFill>
            <a:prstDash val="solid"/>
          </a:ln>
        </p:spPr>
      </p:sp>
      <p:sp>
        <p:nvSpPr>
          <p:cNvPr id="15" name="Text 13"/>
          <p:cNvSpPr txBox="1"/>
          <p:nvPr/>
        </p:nvSpPr>
        <p:spPr>
          <a:xfrm>
            <a:off x="548640" y="38679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3849624"/>
            <a:ext cx="5833872" cy="701040"/>
          </a:xfrm>
          <a:prstGeom prst="rect">
            <a:avLst/>
          </a:prstGeom>
          <a:noFill/>
          <a:ln/>
        </p:spPr>
        <p:txBody>
          <a:bodyPr wrap="square" lIns="0" tIns="0" rIns="0" bIns="0" rtlCol="0" anchor="t"/>
          <a:lstStyle/>
          <a:p>
            <a:pPr indent="0" marL="0">
              <a:buNone/>
            </a:pPr>
            <a:r>
              <a:rPr lang="en-US" sz="1400" b="1" dirty="0">
                <a:solidFill>
                  <a:srgbClr val="1B2340"/>
                </a:solidFill>
              </a:rPr>
              <a:t>Nom exact (minuscules et tiret bas), langue Français.</a:t>
            </a:r>
            <a:endParaRPr lang="en-US" sz="1400" dirty="0"/>
          </a:p>
        </p:txBody>
      </p:sp>
      <p:sp>
        <p:nvSpPr>
          <p:cNvPr id="17" name="numéro 5"/>
          <p:cNvSpPr/>
          <p:nvPr/>
        </p:nvSpPr>
        <p:spPr>
          <a:xfrm>
            <a:off x="548640" y="4678680"/>
            <a:ext cx="402336" cy="402336"/>
          </a:xfrm>
          <a:prstGeom prst="ellipse">
            <a:avLst/>
          </a:prstGeom>
          <a:solidFill>
            <a:srgbClr val="1877F2"/>
          </a:solidFill>
          <a:ln w="12700">
            <a:solidFill>
              <a:srgbClr val="1877F2"/>
            </a:solidFill>
            <a:prstDash val="solid"/>
          </a:ln>
        </p:spPr>
      </p:sp>
      <p:sp>
        <p:nvSpPr>
          <p:cNvPr id="18" name="Text 16"/>
          <p:cNvSpPr txBox="1"/>
          <p:nvPr/>
        </p:nvSpPr>
        <p:spPr>
          <a:xfrm>
            <a:off x="548640" y="4678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9" name="Text 17"/>
          <p:cNvSpPr txBox="1"/>
          <p:nvPr/>
        </p:nvSpPr>
        <p:spPr>
          <a:xfrm>
            <a:off x="1115568" y="4660392"/>
            <a:ext cx="5833872" cy="701040"/>
          </a:xfrm>
          <a:prstGeom prst="rect">
            <a:avLst/>
          </a:prstGeom>
          <a:noFill/>
          <a:ln/>
        </p:spPr>
        <p:txBody>
          <a:bodyPr wrap="square" lIns="0" tIns="0" rIns="0" bIns="0" rtlCol="0" anchor="t"/>
          <a:lstStyle/>
          <a:p>
            <a:pPr indent="0" marL="0">
              <a:buNone/>
            </a:pPr>
            <a:r>
              <a:rPr lang="en-US" sz="1400" b="1" dirty="0">
                <a:solidFill>
                  <a:srgbClr val="1B2340"/>
                </a:solidFill>
              </a:rPr>
              <a:t>Type de variable : Valeur numérique.</a:t>
            </a:r>
            <a:pPr indent="0" marL="0">
              <a:buNone/>
            </a:pPr>
            <a:r>
              <a:rPr lang="en-US" sz="1400" dirty="0">
                <a:solidFill>
                  <a:srgbClr val="3A4566"/>
                </a:solidFill>
              </a:rPr>
              <a:t>  Titre sans variable. Colle le texte dans le Corps.</a:t>
            </a:r>
            <a:endParaRPr lang="en-US" sz="1400" dirty="0"/>
          </a:p>
        </p:txBody>
      </p:sp>
      <p:sp>
        <p:nvSpPr>
          <p:cNvPr id="20" name="numéro 6"/>
          <p:cNvSpPr/>
          <p:nvPr/>
        </p:nvSpPr>
        <p:spPr>
          <a:xfrm>
            <a:off x="548640" y="5489448"/>
            <a:ext cx="402336" cy="402336"/>
          </a:xfrm>
          <a:prstGeom prst="ellipse">
            <a:avLst/>
          </a:prstGeom>
          <a:solidFill>
            <a:srgbClr val="1877F2"/>
          </a:solidFill>
          <a:ln w="12700">
            <a:solidFill>
              <a:srgbClr val="1877F2"/>
            </a:solidFill>
            <a:prstDash val="solid"/>
          </a:ln>
        </p:spPr>
      </p:sp>
      <p:sp>
        <p:nvSpPr>
          <p:cNvPr id="21" name="Text 19"/>
          <p:cNvSpPr txBox="1"/>
          <p:nvPr/>
        </p:nvSpPr>
        <p:spPr>
          <a:xfrm>
            <a:off x="548640" y="54894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2" name="Text 20"/>
          <p:cNvSpPr txBox="1"/>
          <p:nvPr/>
        </p:nvSpPr>
        <p:spPr>
          <a:xfrm>
            <a:off x="1115568" y="5471160"/>
            <a:ext cx="5833872" cy="701040"/>
          </a:xfrm>
          <a:prstGeom prst="rect">
            <a:avLst/>
          </a:prstGeom>
          <a:noFill/>
          <a:ln/>
        </p:spPr>
        <p:txBody>
          <a:bodyPr wrap="square" lIns="0" tIns="0" rIns="0" bIns="0" rtlCol="0" anchor="t"/>
          <a:lstStyle/>
          <a:p>
            <a:pPr indent="0" marL="0">
              <a:buNone/>
            </a:pPr>
            <a:r>
              <a:rPr lang="en-US" sz="1400" b="1" dirty="0">
                <a:solidFill>
                  <a:srgbClr val="1B2340"/>
                </a:solidFill>
              </a:rPr>
              <a:t>Un exemple pour chaque {{1}}, {{2}}…</a:t>
            </a:r>
            <a:pPr indent="0" marL="0">
              <a:buNone/>
            </a:pPr>
            <a:r>
              <a:rPr lang="en-US" sz="1400" dirty="0">
                <a:solidFill>
                  <a:srgbClr val="3A4566"/>
                </a:solidFill>
              </a:rPr>
              <a:t>  puis Soumettre à examen.</a:t>
            </a:r>
            <a:endParaRPr lang="en-US" sz="1400" dirty="0"/>
          </a:p>
        </p:txBody>
      </p:sp>
      <p:sp>
        <p:nvSpPr>
          <p:cNvPr id="23" name="carte"/>
          <p:cNvSpPr/>
          <p:nvPr/>
        </p:nvSpPr>
        <p:spPr>
          <a:xfrm>
            <a:off x="7223760" y="1463040"/>
            <a:ext cx="4416552" cy="4617720"/>
          </a:xfrm>
          <a:prstGeom prst="roundRect">
            <a:avLst>
              <a:gd name="adj" fmla="val 3106"/>
            </a:avLst>
          </a:prstGeom>
          <a:solidFill>
            <a:srgbClr val="FFF4D6"/>
          </a:solidFill>
          <a:ln w="12700">
            <a:solidFill>
              <a:srgbClr val="FFF4D6"/>
            </a:solidFill>
            <a:prstDash val="solid"/>
          </a:ln>
        </p:spPr>
      </p:sp>
      <p:sp>
        <p:nvSpPr>
          <p:cNvPr id="24" name="Text 22"/>
          <p:cNvSpPr txBox="1"/>
          <p:nvPr/>
        </p:nvSpPr>
        <p:spPr>
          <a:xfrm>
            <a:off x="7498080" y="1645920"/>
            <a:ext cx="3657600" cy="457200"/>
          </a:xfrm>
          <a:prstGeom prst="rect">
            <a:avLst/>
          </a:prstGeom>
          <a:noFill/>
          <a:ln/>
        </p:spPr>
        <p:txBody>
          <a:bodyPr wrap="square" lIns="0" tIns="0" rIns="0" bIns="0" rtlCol="0" anchor="t"/>
          <a:lstStyle/>
          <a:p>
            <a:pPr indent="0" marL="0">
              <a:buNone/>
            </a:pPr>
            <a:r>
              <a:rPr lang="en-US" sz="2000" b="1" dirty="0">
                <a:solidFill>
                  <a:srgbClr val="B26A00"/>
                </a:solidFill>
              </a:rPr>
              <a:t>Règles d'or</a:t>
            </a:r>
            <a:endParaRPr lang="en-US" sz="2000" dirty="0"/>
          </a:p>
        </p:txBody>
      </p:sp>
      <p:pic>
        <p:nvPicPr>
          <p:cNvPr id="25" name="Image 0" descr="règle">    </p:cNvPr>
          <p:cNvPicPr>
            <a:picLocks noChangeAspect="1"/>
          </p:cNvPicPr>
          <p:nvPr/>
        </p:nvPicPr>
        <p:blipFill>
          <a:blip r:embed="rId1"/>
          <a:stretch>
            <a:fillRect/>
          </a:stretch>
        </p:blipFill>
        <p:spPr>
          <a:xfrm>
            <a:off x="7498080" y="2231136"/>
            <a:ext cx="292608" cy="292608"/>
          </a:xfrm>
          <a:prstGeom prst="rect">
            <a:avLst/>
          </a:prstGeom>
        </p:spPr>
      </p:pic>
      <p:sp>
        <p:nvSpPr>
          <p:cNvPr id="26" name="Text 23"/>
          <p:cNvSpPr txBox="1"/>
          <p:nvPr/>
        </p:nvSpPr>
        <p:spPr>
          <a:xfrm>
            <a:off x="7909560" y="2194560"/>
            <a:ext cx="3520440" cy="548640"/>
          </a:xfrm>
          <a:prstGeom prst="rect">
            <a:avLst/>
          </a:prstGeom>
          <a:noFill/>
          <a:ln/>
        </p:spPr>
        <p:txBody>
          <a:bodyPr wrap="square" lIns="0" tIns="0" rIns="0" bIns="0" rtlCol="0" anchor="t"/>
          <a:lstStyle/>
          <a:p>
            <a:pPr indent="0" marL="0">
              <a:buNone/>
            </a:pPr>
            <a:r>
              <a:rPr lang="en-US" sz="1400" dirty="0">
                <a:solidFill>
                  <a:srgbClr val="1B2340"/>
                </a:solidFill>
              </a:rPr>
              <a:t>Toujours Utilitaire, jamais Marketing</a:t>
            </a:r>
            <a:endParaRPr lang="en-US" sz="1400" dirty="0"/>
          </a:p>
        </p:txBody>
      </p:sp>
      <p:pic>
        <p:nvPicPr>
          <p:cNvPr id="27" name="Image 1" descr="règle">    </p:cNvPr>
          <p:cNvPicPr>
            <a:picLocks noChangeAspect="1"/>
          </p:cNvPicPr>
          <p:nvPr/>
        </p:nvPicPr>
        <p:blipFill>
          <a:blip r:embed="rId2"/>
          <a:stretch>
            <a:fillRect/>
          </a:stretch>
        </p:blipFill>
        <p:spPr>
          <a:xfrm>
            <a:off x="7498080" y="2852928"/>
            <a:ext cx="292608" cy="292608"/>
          </a:xfrm>
          <a:prstGeom prst="rect">
            <a:avLst/>
          </a:prstGeom>
        </p:spPr>
      </p:pic>
      <p:sp>
        <p:nvSpPr>
          <p:cNvPr id="28" name="Text 24"/>
          <p:cNvSpPr txBox="1"/>
          <p:nvPr/>
        </p:nvSpPr>
        <p:spPr>
          <a:xfrm>
            <a:off x="7909560" y="2816352"/>
            <a:ext cx="3520440" cy="548640"/>
          </a:xfrm>
          <a:prstGeom prst="rect">
            <a:avLst/>
          </a:prstGeom>
          <a:noFill/>
          <a:ln/>
        </p:spPr>
        <p:txBody>
          <a:bodyPr wrap="square" lIns="0" tIns="0" rIns="0" bIns="0" rtlCol="0" anchor="t"/>
          <a:lstStyle/>
          <a:p>
            <a:pPr indent="0" marL="0">
              <a:buNone/>
            </a:pPr>
            <a:r>
              <a:rPr lang="en-US" sz="1400" dirty="0">
                <a:solidFill>
                  <a:srgbClr val="1B2340"/>
                </a:solidFill>
              </a:rPr>
              <a:t>Aucun bouton</a:t>
            </a:r>
            <a:endParaRPr lang="en-US" sz="1400" dirty="0"/>
          </a:p>
        </p:txBody>
      </p:sp>
      <p:pic>
        <p:nvPicPr>
          <p:cNvPr id="29" name="Image 2" descr="règle">    </p:cNvPr>
          <p:cNvPicPr>
            <a:picLocks noChangeAspect="1"/>
          </p:cNvPicPr>
          <p:nvPr/>
        </p:nvPicPr>
        <p:blipFill>
          <a:blip r:embed="rId3"/>
          <a:stretch>
            <a:fillRect/>
          </a:stretch>
        </p:blipFill>
        <p:spPr>
          <a:xfrm>
            <a:off x="7498080" y="3474720"/>
            <a:ext cx="292608" cy="292608"/>
          </a:xfrm>
          <a:prstGeom prst="rect">
            <a:avLst/>
          </a:prstGeom>
        </p:spPr>
      </p:pic>
      <p:sp>
        <p:nvSpPr>
          <p:cNvPr id="30" name="Text 25"/>
          <p:cNvSpPr txBox="1"/>
          <p:nvPr/>
        </p:nvSpPr>
        <p:spPr>
          <a:xfrm>
            <a:off x="7909560" y="3438144"/>
            <a:ext cx="3520440" cy="548640"/>
          </a:xfrm>
          <a:prstGeom prst="rect">
            <a:avLst/>
          </a:prstGeom>
          <a:noFill/>
          <a:ln/>
        </p:spPr>
        <p:txBody>
          <a:bodyPr wrap="square" lIns="0" tIns="0" rIns="0" bIns="0" rtlCol="0" anchor="t"/>
          <a:lstStyle/>
          <a:p>
            <a:pPr indent="0" marL="0">
              <a:buNone/>
            </a:pPr>
            <a:r>
              <a:rPr lang="en-US" sz="1400" dirty="0">
                <a:solidFill>
                  <a:srgbClr val="1B2340"/>
                </a:solidFill>
              </a:rPr>
              <a:t>Pas de variable dans le titre</a:t>
            </a:r>
            <a:endParaRPr lang="en-US" sz="1400" dirty="0"/>
          </a:p>
        </p:txBody>
      </p:sp>
      <p:pic>
        <p:nvPicPr>
          <p:cNvPr id="31" name="Image 3" descr="règle">    </p:cNvPr>
          <p:cNvPicPr>
            <a:picLocks noChangeAspect="1"/>
          </p:cNvPicPr>
          <p:nvPr/>
        </p:nvPicPr>
        <p:blipFill>
          <a:blip r:embed="rId4"/>
          <a:stretch>
            <a:fillRect/>
          </a:stretch>
        </p:blipFill>
        <p:spPr>
          <a:xfrm>
            <a:off x="7498080" y="4096512"/>
            <a:ext cx="292608" cy="292608"/>
          </a:xfrm>
          <a:prstGeom prst="rect">
            <a:avLst/>
          </a:prstGeom>
        </p:spPr>
      </p:pic>
      <p:sp>
        <p:nvSpPr>
          <p:cNvPr id="32" name="Text 26"/>
          <p:cNvSpPr txBox="1"/>
          <p:nvPr/>
        </p:nvSpPr>
        <p:spPr>
          <a:xfrm>
            <a:off x="7909560" y="4059936"/>
            <a:ext cx="3520440" cy="548640"/>
          </a:xfrm>
          <a:prstGeom prst="rect">
            <a:avLst/>
          </a:prstGeom>
          <a:noFill/>
          <a:ln/>
        </p:spPr>
        <p:txBody>
          <a:bodyPr wrap="square" lIns="0" tIns="0" rIns="0" bIns="0" rtlCol="0" anchor="t"/>
          <a:lstStyle/>
          <a:p>
            <a:pPr indent="0" marL="0">
              <a:buNone/>
            </a:pPr>
            <a:r>
              <a:rPr lang="en-US" sz="1400" dirty="0">
                <a:solidFill>
                  <a:srgbClr val="1B2340"/>
                </a:solidFill>
              </a:rPr>
              <a:t>Le nom exactement comme dans le fichier</a:t>
            </a:r>
            <a:endParaRPr lang="en-US" sz="1400" dirty="0"/>
          </a:p>
        </p:txBody>
      </p:sp>
      <p:pic>
        <p:nvPicPr>
          <p:cNvPr id="33" name="Image 4" descr="règle">    </p:cNvPr>
          <p:cNvPicPr>
            <a:picLocks noChangeAspect="1"/>
          </p:cNvPicPr>
          <p:nvPr/>
        </p:nvPicPr>
        <p:blipFill>
          <a:blip r:embed="rId5"/>
          <a:stretch>
            <a:fillRect/>
          </a:stretch>
        </p:blipFill>
        <p:spPr>
          <a:xfrm>
            <a:off x="7498080" y="4718304"/>
            <a:ext cx="292608" cy="292608"/>
          </a:xfrm>
          <a:prstGeom prst="rect">
            <a:avLst/>
          </a:prstGeom>
        </p:spPr>
      </p:pic>
      <p:sp>
        <p:nvSpPr>
          <p:cNvPr id="34" name="Text 27"/>
          <p:cNvSpPr txBox="1"/>
          <p:nvPr/>
        </p:nvSpPr>
        <p:spPr>
          <a:xfrm>
            <a:off x="7909560" y="4681728"/>
            <a:ext cx="3520440" cy="1097280"/>
          </a:xfrm>
          <a:prstGeom prst="rect">
            <a:avLst/>
          </a:prstGeom>
          <a:noFill/>
          <a:ln/>
        </p:spPr>
        <p:txBody>
          <a:bodyPr wrap="square" lIns="0" tIns="0" rIns="0" bIns="0" rtlCol="0" anchor="t"/>
          <a:lstStyle/>
          <a:p>
            <a:pPr indent="0" marL="0">
              <a:buNone/>
            </a:pPr>
            <a:r>
              <a:rPr lang="en-US" sz="1400" dirty="0">
                <a:solidFill>
                  <a:srgbClr val="1B2340"/>
                </a:solidFill>
              </a:rPr>
              <a:t>Pas de mots qui sonnent « pub » (ex. « recommander ») : Meta passe le modèle en Marketing, plus cher</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Les 6 modèles à créer</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877F2"/>
          </a:solidFill>
          <a:ln w="12700">
            <a:solidFill>
              <a:srgbClr val="1877F2"/>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3 · META</a:t>
            </a:r>
            <a:endParaRPr lang="en-US" sz="1200" dirty="0"/>
          </a:p>
        </p:txBody>
      </p:sp>
      <p:graphicFrame>
        <p:nvGraphicFramePr>
          <p:cNvPr id="22"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651760"/>
                <a:gridCol w="1371600"/>
                <a:gridCol w="1280160"/>
                <a:gridCol w="1371600"/>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Nom du modèle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Utilisé par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Variables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Envoyé à</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r>
              <a:tr h="530352">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nouvelle_commande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Stock 1</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confirmation_commande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Stock 1</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client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530352">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alerte_stock_bas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Stock 1</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bilan_du_soir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Stock 2</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530352">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arrivage_stock</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Stock 3</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stock_du_matin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Stock 4</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patron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bl>
          </a:graphicData>
        </a:graphic>
      </p:graphicFrame>
      <p:sp>
        <p:nvSpPr>
          <p:cNvPr id="6" name="Text 3"/>
          <p:cNvSpPr txBox="1"/>
          <p:nvPr/>
        </p:nvSpPr>
        <p:spPr>
          <a:xfrm>
            <a:off x="548640" y="5349240"/>
            <a:ext cx="6675120" cy="731520"/>
          </a:xfrm>
          <a:prstGeom prst="rect">
            <a:avLst/>
          </a:prstGeom>
          <a:noFill/>
          <a:ln/>
        </p:spPr>
        <p:txBody>
          <a:bodyPr wrap="square" lIns="0" tIns="0" rIns="0" bIns="0" rtlCol="0" anchor="t"/>
          <a:lstStyle/>
          <a:p>
            <a:pPr indent="0" marL="0">
              <a:buNone/>
            </a:pPr>
            <a:r>
              <a:rPr lang="en-US" sz="1400" dirty="0">
                <a:solidFill>
                  <a:srgbClr val="3A4566"/>
                </a:solidFill>
              </a:rPr>
              <a:t>Les textes complets et les exemples sont dans modeles_whatsapp_meta.md : copie-colle, ne retape pas.</a:t>
            </a:r>
            <a:endParaRPr lang="en-US" sz="1400" dirty="0"/>
          </a:p>
        </p:txBody>
      </p:sp>
      <p:sp>
        <p:nvSpPr>
          <p:cNvPr id="7" name="carte"/>
          <p:cNvSpPr/>
          <p:nvPr/>
        </p:nvSpPr>
        <p:spPr>
          <a:xfrm>
            <a:off x="7589520" y="1417320"/>
            <a:ext cx="4050792" cy="4663440"/>
          </a:xfrm>
          <a:prstGeom prst="roundRect">
            <a:avLst>
              <a:gd name="adj" fmla="val 3386"/>
            </a:avLst>
          </a:prstGeom>
          <a:solidFill>
            <a:srgbClr val="E7F6EF"/>
          </a:solidFill>
          <a:ln w="12700">
            <a:solidFill>
              <a:srgbClr val="E7F6EF"/>
            </a:solidFill>
            <a:prstDash val="solid"/>
          </a:ln>
        </p:spPr>
      </p:sp>
      <p:sp>
        <p:nvSpPr>
          <p:cNvPr id="8" name="Text 5"/>
          <p:cNvSpPr txBox="1"/>
          <p:nvPr/>
        </p:nvSpPr>
        <p:spPr>
          <a:xfrm>
            <a:off x="7818120" y="1554480"/>
            <a:ext cx="3657600" cy="365760"/>
          </a:xfrm>
          <a:prstGeom prst="rect">
            <a:avLst/>
          </a:prstGeom>
          <a:noFill/>
          <a:ln/>
        </p:spPr>
        <p:txBody>
          <a:bodyPr wrap="square" lIns="0" tIns="0" rIns="0" bIns="0" rtlCol="0" anchor="t"/>
          <a:lstStyle/>
          <a:p>
            <a:pPr indent="0" marL="0">
              <a:buNone/>
            </a:pPr>
            <a:r>
              <a:rPr lang="en-US" sz="1300" b="1" dirty="0">
                <a:solidFill>
                  <a:srgbClr val="128C7E"/>
                </a:solidFill>
              </a:rPr>
              <a:t>Ce que reçoit le patron</a:t>
            </a:r>
            <a:endParaRPr lang="en-US" sz="1300" dirty="0"/>
          </a:p>
        </p:txBody>
      </p:sp>
      <p:sp>
        <p:nvSpPr>
          <p:cNvPr id="9" name="bulle WhatsApp"/>
          <p:cNvSpPr/>
          <p:nvPr/>
        </p:nvSpPr>
        <p:spPr>
          <a:xfrm>
            <a:off x="7818120" y="2011680"/>
            <a:ext cx="3593592" cy="1828800"/>
          </a:xfrm>
          <a:prstGeom prst="roundRect">
            <a:avLst>
              <a:gd name="adj" fmla="val 6000"/>
            </a:avLst>
          </a:prstGeom>
          <a:solidFill>
            <a:srgbClr val="FFFFFF"/>
          </a:solidFill>
          <a:ln w="12700">
            <a:solidFill>
              <a:srgbClr val="E2E8F0"/>
            </a:solidFill>
            <a:prstDash val="solid"/>
          </a:ln>
          <a:effectLst>
            <a:outerShdw sx="100000" sy="100000" kx="0" ky="0" algn="bl" rotWithShape="0" blurRad="50800" dist="12700" dir="5400000">
              <a:srgbClr val="000000">
                <a:alpha val="12000"/>
              </a:srgbClr>
            </a:outerShdw>
          </a:effectLst>
        </p:spPr>
      </p:sp>
      <p:sp>
        <p:nvSpPr>
          <p:cNvPr id="10" name="Text 7"/>
          <p:cNvSpPr txBox="1"/>
          <p:nvPr/>
        </p:nvSpPr>
        <p:spPr>
          <a:xfrm>
            <a:off x="7955280" y="2121408"/>
            <a:ext cx="3319272" cy="1609344"/>
          </a:xfrm>
          <a:prstGeom prst="rect">
            <a:avLst/>
          </a:prstGeom>
          <a:noFill/>
          <a:ln/>
        </p:spPr>
        <p:txBody>
          <a:bodyPr wrap="square" lIns="0" tIns="0" rIns="0" bIns="0" rtlCol="0" anchor="t"/>
          <a:lstStyle/>
          <a:p>
            <a:pPr indent="0" marL="0">
              <a:buNone/>
            </a:pPr>
            <a:r>
              <a:rPr lang="en-US" sz="1200" b="1" dirty="0">
                <a:solidFill>
                  <a:srgbClr val="1B2340"/>
                </a:solidFill>
              </a:rPr>
              <a:t>Nouvelle commande</a:t>
            </a:r>
            <a:endParaRPr lang="en-US" sz="1200" dirty="0"/>
          </a:p>
          <a:p>
            <a:pPr indent="0" marL="0">
              <a:buNone/>
            </a:pPr>
            <a:r>
              <a:rPr lang="en-US" sz="1200" dirty="0">
                <a:solidFill>
                  <a:srgbClr val="1B2340"/>
                </a:solidFill>
              </a:rPr>
              <a:t>Nouvelle commande reçue. Client : Jean (0810000000). Produit : Riz 25 kg, quantité 2. Montant : 72. Adresse : Gombe. Stock restant : 18 sacs. Bonne journée !</a:t>
            </a:r>
            <a:endParaRPr lang="en-US" sz="1200" dirty="0"/>
          </a:p>
        </p:txBody>
      </p:sp>
      <p:sp>
        <p:nvSpPr>
          <p:cNvPr id="11" name="Text 8"/>
          <p:cNvSpPr txBox="1"/>
          <p:nvPr/>
        </p:nvSpPr>
        <p:spPr>
          <a:xfrm>
            <a:off x="7818120" y="4069080"/>
            <a:ext cx="3593592" cy="1371600"/>
          </a:xfrm>
          <a:prstGeom prst="rect">
            <a:avLst/>
          </a:prstGeom>
          <a:noFill/>
          <a:ln/>
        </p:spPr>
        <p:txBody>
          <a:bodyPr wrap="square" lIns="0" tIns="0" rIns="0" bIns="0" rtlCol="0" anchor="t"/>
          <a:lstStyle/>
          <a:p>
            <a:pPr indent="0" marL="0">
              <a:buNone/>
            </a:pPr>
            <a:r>
              <a:rPr lang="en-US" sz="1200" dirty="0">
                <a:solidFill>
                  <a:srgbClr val="3A4566"/>
                </a:solidFill>
              </a:rPr>
              <a:t>Exemple avec les valeurs de test : n8n met « Jean », « Riz 25 kg »… à la place de {{1}}, {{2}}…</a:t>
            </a:r>
            <a:endParaRPr lang="en-US" sz="12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 token permanent</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877F2"/>
          </a:solidFill>
          <a:ln w="12700">
            <a:solidFill>
              <a:srgbClr val="1877F2"/>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3 · META</a:t>
            </a:r>
            <a:endParaRPr lang="en-US" sz="1200" dirty="0"/>
          </a:p>
        </p:txBody>
      </p:sp>
      <p:sp>
        <p:nvSpPr>
          <p:cNvPr id="5" name="numéro 1"/>
          <p:cNvSpPr/>
          <p:nvPr/>
        </p:nvSpPr>
        <p:spPr>
          <a:xfrm>
            <a:off x="548640" y="1435608"/>
            <a:ext cx="402336" cy="402336"/>
          </a:xfrm>
          <a:prstGeom prst="ellipse">
            <a:avLst/>
          </a:prstGeom>
          <a:solidFill>
            <a:srgbClr val="1877F2"/>
          </a:solidFill>
          <a:ln w="12700">
            <a:solidFill>
              <a:srgbClr val="1877F2"/>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833872" cy="701040"/>
          </a:xfrm>
          <a:prstGeom prst="rect">
            <a:avLst/>
          </a:prstGeom>
          <a:noFill/>
          <a:ln/>
        </p:spPr>
        <p:txBody>
          <a:bodyPr wrap="square" lIns="0" tIns="0" rIns="0" bIns="0" rtlCol="0" anchor="t"/>
          <a:lstStyle/>
          <a:p>
            <a:pPr indent="0" marL="0">
              <a:buNone/>
            </a:pPr>
            <a:r>
              <a:rPr lang="en-US" sz="1400" b="1" dirty="0">
                <a:solidFill>
                  <a:srgbClr val="1B2340"/>
                </a:solidFill>
              </a:rPr>
              <a:t>business.facebook.com/settings → Utilisateurs système → Ajouter :</a:t>
            </a:r>
            <a:pPr indent="0" marL="0">
              <a:buNone/>
            </a:pPr>
            <a:r>
              <a:rPr lang="en-US" sz="1400" dirty="0">
                <a:solidFill>
                  <a:srgbClr val="3A4566"/>
                </a:solidFill>
              </a:rPr>
              <a:t>  nom n8n, rôle Admin.</a:t>
            </a:r>
            <a:endParaRPr lang="en-US" sz="1400" dirty="0"/>
          </a:p>
        </p:txBody>
      </p:sp>
      <p:sp>
        <p:nvSpPr>
          <p:cNvPr id="8" name="numéro 2"/>
          <p:cNvSpPr/>
          <p:nvPr/>
        </p:nvSpPr>
        <p:spPr>
          <a:xfrm>
            <a:off x="548640" y="2246376"/>
            <a:ext cx="402336" cy="402336"/>
          </a:xfrm>
          <a:prstGeom prst="ellipse">
            <a:avLst/>
          </a:prstGeom>
          <a:solidFill>
            <a:srgbClr val="1877F2"/>
          </a:solidFill>
          <a:ln w="12700">
            <a:solidFill>
              <a:srgbClr val="1877F2"/>
            </a:solidFill>
            <a:prstDash val="solid"/>
          </a:ln>
        </p:spPr>
      </p:sp>
      <p:sp>
        <p:nvSpPr>
          <p:cNvPr id="9" name="Text 7"/>
          <p:cNvSpPr txBox="1"/>
          <p:nvPr/>
        </p:nvSpPr>
        <p:spPr>
          <a:xfrm>
            <a:off x="548640" y="22463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228088"/>
            <a:ext cx="5833872" cy="701040"/>
          </a:xfrm>
          <a:prstGeom prst="rect">
            <a:avLst/>
          </a:prstGeom>
          <a:noFill/>
          <a:ln/>
        </p:spPr>
        <p:txBody>
          <a:bodyPr wrap="square" lIns="0" tIns="0" rIns="0" bIns="0" rtlCol="0" anchor="t"/>
          <a:lstStyle/>
          <a:p>
            <a:pPr indent="0" marL="0">
              <a:buNone/>
            </a:pPr>
            <a:r>
              <a:rPr lang="en-US" sz="1400" b="1" dirty="0">
                <a:solidFill>
                  <a:srgbClr val="1B2340"/>
                </a:solidFill>
              </a:rPr>
              <a:t>Assigner des éléments → Applications →</a:t>
            </a:r>
            <a:pPr indent="0" marL="0">
              <a:buNone/>
            </a:pPr>
            <a:r>
              <a:rPr lang="en-US" sz="1400" dirty="0">
                <a:solidFill>
                  <a:srgbClr val="3A4566"/>
                </a:solidFill>
              </a:rPr>
              <a:t>  ton app → Contrôle total.</a:t>
            </a:r>
            <a:endParaRPr lang="en-US" sz="1400" dirty="0"/>
          </a:p>
        </p:txBody>
      </p:sp>
      <p:sp>
        <p:nvSpPr>
          <p:cNvPr id="11" name="numéro 3"/>
          <p:cNvSpPr/>
          <p:nvPr/>
        </p:nvSpPr>
        <p:spPr>
          <a:xfrm>
            <a:off x="548640" y="3057144"/>
            <a:ext cx="402336" cy="402336"/>
          </a:xfrm>
          <a:prstGeom prst="ellipse">
            <a:avLst/>
          </a:prstGeom>
          <a:solidFill>
            <a:srgbClr val="1877F2"/>
          </a:solidFill>
          <a:ln w="12700">
            <a:solidFill>
              <a:srgbClr val="1877F2"/>
            </a:solidFill>
            <a:prstDash val="solid"/>
          </a:ln>
        </p:spPr>
      </p:sp>
      <p:sp>
        <p:nvSpPr>
          <p:cNvPr id="12" name="Text 10"/>
          <p:cNvSpPr txBox="1"/>
          <p:nvPr/>
        </p:nvSpPr>
        <p:spPr>
          <a:xfrm>
            <a:off x="548640" y="30571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038856"/>
            <a:ext cx="5833872" cy="701040"/>
          </a:xfrm>
          <a:prstGeom prst="rect">
            <a:avLst/>
          </a:prstGeom>
          <a:noFill/>
          <a:ln/>
        </p:spPr>
        <p:txBody>
          <a:bodyPr wrap="square" lIns="0" tIns="0" rIns="0" bIns="0" rtlCol="0" anchor="t"/>
          <a:lstStyle/>
          <a:p>
            <a:pPr indent="0" marL="0">
              <a:buNone/>
            </a:pPr>
            <a:r>
              <a:rPr lang="en-US" sz="1400" b="1" dirty="0">
                <a:solidFill>
                  <a:srgbClr val="1B2340"/>
                </a:solidFill>
              </a:rPr>
              <a:t>Assigner des éléments → Comptes WhatsApp →</a:t>
            </a:r>
            <a:pPr indent="0" marL="0">
              <a:buNone/>
            </a:pPr>
            <a:r>
              <a:rPr lang="en-US" sz="1400" dirty="0">
                <a:solidFill>
                  <a:srgbClr val="3A4566"/>
                </a:solidFill>
              </a:rPr>
              <a:t>  Test WhatsApp Business Account → Contrôle total.</a:t>
            </a:r>
            <a:endParaRPr lang="en-US" sz="1400" dirty="0"/>
          </a:p>
        </p:txBody>
      </p:sp>
      <p:sp>
        <p:nvSpPr>
          <p:cNvPr id="14" name="numéro 4"/>
          <p:cNvSpPr/>
          <p:nvPr/>
        </p:nvSpPr>
        <p:spPr>
          <a:xfrm>
            <a:off x="548640" y="3867912"/>
            <a:ext cx="402336" cy="402336"/>
          </a:xfrm>
          <a:prstGeom prst="ellipse">
            <a:avLst/>
          </a:prstGeom>
          <a:solidFill>
            <a:srgbClr val="1877F2"/>
          </a:solidFill>
          <a:ln w="12700">
            <a:solidFill>
              <a:srgbClr val="1877F2"/>
            </a:solidFill>
            <a:prstDash val="solid"/>
          </a:ln>
        </p:spPr>
      </p:sp>
      <p:sp>
        <p:nvSpPr>
          <p:cNvPr id="15" name="Text 13"/>
          <p:cNvSpPr txBox="1"/>
          <p:nvPr/>
        </p:nvSpPr>
        <p:spPr>
          <a:xfrm>
            <a:off x="548640" y="38679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3849624"/>
            <a:ext cx="5833872" cy="701040"/>
          </a:xfrm>
          <a:prstGeom prst="rect">
            <a:avLst/>
          </a:prstGeom>
          <a:noFill/>
          <a:ln/>
        </p:spPr>
        <p:txBody>
          <a:bodyPr wrap="square" lIns="0" tIns="0" rIns="0" bIns="0" rtlCol="0" anchor="t"/>
          <a:lstStyle/>
          <a:p>
            <a:pPr indent="0" marL="0">
              <a:buNone/>
            </a:pPr>
            <a:r>
              <a:rPr lang="en-US" sz="1400" b="1" dirty="0">
                <a:solidFill>
                  <a:srgbClr val="1B2340"/>
                </a:solidFill>
              </a:rPr>
              <a:t>Générer un token → ton app →</a:t>
            </a:r>
            <a:pPr indent="0" marL="0">
              <a:buNone/>
            </a:pPr>
            <a:r>
              <a:rPr lang="en-US" sz="1400" dirty="0">
                <a:solidFill>
                  <a:srgbClr val="3A4566"/>
                </a:solidFill>
              </a:rPr>
              <a:t>  expiration : Jamais.</a:t>
            </a:r>
            <a:endParaRPr lang="en-US" sz="1400" dirty="0"/>
          </a:p>
        </p:txBody>
      </p:sp>
      <p:sp>
        <p:nvSpPr>
          <p:cNvPr id="17" name="numéro 5"/>
          <p:cNvSpPr/>
          <p:nvPr/>
        </p:nvSpPr>
        <p:spPr>
          <a:xfrm>
            <a:off x="548640" y="4678680"/>
            <a:ext cx="402336" cy="402336"/>
          </a:xfrm>
          <a:prstGeom prst="ellipse">
            <a:avLst/>
          </a:prstGeom>
          <a:solidFill>
            <a:srgbClr val="1877F2"/>
          </a:solidFill>
          <a:ln w="12700">
            <a:solidFill>
              <a:srgbClr val="1877F2"/>
            </a:solidFill>
            <a:prstDash val="solid"/>
          </a:ln>
        </p:spPr>
      </p:sp>
      <p:sp>
        <p:nvSpPr>
          <p:cNvPr id="18" name="Text 16"/>
          <p:cNvSpPr txBox="1"/>
          <p:nvPr/>
        </p:nvSpPr>
        <p:spPr>
          <a:xfrm>
            <a:off x="548640" y="4678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9" name="Text 17"/>
          <p:cNvSpPr txBox="1"/>
          <p:nvPr/>
        </p:nvSpPr>
        <p:spPr>
          <a:xfrm>
            <a:off x="1115568" y="4660392"/>
            <a:ext cx="5833872" cy="701040"/>
          </a:xfrm>
          <a:prstGeom prst="rect">
            <a:avLst/>
          </a:prstGeom>
          <a:noFill/>
          <a:ln/>
        </p:spPr>
        <p:txBody>
          <a:bodyPr wrap="square" lIns="0" tIns="0" rIns="0" bIns="0" rtlCol="0" anchor="t"/>
          <a:lstStyle/>
          <a:p>
            <a:pPr indent="0" marL="0">
              <a:buNone/>
            </a:pPr>
            <a:r>
              <a:rPr lang="en-US" sz="1400" b="1" dirty="0">
                <a:solidFill>
                  <a:srgbClr val="1B2340"/>
                </a:solidFill>
              </a:rPr>
              <a:t>Coche whatsapp_business_messaging et whatsapp_business_management</a:t>
            </a:r>
            <a:pPr indent="0" marL="0">
              <a:buNone/>
            </a:pPr>
            <a:r>
              <a:rPr lang="en-US" sz="1400" dirty="0">
                <a:solidFill>
                  <a:srgbClr val="3A4566"/>
                </a:solidFill>
              </a:rPr>
              <a:t>  → Générer.</a:t>
            </a:r>
            <a:endParaRPr lang="en-US" sz="1400" dirty="0"/>
          </a:p>
        </p:txBody>
      </p:sp>
      <p:sp>
        <p:nvSpPr>
          <p:cNvPr id="20" name="numéro 6"/>
          <p:cNvSpPr/>
          <p:nvPr/>
        </p:nvSpPr>
        <p:spPr>
          <a:xfrm>
            <a:off x="548640" y="5489448"/>
            <a:ext cx="402336" cy="402336"/>
          </a:xfrm>
          <a:prstGeom prst="ellipse">
            <a:avLst/>
          </a:prstGeom>
          <a:solidFill>
            <a:srgbClr val="1877F2"/>
          </a:solidFill>
          <a:ln w="12700">
            <a:solidFill>
              <a:srgbClr val="1877F2"/>
            </a:solidFill>
            <a:prstDash val="solid"/>
          </a:ln>
        </p:spPr>
      </p:sp>
      <p:sp>
        <p:nvSpPr>
          <p:cNvPr id="21" name="Text 19"/>
          <p:cNvSpPr txBox="1"/>
          <p:nvPr/>
        </p:nvSpPr>
        <p:spPr>
          <a:xfrm>
            <a:off x="548640" y="54894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2" name="Text 20"/>
          <p:cNvSpPr txBox="1"/>
          <p:nvPr/>
        </p:nvSpPr>
        <p:spPr>
          <a:xfrm>
            <a:off x="1115568" y="5471160"/>
            <a:ext cx="5833872" cy="701040"/>
          </a:xfrm>
          <a:prstGeom prst="rect">
            <a:avLst/>
          </a:prstGeom>
          <a:noFill/>
          <a:ln/>
        </p:spPr>
        <p:txBody>
          <a:bodyPr wrap="square" lIns="0" tIns="0" rIns="0" bIns="0" rtlCol="0" anchor="t"/>
          <a:lstStyle/>
          <a:p>
            <a:pPr indent="0" marL="0">
              <a:buNone/>
            </a:pPr>
            <a:r>
              <a:rPr lang="en-US" sz="1400" b="1" dirty="0">
                <a:solidFill>
                  <a:srgbClr val="1B2340"/>
                </a:solidFill>
              </a:rPr>
              <a:t>Copie le token dans une note privée :</a:t>
            </a:r>
            <a:pPr indent="0" marL="0">
              <a:buNone/>
            </a:pPr>
            <a:r>
              <a:rPr lang="en-US" sz="1400" dirty="0">
                <a:solidFill>
                  <a:srgbClr val="3A4566"/>
                </a:solidFill>
              </a:rPr>
              <a:t>  il ne s'affiche qu'une seule fois.</a:t>
            </a:r>
            <a:endParaRPr lang="en-US" sz="1400" dirty="0"/>
          </a:p>
        </p:txBody>
      </p:sp>
      <p:sp>
        <p:nvSpPr>
          <p:cNvPr id="23" name="encadré Erreur fréquente"/>
          <p:cNvSpPr/>
          <p:nvPr/>
        </p:nvSpPr>
        <p:spPr>
          <a:xfrm>
            <a:off x="7223760" y="1463040"/>
            <a:ext cx="4416552" cy="1783080"/>
          </a:xfrm>
          <a:prstGeom prst="roundRect">
            <a:avLst>
              <a:gd name="adj" fmla="val 6154"/>
            </a:avLst>
          </a:prstGeom>
          <a:solidFill>
            <a:srgbClr val="FDE8E7"/>
          </a:solidFill>
          <a:ln w="12700">
            <a:solidFill>
              <a:srgbClr val="FDE8E7"/>
            </a:solidFill>
            <a:prstDash val="solid"/>
          </a:ln>
        </p:spPr>
      </p:sp>
      <p:pic>
        <p:nvPicPr>
          <p:cNvPr id="24" name="Image 0" descr="Erreur fréquente">    </p:cNvPr>
          <p:cNvPicPr>
            <a:picLocks noChangeAspect="1"/>
          </p:cNvPicPr>
          <p:nvPr/>
        </p:nvPicPr>
        <p:blipFill>
          <a:blip r:embed="rId1"/>
          <a:stretch>
            <a:fillRect/>
          </a:stretch>
        </p:blipFill>
        <p:spPr>
          <a:xfrm>
            <a:off x="7424928" y="1645920"/>
            <a:ext cx="347472" cy="347472"/>
          </a:xfrm>
          <a:prstGeom prst="rect">
            <a:avLst/>
          </a:prstGeom>
        </p:spPr>
      </p:pic>
      <p:sp>
        <p:nvSpPr>
          <p:cNvPr id="25" name="Text 22"/>
          <p:cNvSpPr txBox="1"/>
          <p:nvPr/>
        </p:nvSpPr>
        <p:spPr>
          <a:xfrm>
            <a:off x="7936992" y="1609344"/>
            <a:ext cx="3520440" cy="1508760"/>
          </a:xfrm>
          <a:prstGeom prst="rect">
            <a:avLst/>
          </a:prstGeom>
          <a:noFill/>
          <a:ln/>
        </p:spPr>
        <p:txBody>
          <a:bodyPr wrap="square" lIns="0" tIns="0" rIns="0" bIns="0" rtlCol="0" anchor="ctr"/>
          <a:lstStyle/>
          <a:p>
            <a:pPr indent="0" marL="0">
              <a:buNone/>
            </a:pPr>
            <a:r>
              <a:rPr lang="en-US" sz="1400" b="1" dirty="0">
                <a:solidFill>
                  <a:srgbClr val="D93025"/>
                </a:solidFill>
              </a:rPr>
              <a:t>Erreur fréquente : </a:t>
            </a:r>
            <a:pPr indent="0" marL="0">
              <a:buNone/>
            </a:pPr>
            <a:r>
              <a:rPr lang="en-US" sz="1400" dirty="0">
                <a:solidFill>
                  <a:srgbClr val="1B2340"/>
                </a:solidFill>
              </a:rPr>
              <a:t>« Aucune autorisation disponible » = l'étape 2 est oubliée. Ou passe par Comptes → Applications → ton app → Assigner des personnes → n8n.</a:t>
            </a:r>
            <a:endParaRPr lang="en-US" sz="1400" dirty="0"/>
          </a:p>
        </p:txBody>
      </p:sp>
      <p:sp>
        <p:nvSpPr>
          <p:cNvPr id="26" name="encadré Attention"/>
          <p:cNvSpPr/>
          <p:nvPr/>
        </p:nvSpPr>
        <p:spPr>
          <a:xfrm>
            <a:off x="7223760" y="3383280"/>
            <a:ext cx="4416552" cy="1280160"/>
          </a:xfrm>
          <a:prstGeom prst="roundRect">
            <a:avLst>
              <a:gd name="adj" fmla="val 8571"/>
            </a:avLst>
          </a:prstGeom>
          <a:solidFill>
            <a:srgbClr val="FFF4D6"/>
          </a:solidFill>
          <a:ln w="12700">
            <a:solidFill>
              <a:srgbClr val="FFF4D6"/>
            </a:solidFill>
            <a:prstDash val="solid"/>
          </a:ln>
        </p:spPr>
      </p:sp>
      <p:pic>
        <p:nvPicPr>
          <p:cNvPr id="27" name="Image 1" descr="Attention">    </p:cNvPr>
          <p:cNvPicPr>
            <a:picLocks noChangeAspect="1"/>
          </p:cNvPicPr>
          <p:nvPr/>
        </p:nvPicPr>
        <p:blipFill>
          <a:blip r:embed="rId2"/>
          <a:stretch>
            <a:fillRect/>
          </a:stretch>
        </p:blipFill>
        <p:spPr>
          <a:xfrm>
            <a:off x="7424928" y="3566160"/>
            <a:ext cx="347472" cy="347472"/>
          </a:xfrm>
          <a:prstGeom prst="rect">
            <a:avLst/>
          </a:prstGeom>
        </p:spPr>
      </p:pic>
      <p:sp>
        <p:nvSpPr>
          <p:cNvPr id="28" name="Text 24"/>
          <p:cNvSpPr txBox="1"/>
          <p:nvPr/>
        </p:nvSpPr>
        <p:spPr>
          <a:xfrm>
            <a:off x="7936992" y="3529584"/>
            <a:ext cx="3520440" cy="1005840"/>
          </a:xfrm>
          <a:prstGeom prst="rect">
            <a:avLst/>
          </a:prstGeom>
          <a:noFill/>
          <a:ln/>
        </p:spPr>
        <p:txBody>
          <a:bodyPr wrap="square" lIns="0" tIns="0" rIns="0" bIns="0" rtlCol="0" anchor="ctr"/>
          <a:lstStyle/>
          <a:p>
            <a:pPr indent="0" marL="0">
              <a:buNone/>
            </a:pPr>
            <a:r>
              <a:rPr lang="en-US" sz="1400" b="1" dirty="0">
                <a:solidFill>
                  <a:srgbClr val="B26A00"/>
                </a:solidFill>
              </a:rPr>
              <a:t>Attention : </a:t>
            </a:r>
            <a:pPr indent="0" marL="0">
              <a:buNone/>
            </a:pPr>
            <a:r>
              <a:rPr lang="en-US" sz="1400" dirty="0">
                <a:solidFill>
                  <a:srgbClr val="1B2340"/>
                </a:solidFill>
              </a:rPr>
              <a:t>ne choisis jamais le compte « Application WhatsApp Business » : c'est le WhatsApp du téléphone.</a:t>
            </a:r>
            <a:endParaRPr lang="en-US" sz="1400" dirty="0"/>
          </a:p>
        </p:txBody>
      </p:sp>
      <p:sp>
        <p:nvSpPr>
          <p:cNvPr id="29" name="encadré Secret"/>
          <p:cNvSpPr/>
          <p:nvPr/>
        </p:nvSpPr>
        <p:spPr>
          <a:xfrm>
            <a:off x="7223760" y="4800600"/>
            <a:ext cx="4416552" cy="1280160"/>
          </a:xfrm>
          <a:prstGeom prst="roundRect">
            <a:avLst>
              <a:gd name="adj" fmla="val 8571"/>
            </a:avLst>
          </a:prstGeom>
          <a:solidFill>
            <a:srgbClr val="E8F0FE"/>
          </a:solidFill>
          <a:ln w="12700">
            <a:solidFill>
              <a:srgbClr val="E8F0FE"/>
            </a:solidFill>
            <a:prstDash val="solid"/>
          </a:ln>
        </p:spPr>
      </p:sp>
      <p:pic>
        <p:nvPicPr>
          <p:cNvPr id="30" name="Image 2" descr="Secret">    </p:cNvPr>
          <p:cNvPicPr>
            <a:picLocks noChangeAspect="1"/>
          </p:cNvPicPr>
          <p:nvPr/>
        </p:nvPicPr>
        <p:blipFill>
          <a:blip r:embed="rId3"/>
          <a:stretch>
            <a:fillRect/>
          </a:stretch>
        </p:blipFill>
        <p:spPr>
          <a:xfrm>
            <a:off x="7424928" y="4983480"/>
            <a:ext cx="347472" cy="347472"/>
          </a:xfrm>
          <a:prstGeom prst="rect">
            <a:avLst/>
          </a:prstGeom>
        </p:spPr>
      </p:pic>
      <p:sp>
        <p:nvSpPr>
          <p:cNvPr id="31" name="Text 26"/>
          <p:cNvSpPr txBox="1"/>
          <p:nvPr/>
        </p:nvSpPr>
        <p:spPr>
          <a:xfrm>
            <a:off x="7936992" y="4946904"/>
            <a:ext cx="3520440" cy="1005840"/>
          </a:xfrm>
          <a:prstGeom prst="rect">
            <a:avLst/>
          </a:prstGeom>
          <a:noFill/>
          <a:ln/>
        </p:spPr>
        <p:txBody>
          <a:bodyPr wrap="square" lIns="0" tIns="0" rIns="0" bIns="0" rtlCol="0" anchor="ctr"/>
          <a:lstStyle/>
          <a:p>
            <a:pPr indent="0" marL="0">
              <a:buNone/>
            </a:pPr>
            <a:r>
              <a:rPr lang="en-US" sz="1400" b="1" dirty="0">
                <a:solidFill>
                  <a:srgbClr val="1877F2"/>
                </a:solidFill>
              </a:rPr>
              <a:t>Secret : </a:t>
            </a:r>
            <a:pPr indent="0" marL="0">
              <a:buNone/>
            </a:pPr>
            <a:r>
              <a:rPr lang="en-US" sz="1400" dirty="0">
                <a:solidFill>
                  <a:srgbClr val="1B2340"/>
                </a:solidFill>
              </a:rPr>
              <a:t>le token est un mot de passe. Jamais dans un groupe, jamais sur une capture d'écran.</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ercle étape"/>
          <p:cNvSpPr/>
          <p:nvPr/>
        </p:nvSpPr>
        <p:spPr>
          <a:xfrm>
            <a:off x="822960" y="1965960"/>
            <a:ext cx="2468880" cy="2468880"/>
          </a:xfrm>
          <a:prstGeom prst="ellipse">
            <a:avLst/>
          </a:prstGeom>
          <a:solidFill>
            <a:srgbClr val="128C7E"/>
          </a:solidFill>
          <a:ln w="12700">
            <a:solidFill>
              <a:srgbClr val="128C7E"/>
            </a:solidFill>
            <a:prstDash val="solid"/>
          </a:ln>
        </p:spPr>
      </p:sp>
      <p:sp>
        <p:nvSpPr>
          <p:cNvPr id="3" name="Text 1"/>
          <p:cNvSpPr txBox="1"/>
          <p:nvPr/>
        </p:nvSpPr>
        <p:spPr>
          <a:xfrm>
            <a:off x="822960" y="1965960"/>
            <a:ext cx="2468880" cy="1600200"/>
          </a:xfrm>
          <a:prstGeom prst="rect">
            <a:avLst/>
          </a:prstGeom>
          <a:noFill/>
          <a:ln/>
        </p:spPr>
        <p:txBody>
          <a:bodyPr wrap="square" lIns="0" tIns="0" rIns="0" bIns="0" rtlCol="0" anchor="b"/>
          <a:lstStyle/>
          <a:p>
            <a:pPr algn="ctr" indent="0" marL="0">
              <a:buNone/>
            </a:pPr>
            <a:r>
              <a:rPr lang="en-US" sz="8000" b="1" dirty="0">
                <a:solidFill>
                  <a:srgbClr val="FFFFFF"/>
                </a:solidFill>
                <a:latin typeface="Arial" pitchFamily="34" charset="0"/>
                <a:ea typeface="Arial" pitchFamily="34" charset="-122"/>
                <a:cs typeface="Arial" pitchFamily="34" charset="-120"/>
              </a:rPr>
              <a:t>4</a:t>
            </a:r>
            <a:endParaRPr lang="en-US" sz="8000" dirty="0"/>
          </a:p>
        </p:txBody>
      </p:sp>
      <p:pic>
        <p:nvPicPr>
          <p:cNvPr id="4" name="Image 0" descr="FaWhatsapp">    </p:cNvPr>
          <p:cNvPicPr>
            <a:picLocks noChangeAspect="1"/>
          </p:cNvPicPr>
          <p:nvPr/>
        </p:nvPicPr>
        <p:blipFill>
          <a:blip r:embed="rId1"/>
          <a:stretch>
            <a:fillRect/>
          </a:stretch>
        </p:blipFill>
        <p:spPr>
          <a:xfrm>
            <a:off x="1828800" y="3611880"/>
            <a:ext cx="457200" cy="457200"/>
          </a:xfrm>
          <a:prstGeom prst="rect">
            <a:avLst/>
          </a:prstGeom>
        </p:spPr>
      </p:pic>
      <p:sp>
        <p:nvSpPr>
          <p:cNvPr id="5" name="Text 2"/>
          <p:cNvSpPr txBox="1"/>
          <p:nvPr/>
        </p:nvSpPr>
        <p:spPr>
          <a:xfrm>
            <a:off x="3931920" y="1874520"/>
            <a:ext cx="4572000" cy="365760"/>
          </a:xfrm>
          <a:prstGeom prst="rect">
            <a:avLst/>
          </a:prstGeom>
          <a:noFill/>
          <a:ln/>
        </p:spPr>
        <p:txBody>
          <a:bodyPr wrap="square" lIns="0" tIns="0" rIns="0" bIns="0" rtlCol="0" anchor="t"/>
          <a:lstStyle/>
          <a:p>
            <a:pPr indent="0" marL="0">
              <a:buNone/>
            </a:pPr>
            <a:r>
              <a:rPr lang="en-US" sz="1400" b="1" spc="300" kern="0" dirty="0">
                <a:solidFill>
                  <a:srgbClr val="F5C518"/>
                </a:solidFill>
              </a:rPr>
              <a:t>ÉTAPE 4</a:t>
            </a:r>
            <a:endParaRPr lang="en-US" sz="1400" dirty="0"/>
          </a:p>
        </p:txBody>
      </p:sp>
      <p:sp>
        <p:nvSpPr>
          <p:cNvPr id="6" name="Text 0"/>
          <p:cNvSpPr/>
          <p:nvPr>
            <p:ph idx="100" type="title" hasCustomPrompt="1"/>
          </p:nvPr>
        </p:nvSpPr>
        <p:spPr>
          <a:xfrm>
            <a:off x="3931920" y="2377440"/>
            <a:ext cx="7680960" cy="1188720"/>
          </a:xfrm>
          <a:prstGeom prst="rect">
            <a:avLst/>
          </a:prstGeom>
          <a:noFill/>
          <a:ln/>
        </p:spPr>
        <p:txBody>
          <a:bodyPr wrap="square" lIns="0" tIns="0" rIns="0" bIns="0" rtlCol="0" anchor="t"/>
          <a:lstStyle/>
          <a:p>
            <a:pPr algn="l" indent="0" marL="0">
              <a:buNone/>
            </a:pPr>
            <a:r>
              <a:rPr lang="en-US" sz="4000" b="1" dirty="0">
                <a:solidFill>
                  <a:schemeClr val="bg1"/>
                </a:solidFill>
              </a:rPr>
              <a:t>Brancher WhatsApp dans n8n</a:t>
            </a:r>
            <a:endParaRPr lang="en-US" sz="4000" dirty="0"/>
          </a:p>
        </p:txBody>
      </p:sp>
      <p:sp>
        <p:nvSpPr>
          <p:cNvPr id="7" name="Text 0"/>
          <p:cNvSpPr/>
          <p:nvPr>
            <p:ph idx="101" type="body" hasCustomPrompt="1"/>
          </p:nvPr>
        </p:nvSpPr>
        <p:spPr>
          <a:xfrm>
            <a:off x="3931920" y="3611880"/>
            <a:ext cx="7498080" cy="1280160"/>
          </a:xfrm>
          <a:prstGeom prst="rect">
            <a:avLst/>
          </a:prstGeom>
          <a:noFill/>
          <a:ln/>
        </p:spPr>
        <p:txBody>
          <a:bodyPr wrap="square" lIns="0" tIns="0" rIns="0" bIns="0" rtlCol="0" anchor="t"/>
          <a:lstStyle/>
          <a:p>
            <a:pPr indent="0" marL="0">
              <a:buNone/>
            </a:pPr>
            <a:r>
              <a:rPr lang="en-US" sz="1800" dirty="0">
                <a:solidFill>
                  <a:schemeClr val="bg2"/>
                </a:solidFill>
              </a:rPr>
              <a:t>Relier n8n à WhatsApp, régler chaque nœud, faire le grand test et mettre en service.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C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Créer la connexion WhatsApp dans n8n</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28C7E"/>
          </a:solidFill>
          <a:ln w="12700">
            <a:solidFill>
              <a:srgbClr val="128C7E"/>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4 · WHATSAPP</a:t>
            </a:r>
            <a:endParaRPr lang="en-US" sz="1200" dirty="0"/>
          </a:p>
        </p:txBody>
      </p:sp>
      <p:sp>
        <p:nvSpPr>
          <p:cNvPr id="5" name="numéro 1"/>
          <p:cNvSpPr/>
          <p:nvPr/>
        </p:nvSpPr>
        <p:spPr>
          <a:xfrm>
            <a:off x="548640" y="1435608"/>
            <a:ext cx="402336" cy="402336"/>
          </a:xfrm>
          <a:prstGeom prst="ellipse">
            <a:avLst/>
          </a:prstGeom>
          <a:solidFill>
            <a:srgbClr val="128C7E"/>
          </a:solidFill>
          <a:ln w="12700">
            <a:solidFill>
              <a:srgbClr val="128C7E"/>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285232" cy="914400"/>
          </a:xfrm>
          <a:prstGeom prst="rect">
            <a:avLst/>
          </a:prstGeom>
          <a:noFill/>
          <a:ln/>
        </p:spPr>
        <p:txBody>
          <a:bodyPr wrap="square" lIns="0" tIns="0" rIns="0" bIns="0" rtlCol="0" anchor="t"/>
          <a:lstStyle/>
          <a:p>
            <a:pPr indent="0" marL="0">
              <a:buNone/>
            </a:pPr>
            <a:r>
              <a:rPr lang="en-US" sz="1500" b="1" dirty="0">
                <a:solidFill>
                  <a:srgbClr val="1B2340"/>
                </a:solidFill>
              </a:rPr>
              <a:t>Ouvre un nœud WhatsApp</a:t>
            </a:r>
            <a:pPr indent="0" marL="0">
              <a:buNone/>
            </a:pPr>
            <a:r>
              <a:rPr lang="en-US" sz="1500" dirty="0">
                <a:solidFill>
                  <a:srgbClr val="3A4566"/>
                </a:solidFill>
              </a:rPr>
              <a:t>  (s'il est gris : sélectionne-le et appuie sur D).</a:t>
            </a:r>
            <a:endParaRPr lang="en-US" sz="1500" dirty="0"/>
          </a:p>
        </p:txBody>
      </p:sp>
      <p:sp>
        <p:nvSpPr>
          <p:cNvPr id="8" name="numéro 2"/>
          <p:cNvSpPr/>
          <p:nvPr/>
        </p:nvSpPr>
        <p:spPr>
          <a:xfrm>
            <a:off x="548640" y="2459736"/>
            <a:ext cx="402336" cy="402336"/>
          </a:xfrm>
          <a:prstGeom prst="ellipse">
            <a:avLst/>
          </a:prstGeom>
          <a:solidFill>
            <a:srgbClr val="128C7E"/>
          </a:solidFill>
          <a:ln w="12700">
            <a:solidFill>
              <a:srgbClr val="128C7E"/>
            </a:solidFill>
            <a:prstDash val="solid"/>
          </a:ln>
        </p:spPr>
      </p:sp>
      <p:sp>
        <p:nvSpPr>
          <p:cNvPr id="9" name="Text 7"/>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441448"/>
            <a:ext cx="5285232" cy="914400"/>
          </a:xfrm>
          <a:prstGeom prst="rect">
            <a:avLst/>
          </a:prstGeom>
          <a:noFill/>
          <a:ln/>
        </p:spPr>
        <p:txBody>
          <a:bodyPr wrap="square" lIns="0" tIns="0" rIns="0" bIns="0" rtlCol="0" anchor="t"/>
          <a:lstStyle/>
          <a:p>
            <a:pPr indent="0" marL="0">
              <a:buNone/>
            </a:pPr>
            <a:r>
              <a:rPr lang="en-US" sz="1500" b="1" dirty="0">
                <a:solidFill>
                  <a:srgbClr val="1B2340"/>
                </a:solidFill>
              </a:rPr>
              <a:t>Credential to connect with →</a:t>
            </a:r>
            <a:pPr indent="0" marL="0">
              <a:buNone/>
            </a:pPr>
            <a:r>
              <a:rPr lang="en-US" sz="1500" dirty="0">
                <a:solidFill>
                  <a:srgbClr val="3A4566"/>
                </a:solidFill>
              </a:rPr>
              <a:t>  + Create new credential.</a:t>
            </a:r>
            <a:endParaRPr lang="en-US" sz="1500" dirty="0"/>
          </a:p>
        </p:txBody>
      </p:sp>
      <p:sp>
        <p:nvSpPr>
          <p:cNvPr id="11" name="numéro 3"/>
          <p:cNvSpPr/>
          <p:nvPr/>
        </p:nvSpPr>
        <p:spPr>
          <a:xfrm>
            <a:off x="548640" y="3483864"/>
            <a:ext cx="402336" cy="402336"/>
          </a:xfrm>
          <a:prstGeom prst="ellipse">
            <a:avLst/>
          </a:prstGeom>
          <a:solidFill>
            <a:srgbClr val="128C7E"/>
          </a:solidFill>
          <a:ln w="12700">
            <a:solidFill>
              <a:srgbClr val="128C7E"/>
            </a:solidFill>
            <a:prstDash val="solid"/>
          </a:ln>
        </p:spPr>
      </p:sp>
      <p:sp>
        <p:nvSpPr>
          <p:cNvPr id="12" name="Text 10"/>
          <p:cNvSpPr txBox="1"/>
          <p:nvPr/>
        </p:nvSpPr>
        <p:spPr>
          <a:xfrm>
            <a:off x="548640" y="34838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465576"/>
            <a:ext cx="5285232" cy="914400"/>
          </a:xfrm>
          <a:prstGeom prst="rect">
            <a:avLst/>
          </a:prstGeom>
          <a:noFill/>
          <a:ln/>
        </p:spPr>
        <p:txBody>
          <a:bodyPr wrap="square" lIns="0" tIns="0" rIns="0" bIns="0" rtlCol="0" anchor="t"/>
          <a:lstStyle/>
          <a:p>
            <a:pPr indent="0" marL="0">
              <a:buNone/>
            </a:pPr>
            <a:r>
              <a:rPr lang="en-US" sz="1500" b="1" dirty="0">
                <a:solidFill>
                  <a:srgbClr val="1B2340"/>
                </a:solidFill>
              </a:rPr>
              <a:t>Access Token = le token</a:t>
            </a:r>
            <a:pPr indent="0" marL="0">
              <a:buNone/>
            </a:pPr>
            <a:r>
              <a:rPr lang="en-US" sz="1500" dirty="0">
                <a:solidFill>
                  <a:srgbClr val="3A4566"/>
                </a:solidFill>
              </a:rPr>
              <a:t>  Business Account ID = le WABA ID.</a:t>
            </a:r>
            <a:endParaRPr lang="en-US" sz="1500" dirty="0"/>
          </a:p>
        </p:txBody>
      </p:sp>
      <p:sp>
        <p:nvSpPr>
          <p:cNvPr id="14" name="numéro 4"/>
          <p:cNvSpPr/>
          <p:nvPr/>
        </p:nvSpPr>
        <p:spPr>
          <a:xfrm>
            <a:off x="548640" y="4507992"/>
            <a:ext cx="402336" cy="402336"/>
          </a:xfrm>
          <a:prstGeom prst="ellipse">
            <a:avLst/>
          </a:prstGeom>
          <a:solidFill>
            <a:srgbClr val="128C7E"/>
          </a:solidFill>
          <a:ln w="12700">
            <a:solidFill>
              <a:srgbClr val="128C7E"/>
            </a:solidFill>
            <a:prstDash val="solid"/>
          </a:ln>
        </p:spPr>
      </p:sp>
      <p:sp>
        <p:nvSpPr>
          <p:cNvPr id="15" name="Text 13"/>
          <p:cNvSpPr txBox="1"/>
          <p:nvPr/>
        </p:nvSpPr>
        <p:spPr>
          <a:xfrm>
            <a:off x="54864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4489704"/>
            <a:ext cx="5285232" cy="914400"/>
          </a:xfrm>
          <a:prstGeom prst="rect">
            <a:avLst/>
          </a:prstGeom>
          <a:noFill/>
          <a:ln/>
        </p:spPr>
        <p:txBody>
          <a:bodyPr wrap="square" lIns="0" tIns="0" rIns="0" bIns="0" rtlCol="0" anchor="t"/>
          <a:lstStyle/>
          <a:p>
            <a:pPr indent="0" marL="0">
              <a:buNone/>
            </a:pPr>
            <a:r>
              <a:rPr lang="en-US" sz="1500" b="1" dirty="0">
                <a:solidFill>
                  <a:srgbClr val="1B2340"/>
                </a:solidFill>
              </a:rPr>
              <a:t>Clique sur Save :</a:t>
            </a:r>
            <a:pPr indent="0" marL="0">
              <a:buNone/>
            </a:pPr>
            <a:r>
              <a:rPr lang="en-US" sz="1500" dirty="0">
                <a:solidFill>
                  <a:srgbClr val="3A4566"/>
                </a:solidFill>
              </a:rPr>
              <a:t>  message vert « Connection tested successfully ».</a:t>
            </a:r>
            <a:endParaRPr lang="en-US" sz="1500" dirty="0"/>
          </a:p>
        </p:txBody>
      </p:sp>
      <p:sp>
        <p:nvSpPr>
          <p:cNvPr id="17" name="fenêtre WhatsApp API · n8n"/>
          <p:cNvSpPr/>
          <p:nvPr/>
        </p:nvSpPr>
        <p:spPr>
          <a:xfrm>
            <a:off x="6766560" y="1463040"/>
            <a:ext cx="4873752" cy="3291840"/>
          </a:xfrm>
          <a:prstGeom prst="roundRect">
            <a:avLst>
              <a:gd name="adj" fmla="val 2778"/>
            </a:avLst>
          </a:prstGeom>
          <a:solidFill>
            <a:srgbClr val="FFFFFF"/>
          </a:solidFill>
          <a:ln w="12700">
            <a:solidFill>
              <a:srgbClr val="D5DCE8"/>
            </a:solidFill>
            <a:prstDash val="solid"/>
          </a:ln>
          <a:effectLst>
            <a:outerShdw sx="100000" sy="100000" kx="0" ky="0" algn="bl" rotWithShape="0" blurRad="101600" dist="38100" dir="5400000">
              <a:srgbClr val="1B2340">
                <a:alpha val="12000"/>
              </a:srgbClr>
            </a:outerShdw>
          </a:effectLst>
        </p:spPr>
      </p:sp>
      <p:sp>
        <p:nvSpPr>
          <p:cNvPr id="18" name="barre fenêtre"/>
          <p:cNvSpPr/>
          <p:nvPr/>
        </p:nvSpPr>
        <p:spPr>
          <a:xfrm>
            <a:off x="6784848" y="1481328"/>
            <a:ext cx="4837176" cy="329184"/>
          </a:xfrm>
          <a:prstGeom prst="rect">
            <a:avLst/>
          </a:prstGeom>
          <a:solidFill>
            <a:srgbClr val="F1F3F7"/>
          </a:solidFill>
          <a:ln w="12700">
            <a:solidFill>
              <a:srgbClr val="F1F3F7"/>
            </a:solidFill>
            <a:prstDash val="solid"/>
          </a:ln>
        </p:spPr>
      </p:sp>
      <p:sp>
        <p:nvSpPr>
          <p:cNvPr id="19" name="Shape 17"/>
          <p:cNvSpPr/>
          <p:nvPr/>
        </p:nvSpPr>
        <p:spPr>
          <a:xfrm>
            <a:off x="6903720" y="1581912"/>
            <a:ext cx="109728" cy="109728"/>
          </a:xfrm>
          <a:prstGeom prst="ellipse">
            <a:avLst/>
          </a:prstGeom>
          <a:solidFill>
            <a:srgbClr val="FF5F57"/>
          </a:solidFill>
          <a:ln w="12700">
            <a:solidFill>
              <a:srgbClr val="FF5F57"/>
            </a:solidFill>
            <a:prstDash val="solid"/>
          </a:ln>
        </p:spPr>
      </p:sp>
      <p:sp>
        <p:nvSpPr>
          <p:cNvPr id="20" name="Shape 18"/>
          <p:cNvSpPr/>
          <p:nvPr/>
        </p:nvSpPr>
        <p:spPr>
          <a:xfrm>
            <a:off x="7086600" y="1581912"/>
            <a:ext cx="109728" cy="109728"/>
          </a:xfrm>
          <a:prstGeom prst="ellipse">
            <a:avLst/>
          </a:prstGeom>
          <a:solidFill>
            <a:srgbClr val="FEBC2E"/>
          </a:solidFill>
          <a:ln w="12700">
            <a:solidFill>
              <a:srgbClr val="FEBC2E"/>
            </a:solidFill>
            <a:prstDash val="solid"/>
          </a:ln>
        </p:spPr>
      </p:sp>
      <p:sp>
        <p:nvSpPr>
          <p:cNvPr id="21" name="Shape 19"/>
          <p:cNvSpPr/>
          <p:nvPr/>
        </p:nvSpPr>
        <p:spPr>
          <a:xfrm>
            <a:off x="7269480" y="1581912"/>
            <a:ext cx="109728" cy="109728"/>
          </a:xfrm>
          <a:prstGeom prst="ellipse">
            <a:avLst/>
          </a:prstGeom>
          <a:solidFill>
            <a:srgbClr val="28C840"/>
          </a:solidFill>
          <a:ln w="12700">
            <a:solidFill>
              <a:srgbClr val="28C840"/>
            </a:solidFill>
            <a:prstDash val="solid"/>
          </a:ln>
        </p:spPr>
      </p:sp>
      <p:sp>
        <p:nvSpPr>
          <p:cNvPr id="22" name="Text 20"/>
          <p:cNvSpPr txBox="1"/>
          <p:nvPr/>
        </p:nvSpPr>
        <p:spPr>
          <a:xfrm>
            <a:off x="7543800" y="1499616"/>
            <a:ext cx="3959352" cy="292608"/>
          </a:xfrm>
          <a:prstGeom prst="rect">
            <a:avLst/>
          </a:prstGeom>
          <a:noFill/>
          <a:ln/>
        </p:spPr>
        <p:txBody>
          <a:bodyPr wrap="square" lIns="0" tIns="0" rIns="0" bIns="0" rtlCol="0" anchor="ctr"/>
          <a:lstStyle/>
          <a:p>
            <a:pPr indent="0" marL="0">
              <a:buNone/>
            </a:pPr>
            <a:r>
              <a:rPr lang="en-US" sz="1100" dirty="0">
                <a:solidFill>
                  <a:srgbClr val="6B7280"/>
                </a:solidFill>
              </a:rPr>
              <a:t>WhatsApp API · n8n</a:t>
            </a:r>
            <a:endParaRPr lang="en-US" sz="1100" dirty="0"/>
          </a:p>
        </p:txBody>
      </p:sp>
      <p:sp>
        <p:nvSpPr>
          <p:cNvPr id="23" name="Text 21"/>
          <p:cNvSpPr txBox="1"/>
          <p:nvPr/>
        </p:nvSpPr>
        <p:spPr>
          <a:xfrm>
            <a:off x="7040880" y="2011680"/>
            <a:ext cx="4297680" cy="274320"/>
          </a:xfrm>
          <a:prstGeom prst="rect">
            <a:avLst/>
          </a:prstGeom>
          <a:noFill/>
          <a:ln/>
        </p:spPr>
        <p:txBody>
          <a:bodyPr wrap="square" lIns="0" tIns="0" rIns="0" bIns="0" rtlCol="0" anchor="t"/>
          <a:lstStyle/>
          <a:p>
            <a:pPr indent="0" marL="0">
              <a:buNone/>
            </a:pPr>
            <a:r>
              <a:rPr lang="en-US" sz="1300" b="1" dirty="0">
                <a:solidFill>
                  <a:srgbClr val="1B2340"/>
                </a:solidFill>
              </a:rPr>
              <a:t>Access Token</a:t>
            </a:r>
            <a:endParaRPr lang="en-US" sz="1300" dirty="0"/>
          </a:p>
        </p:txBody>
      </p:sp>
      <p:sp>
        <p:nvSpPr>
          <p:cNvPr id="24" name="Shape 22"/>
          <p:cNvSpPr/>
          <p:nvPr/>
        </p:nvSpPr>
        <p:spPr>
          <a:xfrm>
            <a:off x="7040880" y="2331720"/>
            <a:ext cx="4325112" cy="411480"/>
          </a:xfrm>
          <a:prstGeom prst="roundRect">
            <a:avLst>
              <a:gd name="adj" fmla="val 13333"/>
            </a:avLst>
          </a:prstGeom>
          <a:solidFill>
            <a:srgbClr val="F6F8FC"/>
          </a:solidFill>
          <a:ln w="12700">
            <a:solidFill>
              <a:srgbClr val="D5DCE8"/>
            </a:solidFill>
            <a:prstDash val="solid"/>
          </a:ln>
        </p:spPr>
      </p:sp>
      <p:sp>
        <p:nvSpPr>
          <p:cNvPr id="25" name="Text 23"/>
          <p:cNvSpPr txBox="1"/>
          <p:nvPr/>
        </p:nvSpPr>
        <p:spPr>
          <a:xfrm>
            <a:off x="7178040" y="2331720"/>
            <a:ext cx="4023360" cy="411480"/>
          </a:xfrm>
          <a:prstGeom prst="rect">
            <a:avLst/>
          </a:prstGeom>
          <a:noFill/>
          <a:ln/>
        </p:spPr>
        <p:txBody>
          <a:bodyPr wrap="square" lIns="0" tIns="0" rIns="0" bIns="0" rtlCol="0" anchor="ctr"/>
          <a:lstStyle/>
          <a:p>
            <a:pPr indent="0" marL="0">
              <a:buNone/>
            </a:pPr>
            <a:r>
              <a:rPr lang="en-US" sz="1300" dirty="0">
                <a:solidFill>
                  <a:srgbClr val="6B7280"/>
                </a:solidFill>
              </a:rPr>
              <a:t>••••••••••••••••••••</a:t>
            </a:r>
            <a:endParaRPr lang="en-US" sz="1300" dirty="0"/>
          </a:p>
        </p:txBody>
      </p:sp>
      <p:sp>
        <p:nvSpPr>
          <p:cNvPr id="26" name="Text 24"/>
          <p:cNvSpPr txBox="1"/>
          <p:nvPr/>
        </p:nvSpPr>
        <p:spPr>
          <a:xfrm>
            <a:off x="7040880" y="3017520"/>
            <a:ext cx="4297680" cy="274320"/>
          </a:xfrm>
          <a:prstGeom prst="rect">
            <a:avLst/>
          </a:prstGeom>
          <a:noFill/>
          <a:ln/>
        </p:spPr>
        <p:txBody>
          <a:bodyPr wrap="square" lIns="0" tIns="0" rIns="0" bIns="0" rtlCol="0" anchor="t"/>
          <a:lstStyle/>
          <a:p>
            <a:pPr indent="0" marL="0">
              <a:buNone/>
            </a:pPr>
            <a:r>
              <a:rPr lang="en-US" sz="1300" b="1" dirty="0">
                <a:solidFill>
                  <a:srgbClr val="1B2340"/>
                </a:solidFill>
              </a:rPr>
              <a:t>Business Account ID</a:t>
            </a:r>
            <a:endParaRPr lang="en-US" sz="1300" dirty="0"/>
          </a:p>
        </p:txBody>
      </p:sp>
      <p:sp>
        <p:nvSpPr>
          <p:cNvPr id="27" name="Shape 25"/>
          <p:cNvSpPr/>
          <p:nvPr/>
        </p:nvSpPr>
        <p:spPr>
          <a:xfrm>
            <a:off x="7040880" y="3337560"/>
            <a:ext cx="4325112" cy="411480"/>
          </a:xfrm>
          <a:prstGeom prst="roundRect">
            <a:avLst>
              <a:gd name="adj" fmla="val 13333"/>
            </a:avLst>
          </a:prstGeom>
          <a:solidFill>
            <a:srgbClr val="F6F8FC"/>
          </a:solidFill>
          <a:ln w="12700">
            <a:solidFill>
              <a:srgbClr val="D5DCE8"/>
            </a:solidFill>
            <a:prstDash val="solid"/>
          </a:ln>
        </p:spPr>
      </p:sp>
      <p:sp>
        <p:nvSpPr>
          <p:cNvPr id="28" name="Text 26"/>
          <p:cNvSpPr txBox="1"/>
          <p:nvPr/>
        </p:nvSpPr>
        <p:spPr>
          <a:xfrm>
            <a:off x="7178040" y="3337560"/>
            <a:ext cx="4023360" cy="411480"/>
          </a:xfrm>
          <a:prstGeom prst="rect">
            <a:avLst/>
          </a:prstGeom>
          <a:noFill/>
          <a:ln/>
        </p:spPr>
        <p:txBody>
          <a:bodyPr wrap="square" lIns="0" tIns="0" rIns="0" bIns="0" rtlCol="0" anchor="ctr"/>
          <a:lstStyle/>
          <a:p>
            <a:pPr indent="0" marL="0">
              <a:buNone/>
            </a:pPr>
            <a:r>
              <a:rPr lang="en-US" sz="1300" dirty="0">
                <a:solidFill>
                  <a:srgbClr val="6B7280"/>
                </a:solidFill>
              </a:rPr>
              <a:t>123456789012345</a:t>
            </a:r>
            <a:endParaRPr lang="en-US" sz="1300" dirty="0"/>
          </a:p>
        </p:txBody>
      </p:sp>
      <p:sp>
        <p:nvSpPr>
          <p:cNvPr id="29" name="Shape 27"/>
          <p:cNvSpPr/>
          <p:nvPr/>
        </p:nvSpPr>
        <p:spPr>
          <a:xfrm>
            <a:off x="7040880" y="4160520"/>
            <a:ext cx="4325112" cy="411480"/>
          </a:xfrm>
          <a:prstGeom prst="roundRect">
            <a:avLst>
              <a:gd name="adj" fmla="val 13333"/>
            </a:avLst>
          </a:prstGeom>
          <a:solidFill>
            <a:srgbClr val="E6F4EA"/>
          </a:solidFill>
          <a:ln w="12700">
            <a:solidFill>
              <a:srgbClr val="E6F4EA"/>
            </a:solidFill>
            <a:prstDash val="solid"/>
          </a:ln>
        </p:spPr>
      </p:sp>
      <p:sp>
        <p:nvSpPr>
          <p:cNvPr id="30" name="Text 28"/>
          <p:cNvSpPr txBox="1"/>
          <p:nvPr/>
        </p:nvSpPr>
        <p:spPr>
          <a:xfrm>
            <a:off x="7178040" y="4160520"/>
            <a:ext cx="4023360" cy="411480"/>
          </a:xfrm>
          <a:prstGeom prst="rect">
            <a:avLst/>
          </a:prstGeom>
          <a:noFill/>
          <a:ln/>
        </p:spPr>
        <p:txBody>
          <a:bodyPr wrap="square" lIns="0" tIns="0" rIns="0" bIns="0" rtlCol="0" anchor="ctr"/>
          <a:lstStyle/>
          <a:p>
            <a:pPr indent="0" marL="0">
              <a:buNone/>
            </a:pPr>
            <a:r>
              <a:rPr lang="en-US" sz="1300" b="1" dirty="0">
                <a:solidFill>
                  <a:srgbClr val="1E8E3E"/>
                </a:solidFill>
              </a:rPr>
              <a:t>✓ Connection tested successfully</a:t>
            </a:r>
            <a:endParaRPr lang="en-US" sz="1300" dirty="0"/>
          </a:p>
        </p:txBody>
      </p:sp>
      <p:sp>
        <p:nvSpPr>
          <p:cNvPr id="31" name="Text 29"/>
          <p:cNvSpPr txBox="1"/>
          <p:nvPr/>
        </p:nvSpPr>
        <p:spPr>
          <a:xfrm>
            <a:off x="6766560" y="4846320"/>
            <a:ext cx="4873752" cy="274320"/>
          </a:xfrm>
          <a:prstGeom prst="rect">
            <a:avLst/>
          </a:prstGeom>
          <a:noFill/>
          <a:ln/>
        </p:spPr>
        <p:txBody>
          <a:bodyPr wrap="square" lIns="0" tIns="0" rIns="0" bIns="0" rtlCol="0" anchor="t"/>
          <a:lstStyle/>
          <a:p>
            <a:pPr indent="0" marL="0">
              <a:buNone/>
            </a:pPr>
            <a:r>
              <a:rPr lang="en-US" sz="1100" i="1" dirty="0">
                <a:solidFill>
                  <a:srgbClr val="6B7280"/>
                </a:solidFill>
              </a:rPr>
              <a:t>(valeurs fictives)</a:t>
            </a:r>
            <a:endParaRPr lang="en-US" sz="1100" dirty="0"/>
          </a:p>
        </p:txBody>
      </p:sp>
      <p:sp>
        <p:nvSpPr>
          <p:cNvPr id="32" name="encadré Astuce"/>
          <p:cNvSpPr/>
          <p:nvPr/>
        </p:nvSpPr>
        <p:spPr>
          <a:xfrm>
            <a:off x="548640" y="5257800"/>
            <a:ext cx="11091672" cy="822960"/>
          </a:xfrm>
          <a:prstGeom prst="roundRect">
            <a:avLst>
              <a:gd name="adj" fmla="val 13333"/>
            </a:avLst>
          </a:prstGeom>
          <a:solidFill>
            <a:srgbClr val="E8F5EC"/>
          </a:solidFill>
          <a:ln w="12700">
            <a:solidFill>
              <a:srgbClr val="E8F5EC"/>
            </a:solidFill>
            <a:prstDash val="solid"/>
          </a:ln>
        </p:spPr>
      </p:sp>
      <p:pic>
        <p:nvPicPr>
          <p:cNvPr id="33" name="Image 0" descr="Astuce">    </p:cNvPr>
          <p:cNvPicPr>
            <a:picLocks noChangeAspect="1"/>
          </p:cNvPicPr>
          <p:nvPr/>
        </p:nvPicPr>
        <p:blipFill>
          <a:blip r:embed="rId1"/>
          <a:stretch>
            <a:fillRect/>
          </a:stretch>
        </p:blipFill>
        <p:spPr>
          <a:xfrm>
            <a:off x="749808" y="5440680"/>
            <a:ext cx="347472" cy="347472"/>
          </a:xfrm>
          <a:prstGeom prst="rect">
            <a:avLst/>
          </a:prstGeom>
        </p:spPr>
      </p:pic>
      <p:sp>
        <p:nvSpPr>
          <p:cNvPr id="34" name="Text 31"/>
          <p:cNvSpPr txBox="1"/>
          <p:nvPr/>
        </p:nvSpPr>
        <p:spPr>
          <a:xfrm>
            <a:off x="1261872" y="5404104"/>
            <a:ext cx="10195560" cy="548640"/>
          </a:xfrm>
          <a:prstGeom prst="rect">
            <a:avLst/>
          </a:prstGeom>
          <a:noFill/>
          <a:ln/>
        </p:spPr>
        <p:txBody>
          <a:bodyPr wrap="square" lIns="0" tIns="0" rIns="0" bIns="0" rtlCol="0" anchor="ctr"/>
          <a:lstStyle/>
          <a:p>
            <a:pPr indent="0" marL="0">
              <a:buNone/>
            </a:pPr>
            <a:r>
              <a:rPr lang="en-US" sz="1400" b="1" dirty="0">
                <a:solidFill>
                  <a:srgbClr val="1E8E3E"/>
                </a:solidFill>
              </a:rPr>
              <a:t>Astuce : </a:t>
            </a:r>
            <a:pPr indent="0" marL="0">
              <a:buNone/>
            </a:pPr>
            <a:r>
              <a:rPr lang="en-US" sz="1400" dirty="0">
                <a:solidFill>
                  <a:srgbClr val="1B2340"/>
                </a:solidFill>
              </a:rPr>
              <a:t>pour les autres nœuds WhatsApp, choisis simplement cette connexion dans la liste. On ne la crée qu'une fois.</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Régler chaque nœud WhatsApp</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28C7E"/>
          </a:solidFill>
          <a:ln w="12700">
            <a:solidFill>
              <a:srgbClr val="128C7E"/>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4 · WHATSAPP</a:t>
            </a:r>
            <a:endParaRPr lang="en-US" sz="1200" dirty="0"/>
          </a:p>
        </p:txBody>
      </p:sp>
      <p:graphicFrame>
        <p:nvGraphicFramePr>
          <p:cNvPr id="26"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26080"/>
                <a:gridCol w="8165592"/>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Champ</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28C7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Quoi mettre</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28C7E"/>
                    </a:solidFill>
                  </a:tcPr>
                </a:tc>
              </a:tr>
              <a:tr h="502920">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Credential</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la connexion WhatsApp créée juste avant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Operation</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Send Template (déjà réglé, ne touche pas)</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502920">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Sender Phone Number</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le numéro de test (+1 555…), choisi dans la liste</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Recipient's Phone Number</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le numéro du patron au format 2438XXXXXXXX (sans + ni espace ni 0 devant)</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502920">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Template</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le nom du modèle (slide « Les 6 modèles »), à choisir dans la liste une fois Actif</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B2340"/>
                          </a:solidFill>
                          <a:latin typeface="Calibri" pitchFamily="34" charset="0"/>
                          <a:ea typeface="Calibri" pitchFamily="34" charset="-122"/>
                          <a:cs typeface="Calibri" pitchFamily="34" charset="-120"/>
                        </a:rPr>
                        <a:t>Paramètres {{1}}, {{2}}…</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500" dirty="0">
                          <a:solidFill>
                            <a:srgbClr val="1B2340"/>
                          </a:solidFill>
                          <a:latin typeface="Calibri" pitchFamily="34" charset="0"/>
                          <a:ea typeface="Calibri" pitchFamily="34" charset="-122"/>
                          <a:cs typeface="Calibri" pitchFamily="34" charset="-120"/>
                        </a:rPr>
                        <a:t>ne touche à rien : ils sont déjà branchés</a:t>
                      </a:r>
                      <a:endParaRPr lang="en-US" sz="15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bl>
          </a:graphicData>
        </a:graphic>
      </p:graphicFrame>
      <p:sp>
        <p:nvSpPr>
          <p:cNvPr id="6" name="encadré Attention"/>
          <p:cNvSpPr/>
          <p:nvPr/>
        </p:nvSpPr>
        <p:spPr>
          <a:xfrm>
            <a:off x="548640" y="5120640"/>
            <a:ext cx="11091672" cy="960120"/>
          </a:xfrm>
          <a:prstGeom prst="roundRect">
            <a:avLst>
              <a:gd name="adj" fmla="val 11429"/>
            </a:avLst>
          </a:prstGeom>
          <a:solidFill>
            <a:srgbClr val="FFF4D6"/>
          </a:solidFill>
          <a:ln w="12700">
            <a:solidFill>
              <a:srgbClr val="FFF4D6"/>
            </a:solidFill>
            <a:prstDash val="solid"/>
          </a:ln>
        </p:spPr>
      </p:sp>
      <p:pic>
        <p:nvPicPr>
          <p:cNvPr id="7" name="Image 0" descr="Attention">    </p:cNvPr>
          <p:cNvPicPr>
            <a:picLocks noChangeAspect="1"/>
          </p:cNvPicPr>
          <p:nvPr/>
        </p:nvPicPr>
        <p:blipFill>
          <a:blip r:embed="rId1"/>
          <a:stretch>
            <a:fillRect/>
          </a:stretch>
        </p:blipFill>
        <p:spPr>
          <a:xfrm>
            <a:off x="749808" y="5303520"/>
            <a:ext cx="347472" cy="347472"/>
          </a:xfrm>
          <a:prstGeom prst="rect">
            <a:avLst/>
          </a:prstGeom>
        </p:spPr>
      </p:pic>
      <p:sp>
        <p:nvSpPr>
          <p:cNvPr id="8" name="Text 4"/>
          <p:cNvSpPr txBox="1"/>
          <p:nvPr/>
        </p:nvSpPr>
        <p:spPr>
          <a:xfrm>
            <a:off x="1261872" y="5266944"/>
            <a:ext cx="10195560" cy="685800"/>
          </a:xfrm>
          <a:prstGeom prst="rect">
            <a:avLst/>
          </a:prstGeom>
          <a:noFill/>
          <a:ln/>
        </p:spPr>
        <p:txBody>
          <a:bodyPr wrap="square" lIns="0" tIns="0" rIns="0" bIns="0" rtlCol="0" anchor="ctr"/>
          <a:lstStyle/>
          <a:p>
            <a:pPr indent="0" marL="0">
              <a:buNone/>
            </a:pPr>
            <a:r>
              <a:rPr lang="en-US" sz="1400" b="1" dirty="0">
                <a:solidFill>
                  <a:srgbClr val="B26A00"/>
                </a:solidFill>
              </a:rPr>
              <a:t>Attention : </a:t>
            </a:r>
            <a:pPr indent="0" marL="0">
              <a:buNone/>
            </a:pPr>
            <a:r>
              <a:rPr lang="en-US" sz="1400" dirty="0">
                <a:solidFill>
                  <a:srgbClr val="1B2340"/>
                </a:solidFill>
              </a:rPr>
              <a:t>exception : dans « WhatsApp client : confirmation », ne touche pas au destinataire. Il prend tout seul le téléphone tapé dans le formulaire.</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Le grand test</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28C7E"/>
          </a:solidFill>
          <a:ln w="12700">
            <a:solidFill>
              <a:srgbClr val="128C7E"/>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4 · WHATSAPP</a:t>
            </a:r>
            <a:endParaRPr lang="en-US" sz="1200" dirty="0"/>
          </a:p>
        </p:txBody>
      </p:sp>
      <p:sp>
        <p:nvSpPr>
          <p:cNvPr id="5" name="numéro 1"/>
          <p:cNvSpPr/>
          <p:nvPr/>
        </p:nvSpPr>
        <p:spPr>
          <a:xfrm>
            <a:off x="548640" y="1435608"/>
            <a:ext cx="402336" cy="402336"/>
          </a:xfrm>
          <a:prstGeom prst="ellipse">
            <a:avLst/>
          </a:prstGeom>
          <a:solidFill>
            <a:srgbClr val="128C7E"/>
          </a:solidFill>
          <a:ln w="12700">
            <a:solidFill>
              <a:srgbClr val="128C7E"/>
            </a:solidFill>
            <a:prstDash val="solid"/>
          </a:ln>
        </p:spPr>
      </p:sp>
      <p:sp>
        <p:nvSpPr>
          <p:cNvPr id="6" name="Text 4"/>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15568" y="1417320"/>
            <a:ext cx="5468112" cy="914400"/>
          </a:xfrm>
          <a:prstGeom prst="rect">
            <a:avLst/>
          </a:prstGeom>
          <a:noFill/>
          <a:ln/>
        </p:spPr>
        <p:txBody>
          <a:bodyPr wrap="square" lIns="0" tIns="0" rIns="0" bIns="0" rtlCol="0" anchor="t"/>
          <a:lstStyle/>
          <a:p>
            <a:pPr indent="0" marL="0">
              <a:buNone/>
            </a:pPr>
            <a:r>
              <a:rPr lang="en-US" sz="1500" b="1" dirty="0">
                <a:solidFill>
                  <a:srgbClr val="1B2340"/>
                </a:solidFill>
              </a:rPr>
              <a:t>Dans WhatsApp Manager, vérifie que les modèles sont « Actif »</a:t>
            </a:r>
            <a:pPr indent="0" marL="0">
              <a:buNone/>
            </a:pPr>
            <a:r>
              <a:rPr lang="en-US" sz="1500" dirty="0">
                <a:solidFill>
                  <a:srgbClr val="3A4566"/>
                </a:solidFill>
              </a:rPr>
              <a:t>  (vert). « En cours d'examen » = il faut attendre.</a:t>
            </a:r>
            <a:endParaRPr lang="en-US" sz="1500" dirty="0"/>
          </a:p>
        </p:txBody>
      </p:sp>
      <p:sp>
        <p:nvSpPr>
          <p:cNvPr id="8" name="numéro 2"/>
          <p:cNvSpPr/>
          <p:nvPr/>
        </p:nvSpPr>
        <p:spPr>
          <a:xfrm>
            <a:off x="548640" y="2459736"/>
            <a:ext cx="402336" cy="402336"/>
          </a:xfrm>
          <a:prstGeom prst="ellipse">
            <a:avLst/>
          </a:prstGeom>
          <a:solidFill>
            <a:srgbClr val="128C7E"/>
          </a:solidFill>
          <a:ln w="12700">
            <a:solidFill>
              <a:srgbClr val="128C7E"/>
            </a:solidFill>
            <a:prstDash val="solid"/>
          </a:ln>
        </p:spPr>
      </p:sp>
      <p:sp>
        <p:nvSpPr>
          <p:cNvPr id="9" name="Text 7"/>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15568" y="2441448"/>
            <a:ext cx="5468112" cy="914400"/>
          </a:xfrm>
          <a:prstGeom prst="rect">
            <a:avLst/>
          </a:prstGeom>
          <a:noFill/>
          <a:ln/>
        </p:spPr>
        <p:txBody>
          <a:bodyPr wrap="square" lIns="0" tIns="0" rIns="0" bIns="0" rtlCol="0" anchor="t"/>
          <a:lstStyle/>
          <a:p>
            <a:pPr indent="0" marL="0">
              <a:buNone/>
            </a:pPr>
            <a:r>
              <a:rPr lang="en-US" sz="1500" b="1" dirty="0">
                <a:solidFill>
                  <a:srgbClr val="1B2340"/>
                </a:solidFill>
              </a:rPr>
              <a:t>Réactive les nœuds WhatsApp (touche D), Ctrl+S.</a:t>
            </a:r>
            <a:endParaRPr lang="en-US" sz="1500" dirty="0"/>
          </a:p>
        </p:txBody>
      </p:sp>
      <p:sp>
        <p:nvSpPr>
          <p:cNvPr id="11" name="numéro 3"/>
          <p:cNvSpPr/>
          <p:nvPr/>
        </p:nvSpPr>
        <p:spPr>
          <a:xfrm>
            <a:off x="548640" y="3483864"/>
            <a:ext cx="402336" cy="402336"/>
          </a:xfrm>
          <a:prstGeom prst="ellipse">
            <a:avLst/>
          </a:prstGeom>
          <a:solidFill>
            <a:srgbClr val="128C7E"/>
          </a:solidFill>
          <a:ln w="12700">
            <a:solidFill>
              <a:srgbClr val="128C7E"/>
            </a:solidFill>
            <a:prstDash val="solid"/>
          </a:ln>
        </p:spPr>
      </p:sp>
      <p:sp>
        <p:nvSpPr>
          <p:cNvPr id="12" name="Text 10"/>
          <p:cNvSpPr txBox="1"/>
          <p:nvPr/>
        </p:nvSpPr>
        <p:spPr>
          <a:xfrm>
            <a:off x="548640" y="34838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15568" y="3465576"/>
            <a:ext cx="5468112" cy="914400"/>
          </a:xfrm>
          <a:prstGeom prst="rect">
            <a:avLst/>
          </a:prstGeom>
          <a:noFill/>
          <a:ln/>
        </p:spPr>
        <p:txBody>
          <a:bodyPr wrap="square" lIns="0" tIns="0" rIns="0" bIns="0" rtlCol="0" anchor="t"/>
          <a:lstStyle/>
          <a:p>
            <a:pPr indent="0" marL="0">
              <a:buNone/>
            </a:pPr>
            <a:r>
              <a:rPr lang="en-US" sz="1500" b="1" dirty="0">
                <a:solidFill>
                  <a:srgbClr val="1B2340"/>
                </a:solidFill>
              </a:rPr>
              <a:t>Execute workflow →</a:t>
            </a:r>
            <a:pPr indent="0" marL="0">
              <a:buNone/>
            </a:pPr>
            <a:r>
              <a:rPr lang="en-US" sz="1500" dirty="0">
                <a:solidFill>
                  <a:srgbClr val="3A4566"/>
                </a:solidFill>
              </a:rPr>
              <a:t>  Jean, TON numéro, P002, 2 → Envoyer.</a:t>
            </a:r>
            <a:endParaRPr lang="en-US" sz="1500" dirty="0"/>
          </a:p>
        </p:txBody>
      </p:sp>
      <p:sp>
        <p:nvSpPr>
          <p:cNvPr id="14" name="numéro 4"/>
          <p:cNvSpPr/>
          <p:nvPr/>
        </p:nvSpPr>
        <p:spPr>
          <a:xfrm>
            <a:off x="548640" y="4507992"/>
            <a:ext cx="402336" cy="402336"/>
          </a:xfrm>
          <a:prstGeom prst="ellipse">
            <a:avLst/>
          </a:prstGeom>
          <a:solidFill>
            <a:srgbClr val="128C7E"/>
          </a:solidFill>
          <a:ln w="12700">
            <a:solidFill>
              <a:srgbClr val="128C7E"/>
            </a:solidFill>
            <a:prstDash val="solid"/>
          </a:ln>
        </p:spPr>
      </p:sp>
      <p:sp>
        <p:nvSpPr>
          <p:cNvPr id="15" name="Text 13"/>
          <p:cNvSpPr txBox="1"/>
          <p:nvPr/>
        </p:nvSpPr>
        <p:spPr>
          <a:xfrm>
            <a:off x="54864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15568" y="4489704"/>
            <a:ext cx="5468112" cy="914400"/>
          </a:xfrm>
          <a:prstGeom prst="rect">
            <a:avLst/>
          </a:prstGeom>
          <a:noFill/>
          <a:ln/>
        </p:spPr>
        <p:txBody>
          <a:bodyPr wrap="square" lIns="0" tIns="0" rIns="0" bIns="0" rtlCol="0" anchor="t"/>
          <a:lstStyle/>
          <a:p>
            <a:pPr indent="0" marL="0">
              <a:buNone/>
            </a:pPr>
            <a:r>
              <a:rPr lang="en-US" sz="1500" b="1" dirty="0">
                <a:solidFill>
                  <a:srgbClr val="1B2340"/>
                </a:solidFill>
              </a:rPr>
              <a:t>Regarde ton téléphone</a:t>
            </a:r>
            <a:pPr indent="0" marL="0">
              <a:buNone/>
            </a:pPr>
            <a:r>
              <a:rPr lang="en-US" sz="1500" dirty="0">
                <a:solidFill>
                  <a:srgbClr val="3A4566"/>
                </a:solidFill>
              </a:rPr>
              <a:t>  et le Google Sheet.</a:t>
            </a:r>
            <a:endParaRPr lang="en-US" sz="1500" dirty="0"/>
          </a:p>
        </p:txBody>
      </p:sp>
      <p:sp>
        <p:nvSpPr>
          <p:cNvPr id="17" name="téléphone"/>
          <p:cNvSpPr/>
          <p:nvPr/>
        </p:nvSpPr>
        <p:spPr>
          <a:xfrm>
            <a:off x="7589520" y="1325880"/>
            <a:ext cx="3383280" cy="4892040"/>
          </a:xfrm>
          <a:prstGeom prst="roundRect">
            <a:avLst>
              <a:gd name="adj" fmla="val 9459"/>
            </a:avLst>
          </a:prstGeom>
          <a:solidFill>
            <a:srgbClr val="1B2340"/>
          </a:solidFill>
          <a:ln w="12700">
            <a:solidFill>
              <a:srgbClr val="1B2340"/>
            </a:solidFill>
            <a:prstDash val="solid"/>
          </a:ln>
        </p:spPr>
      </p:sp>
      <p:sp>
        <p:nvSpPr>
          <p:cNvPr id="18" name="écran"/>
          <p:cNvSpPr/>
          <p:nvPr/>
        </p:nvSpPr>
        <p:spPr>
          <a:xfrm>
            <a:off x="7726680" y="1508760"/>
            <a:ext cx="3108960" cy="4526280"/>
          </a:xfrm>
          <a:prstGeom prst="roundRect">
            <a:avLst>
              <a:gd name="adj" fmla="val 5882"/>
            </a:avLst>
          </a:prstGeom>
          <a:solidFill>
            <a:srgbClr val="ECE5DD"/>
          </a:solidFill>
          <a:ln w="12700">
            <a:solidFill>
              <a:srgbClr val="ECE5DD"/>
            </a:solidFill>
            <a:prstDash val="solid"/>
          </a:ln>
        </p:spPr>
      </p:sp>
      <p:sp>
        <p:nvSpPr>
          <p:cNvPr id="19" name="bulle WhatsApp"/>
          <p:cNvSpPr/>
          <p:nvPr/>
        </p:nvSpPr>
        <p:spPr>
          <a:xfrm>
            <a:off x="7863840" y="1783080"/>
            <a:ext cx="2834640" cy="1600200"/>
          </a:xfrm>
          <a:prstGeom prst="roundRect">
            <a:avLst>
              <a:gd name="adj" fmla="val 6857"/>
            </a:avLst>
          </a:prstGeom>
          <a:solidFill>
            <a:srgbClr val="FFFFFF"/>
          </a:solidFill>
          <a:ln w="12700">
            <a:solidFill>
              <a:srgbClr val="E2E8F0"/>
            </a:solidFill>
            <a:prstDash val="solid"/>
          </a:ln>
          <a:effectLst>
            <a:outerShdw sx="100000" sy="100000" kx="0" ky="0" algn="bl" rotWithShape="0" blurRad="50800" dist="12700" dir="5400000">
              <a:srgbClr val="000000">
                <a:alpha val="12000"/>
              </a:srgbClr>
            </a:outerShdw>
          </a:effectLst>
        </p:spPr>
      </p:sp>
      <p:sp>
        <p:nvSpPr>
          <p:cNvPr id="20" name="Text 18"/>
          <p:cNvSpPr txBox="1"/>
          <p:nvPr/>
        </p:nvSpPr>
        <p:spPr>
          <a:xfrm>
            <a:off x="8001000" y="1892808"/>
            <a:ext cx="2560320" cy="1380744"/>
          </a:xfrm>
          <a:prstGeom prst="rect">
            <a:avLst/>
          </a:prstGeom>
          <a:noFill/>
          <a:ln/>
        </p:spPr>
        <p:txBody>
          <a:bodyPr wrap="square" lIns="0" tIns="0" rIns="0" bIns="0" rtlCol="0" anchor="t"/>
          <a:lstStyle/>
          <a:p>
            <a:pPr indent="0" marL="0">
              <a:buNone/>
            </a:pPr>
            <a:r>
              <a:rPr lang="en-US" sz="1200" b="1" dirty="0">
                <a:solidFill>
                  <a:srgbClr val="1B2340"/>
                </a:solidFill>
              </a:rPr>
              <a:t>Nouvelle commande</a:t>
            </a:r>
            <a:endParaRPr lang="en-US" sz="1200" dirty="0"/>
          </a:p>
          <a:p>
            <a:pPr indent="0" marL="0">
              <a:buNone/>
            </a:pPr>
            <a:r>
              <a:rPr lang="en-US" sz="1200" dirty="0">
                <a:solidFill>
                  <a:srgbClr val="1B2340"/>
                </a:solidFill>
              </a:rPr>
              <a:t>Nouvelle commande reçue. Client : Jean (0812…). Produit : Huile 5 L, quantité 2. Stock restant : 8…</a:t>
            </a:r>
            <a:endParaRPr lang="en-US" sz="1200" dirty="0"/>
          </a:p>
        </p:txBody>
      </p:sp>
      <p:sp>
        <p:nvSpPr>
          <p:cNvPr id="21" name="bulle WhatsApp"/>
          <p:cNvSpPr/>
          <p:nvPr/>
        </p:nvSpPr>
        <p:spPr>
          <a:xfrm>
            <a:off x="7863840" y="3611880"/>
            <a:ext cx="2834640" cy="1371600"/>
          </a:xfrm>
          <a:prstGeom prst="roundRect">
            <a:avLst>
              <a:gd name="adj" fmla="val 8000"/>
            </a:avLst>
          </a:prstGeom>
          <a:solidFill>
            <a:srgbClr val="FFFFFF"/>
          </a:solidFill>
          <a:ln w="12700">
            <a:solidFill>
              <a:srgbClr val="E2E8F0"/>
            </a:solidFill>
            <a:prstDash val="solid"/>
          </a:ln>
          <a:effectLst>
            <a:outerShdw sx="100000" sy="100000" kx="0" ky="0" algn="bl" rotWithShape="0" blurRad="50800" dist="12700" dir="5400000">
              <a:srgbClr val="000000">
                <a:alpha val="12000"/>
              </a:srgbClr>
            </a:outerShdw>
          </a:effectLst>
        </p:spPr>
      </p:sp>
      <p:sp>
        <p:nvSpPr>
          <p:cNvPr id="22" name="Text 20"/>
          <p:cNvSpPr txBox="1"/>
          <p:nvPr/>
        </p:nvSpPr>
        <p:spPr>
          <a:xfrm>
            <a:off x="8001000" y="3721608"/>
            <a:ext cx="2560320" cy="1152144"/>
          </a:xfrm>
          <a:prstGeom prst="rect">
            <a:avLst/>
          </a:prstGeom>
          <a:noFill/>
          <a:ln/>
        </p:spPr>
        <p:txBody>
          <a:bodyPr wrap="square" lIns="0" tIns="0" rIns="0" bIns="0" rtlCol="0" anchor="t"/>
          <a:lstStyle/>
          <a:p>
            <a:pPr indent="0" marL="0">
              <a:buNone/>
            </a:pPr>
            <a:r>
              <a:rPr lang="en-US" sz="1200" b="1" dirty="0">
                <a:solidFill>
                  <a:srgbClr val="1B2340"/>
                </a:solidFill>
              </a:rPr>
              <a:t>Commande confirmée</a:t>
            </a:r>
            <a:endParaRPr lang="en-US" sz="1200" dirty="0"/>
          </a:p>
          <a:p>
            <a:pPr indent="0" marL="0">
              <a:buNone/>
            </a:pPr>
            <a:r>
              <a:rPr lang="en-US" sz="1200" dirty="0">
                <a:solidFill>
                  <a:srgbClr val="1B2340"/>
                </a:solidFill>
              </a:rPr>
              <a:t>Bonjour Jean, votre commande est bien enregistrée : Huile 5 L, quantité 2…</a:t>
            </a:r>
            <a:endParaRPr lang="en-US" sz="1200" dirty="0"/>
          </a:p>
        </p:txBody>
      </p:sp>
      <p:sp>
        <p:nvSpPr>
          <p:cNvPr id="23" name="Text 21"/>
          <p:cNvSpPr txBox="1"/>
          <p:nvPr/>
        </p:nvSpPr>
        <p:spPr>
          <a:xfrm>
            <a:off x="7589520" y="6236208"/>
            <a:ext cx="3383280" cy="228600"/>
          </a:xfrm>
          <a:prstGeom prst="rect">
            <a:avLst/>
          </a:prstGeom>
          <a:noFill/>
          <a:ln/>
        </p:spPr>
        <p:txBody>
          <a:bodyPr wrap="square" lIns="0" tIns="0" rIns="0" bIns="0" rtlCol="0" anchor="t"/>
          <a:lstStyle/>
          <a:p>
            <a:pPr algn="ctr" indent="0" marL="0">
              <a:buNone/>
            </a:pPr>
            <a:r>
              <a:rPr lang="en-US" sz="1000" dirty="0">
                <a:solidFill>
                  <a:srgbClr val="6B7280"/>
                </a:solidFill>
              </a:rPr>
              <a:t>Exemple de messages reçus (textes raccourcis)</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Mettre en service</a:t>
            </a:r>
            <a:endParaRPr lang="en-US" sz="3000" dirty="0"/>
          </a:p>
        </p:txBody>
      </p:sp>
      <p:sp>
        <p:nvSpPr>
          <p:cNvPr id="3" name="badge étape"/>
          <p:cNvSpPr/>
          <p:nvPr/>
        </p:nvSpPr>
        <p:spPr>
          <a:xfrm>
            <a:off x="9555480" y="502920"/>
            <a:ext cx="2084832" cy="457200"/>
          </a:xfrm>
          <a:prstGeom prst="roundRect">
            <a:avLst>
              <a:gd name="adj" fmla="val 50000"/>
            </a:avLst>
          </a:prstGeom>
          <a:solidFill>
            <a:srgbClr val="128C7E"/>
          </a:solidFill>
          <a:ln w="12700">
            <a:solidFill>
              <a:srgbClr val="128C7E"/>
            </a:solidFill>
            <a:prstDash val="solid"/>
          </a:ln>
        </p:spPr>
      </p:sp>
      <p:sp>
        <p:nvSpPr>
          <p:cNvPr id="4" name="Text 2"/>
          <p:cNvSpPr txBox="1"/>
          <p:nvPr/>
        </p:nvSpPr>
        <p:spPr>
          <a:xfrm>
            <a:off x="9555480" y="502920"/>
            <a:ext cx="2084832"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ÉTAPE 4 · WHATSAPP</a:t>
            </a:r>
            <a:endParaRPr lang="en-US" sz="1200" dirty="0"/>
          </a:p>
        </p:txBody>
      </p:sp>
      <p:sp>
        <p:nvSpPr>
          <p:cNvPr id="5" name="carte"/>
          <p:cNvSpPr/>
          <p:nvPr/>
        </p:nvSpPr>
        <p:spPr>
          <a:xfrm>
            <a:off x="548640" y="1463040"/>
            <a:ext cx="3520440" cy="3337560"/>
          </a:xfrm>
          <a:prstGeom prst="roundRect">
            <a:avLst>
              <a:gd name="adj" fmla="val 4110"/>
            </a:avLst>
          </a:prstGeom>
          <a:solidFill>
            <a:srgbClr val="EEF2F8"/>
          </a:solidFill>
          <a:ln w="12700">
            <a:solidFill>
              <a:srgbClr val="EEF2F8"/>
            </a:solidFill>
            <a:prstDash val="solid"/>
          </a:ln>
        </p:spPr>
      </p:sp>
      <p:sp>
        <p:nvSpPr>
          <p:cNvPr id="6" name="pastille FaPlug"/>
          <p:cNvSpPr/>
          <p:nvPr/>
        </p:nvSpPr>
        <p:spPr>
          <a:xfrm>
            <a:off x="868680" y="1737360"/>
            <a:ext cx="777240" cy="777240"/>
          </a:xfrm>
          <a:prstGeom prst="ellipse">
            <a:avLst/>
          </a:prstGeom>
          <a:solidFill>
            <a:srgbClr val="128C7E"/>
          </a:solidFill>
          <a:ln w="12700">
            <a:solidFill>
              <a:srgbClr val="128C7E"/>
            </a:solidFill>
            <a:prstDash val="solid"/>
          </a:ln>
        </p:spPr>
      </p:sp>
      <p:pic>
        <p:nvPicPr>
          <p:cNvPr id="7" name="Image 0" descr="FaPlug">    </p:cNvPr>
          <p:cNvPicPr>
            <a:picLocks noChangeAspect="1"/>
          </p:cNvPicPr>
          <p:nvPr/>
        </p:nvPicPr>
        <p:blipFill>
          <a:blip r:embed="rId1"/>
          <a:stretch>
            <a:fillRect/>
          </a:stretch>
        </p:blipFill>
        <p:spPr>
          <a:xfrm>
            <a:off x="1039673" y="1908353"/>
            <a:ext cx="435254" cy="435254"/>
          </a:xfrm>
          <a:prstGeom prst="rect">
            <a:avLst/>
          </a:prstGeom>
        </p:spPr>
      </p:pic>
      <p:sp>
        <p:nvSpPr>
          <p:cNvPr id="8" name="Text 5"/>
          <p:cNvSpPr txBox="1"/>
          <p:nvPr/>
        </p:nvSpPr>
        <p:spPr>
          <a:xfrm>
            <a:off x="868680" y="2697480"/>
            <a:ext cx="2926080" cy="457200"/>
          </a:xfrm>
          <a:prstGeom prst="rect">
            <a:avLst/>
          </a:prstGeom>
          <a:noFill/>
          <a:ln/>
        </p:spPr>
        <p:txBody>
          <a:bodyPr wrap="square" lIns="0" tIns="0" rIns="0" bIns="0" rtlCol="0" anchor="t"/>
          <a:lstStyle/>
          <a:p>
            <a:pPr indent="0" marL="0">
              <a:buNone/>
            </a:pPr>
            <a:r>
              <a:rPr lang="en-US" sz="1900" b="1" dirty="0">
                <a:solidFill>
                  <a:srgbClr val="1B2340"/>
                </a:solidFill>
              </a:rPr>
              <a:t>Activer</a:t>
            </a:r>
            <a:endParaRPr lang="en-US" sz="1900" dirty="0"/>
          </a:p>
        </p:txBody>
      </p:sp>
      <p:sp>
        <p:nvSpPr>
          <p:cNvPr id="9" name="Text 6"/>
          <p:cNvSpPr txBox="1"/>
          <p:nvPr/>
        </p:nvSpPr>
        <p:spPr>
          <a:xfrm>
            <a:off x="868680" y="3200400"/>
            <a:ext cx="2926080" cy="1554480"/>
          </a:xfrm>
          <a:prstGeom prst="rect">
            <a:avLst/>
          </a:prstGeom>
          <a:noFill/>
          <a:ln/>
        </p:spPr>
        <p:txBody>
          <a:bodyPr wrap="square" lIns="0" tIns="0" rIns="0" bIns="0" rtlCol="0" anchor="t"/>
          <a:lstStyle/>
          <a:p>
            <a:pPr indent="0" marL="0">
              <a:buNone/>
            </a:pPr>
            <a:r>
              <a:rPr lang="en-US" sz="1400" dirty="0">
                <a:solidFill>
                  <a:srgbClr val="3A4566"/>
                </a:solidFill>
              </a:rPr>
              <a:t>En haut de chaque workflow, mets l'interrupteur sur Active (ou clique sur Publish). Fais-le pour les 4.</a:t>
            </a:r>
            <a:endParaRPr lang="en-US" sz="1400" dirty="0"/>
          </a:p>
        </p:txBody>
      </p:sp>
      <p:sp>
        <p:nvSpPr>
          <p:cNvPr id="10" name="carte"/>
          <p:cNvSpPr/>
          <p:nvPr/>
        </p:nvSpPr>
        <p:spPr>
          <a:xfrm>
            <a:off x="4297680" y="1463040"/>
            <a:ext cx="3520440" cy="3337560"/>
          </a:xfrm>
          <a:prstGeom prst="roundRect">
            <a:avLst>
              <a:gd name="adj" fmla="val 4110"/>
            </a:avLst>
          </a:prstGeom>
          <a:solidFill>
            <a:srgbClr val="EEF2F8"/>
          </a:solidFill>
          <a:ln w="12700">
            <a:solidFill>
              <a:srgbClr val="EEF2F8"/>
            </a:solidFill>
            <a:prstDash val="solid"/>
          </a:ln>
        </p:spPr>
      </p:sp>
      <p:sp>
        <p:nvSpPr>
          <p:cNvPr id="11" name="pastille FaLink"/>
          <p:cNvSpPr/>
          <p:nvPr/>
        </p:nvSpPr>
        <p:spPr>
          <a:xfrm>
            <a:off x="4617720" y="1737360"/>
            <a:ext cx="777240" cy="777240"/>
          </a:xfrm>
          <a:prstGeom prst="ellipse">
            <a:avLst/>
          </a:prstGeom>
          <a:solidFill>
            <a:srgbClr val="EA4B71"/>
          </a:solidFill>
          <a:ln w="12700">
            <a:solidFill>
              <a:srgbClr val="EA4B71"/>
            </a:solidFill>
            <a:prstDash val="solid"/>
          </a:ln>
        </p:spPr>
      </p:sp>
      <p:pic>
        <p:nvPicPr>
          <p:cNvPr id="12" name="Image 1" descr="FaLink">    </p:cNvPr>
          <p:cNvPicPr>
            <a:picLocks noChangeAspect="1"/>
          </p:cNvPicPr>
          <p:nvPr/>
        </p:nvPicPr>
        <p:blipFill>
          <a:blip r:embed="rId2"/>
          <a:stretch>
            <a:fillRect/>
          </a:stretch>
        </p:blipFill>
        <p:spPr>
          <a:xfrm>
            <a:off x="4788713" y="1908353"/>
            <a:ext cx="435254" cy="435254"/>
          </a:xfrm>
          <a:prstGeom prst="rect">
            <a:avLst/>
          </a:prstGeom>
        </p:spPr>
      </p:pic>
      <p:sp>
        <p:nvSpPr>
          <p:cNvPr id="13" name="Text 9"/>
          <p:cNvSpPr txBox="1"/>
          <p:nvPr/>
        </p:nvSpPr>
        <p:spPr>
          <a:xfrm>
            <a:off x="4617720" y="2697480"/>
            <a:ext cx="2926080" cy="457200"/>
          </a:xfrm>
          <a:prstGeom prst="rect">
            <a:avLst/>
          </a:prstGeom>
          <a:noFill/>
          <a:ln/>
        </p:spPr>
        <p:txBody>
          <a:bodyPr wrap="square" lIns="0" tIns="0" rIns="0" bIns="0" rtlCol="0" anchor="t"/>
          <a:lstStyle/>
          <a:p>
            <a:pPr indent="0" marL="0">
              <a:buNone/>
            </a:pPr>
            <a:r>
              <a:rPr lang="en-US" sz="1900" b="1" dirty="0">
                <a:solidFill>
                  <a:srgbClr val="1B2340"/>
                </a:solidFill>
              </a:rPr>
              <a:t>Donner les formulaires</a:t>
            </a:r>
            <a:endParaRPr lang="en-US" sz="1900" dirty="0"/>
          </a:p>
        </p:txBody>
      </p:sp>
      <p:sp>
        <p:nvSpPr>
          <p:cNvPr id="14" name="Text 10"/>
          <p:cNvSpPr txBox="1"/>
          <p:nvPr/>
        </p:nvSpPr>
        <p:spPr>
          <a:xfrm>
            <a:off x="4617720" y="3200400"/>
            <a:ext cx="2926080" cy="1554480"/>
          </a:xfrm>
          <a:prstGeom prst="rect">
            <a:avLst/>
          </a:prstGeom>
          <a:noFill/>
          <a:ln/>
        </p:spPr>
        <p:txBody>
          <a:bodyPr wrap="square" lIns="0" tIns="0" rIns="0" bIns="0" rtlCol="0" anchor="t"/>
          <a:lstStyle/>
          <a:p>
            <a:pPr indent="0" marL="0">
              <a:buNone/>
            </a:pPr>
            <a:r>
              <a:rPr lang="en-US" sz="1400" dirty="0">
                <a:solidFill>
                  <a:srgbClr val="3A4566"/>
                </a:solidFill>
              </a:rPr>
              <a:t>Dans le nœud « Formulaire de commande », copie la Production URL. Envoie-la au vendeur sur WhatsApp. Même chose pour le formulaire « Arrivage » au magasinier.</a:t>
            </a:r>
            <a:endParaRPr lang="en-US" sz="1400" dirty="0"/>
          </a:p>
        </p:txBody>
      </p:sp>
      <p:sp>
        <p:nvSpPr>
          <p:cNvPr id="15" name="carte"/>
          <p:cNvSpPr/>
          <p:nvPr/>
        </p:nvSpPr>
        <p:spPr>
          <a:xfrm>
            <a:off x="8046720" y="1463040"/>
            <a:ext cx="3520440" cy="3337560"/>
          </a:xfrm>
          <a:prstGeom prst="roundRect">
            <a:avLst>
              <a:gd name="adj" fmla="val 4110"/>
            </a:avLst>
          </a:prstGeom>
          <a:solidFill>
            <a:srgbClr val="EEF2F8"/>
          </a:solidFill>
          <a:ln w="12700">
            <a:solidFill>
              <a:srgbClr val="EEF2F8"/>
            </a:solidFill>
            <a:prstDash val="solid"/>
          </a:ln>
        </p:spPr>
      </p:sp>
      <p:sp>
        <p:nvSpPr>
          <p:cNvPr id="16" name="pastille FaClock"/>
          <p:cNvSpPr/>
          <p:nvPr/>
        </p:nvSpPr>
        <p:spPr>
          <a:xfrm>
            <a:off x="8366760" y="1737360"/>
            <a:ext cx="777240" cy="777240"/>
          </a:xfrm>
          <a:prstGeom prst="ellipse">
            <a:avLst/>
          </a:prstGeom>
          <a:solidFill>
            <a:srgbClr val="1B2340"/>
          </a:solidFill>
          <a:ln w="12700">
            <a:solidFill>
              <a:srgbClr val="1B2340"/>
            </a:solidFill>
            <a:prstDash val="solid"/>
          </a:ln>
        </p:spPr>
      </p:sp>
      <p:pic>
        <p:nvPicPr>
          <p:cNvPr id="17" name="Image 2" descr="FaClock">    </p:cNvPr>
          <p:cNvPicPr>
            <a:picLocks noChangeAspect="1"/>
          </p:cNvPicPr>
          <p:nvPr/>
        </p:nvPicPr>
        <p:blipFill>
          <a:blip r:embed="rId3"/>
          <a:stretch>
            <a:fillRect/>
          </a:stretch>
        </p:blipFill>
        <p:spPr>
          <a:xfrm>
            <a:off x="8537753" y="1908353"/>
            <a:ext cx="435254" cy="435254"/>
          </a:xfrm>
          <a:prstGeom prst="rect">
            <a:avLst/>
          </a:prstGeom>
        </p:spPr>
      </p:pic>
      <p:sp>
        <p:nvSpPr>
          <p:cNvPr id="18" name="Text 13"/>
          <p:cNvSpPr txBox="1"/>
          <p:nvPr/>
        </p:nvSpPr>
        <p:spPr>
          <a:xfrm>
            <a:off x="8366760" y="2697480"/>
            <a:ext cx="2926080" cy="457200"/>
          </a:xfrm>
          <a:prstGeom prst="rect">
            <a:avLst/>
          </a:prstGeom>
          <a:noFill/>
          <a:ln/>
        </p:spPr>
        <p:txBody>
          <a:bodyPr wrap="square" lIns="0" tIns="0" rIns="0" bIns="0" rtlCol="0" anchor="t"/>
          <a:lstStyle/>
          <a:p>
            <a:pPr indent="0" marL="0">
              <a:buNone/>
            </a:pPr>
            <a:r>
              <a:rPr lang="en-US" sz="1900" b="1" dirty="0">
                <a:solidFill>
                  <a:srgbClr val="1B2340"/>
                </a:solidFill>
              </a:rPr>
              <a:t>Laisser tourner</a:t>
            </a:r>
            <a:endParaRPr lang="en-US" sz="1900" dirty="0"/>
          </a:p>
        </p:txBody>
      </p:sp>
      <p:sp>
        <p:nvSpPr>
          <p:cNvPr id="19" name="Text 14"/>
          <p:cNvSpPr txBox="1"/>
          <p:nvPr/>
        </p:nvSpPr>
        <p:spPr>
          <a:xfrm>
            <a:off x="8366760" y="3200400"/>
            <a:ext cx="2926080" cy="1554480"/>
          </a:xfrm>
          <a:prstGeom prst="rect">
            <a:avLst/>
          </a:prstGeom>
          <a:noFill/>
          <a:ln/>
        </p:spPr>
        <p:txBody>
          <a:bodyPr wrap="square" lIns="0" tIns="0" rIns="0" bIns="0" rtlCol="0" anchor="t"/>
          <a:lstStyle/>
          <a:p>
            <a:pPr indent="0" marL="0">
              <a:buNone/>
            </a:pPr>
            <a:r>
              <a:rPr lang="en-US" sz="1400" dirty="0">
                <a:solidFill>
                  <a:srgbClr val="3A4566"/>
                </a:solidFill>
              </a:rPr>
              <a:t>Stock 2 (19 h) et Stock 4 (8 h) partent tout seuls, à l'heure de Kinshasa. Rien à faire.</a:t>
            </a:r>
            <a:endParaRPr lang="en-US" sz="1400" dirty="0"/>
          </a:p>
        </p:txBody>
      </p:sp>
      <p:sp>
        <p:nvSpPr>
          <p:cNvPr id="20" name="encadré Attention"/>
          <p:cNvSpPr/>
          <p:nvPr/>
        </p:nvSpPr>
        <p:spPr>
          <a:xfrm>
            <a:off x="548640" y="5074920"/>
            <a:ext cx="11091672" cy="1005840"/>
          </a:xfrm>
          <a:prstGeom prst="roundRect">
            <a:avLst>
              <a:gd name="adj" fmla="val 10909"/>
            </a:avLst>
          </a:prstGeom>
          <a:solidFill>
            <a:srgbClr val="FFF4D6"/>
          </a:solidFill>
          <a:ln w="12700">
            <a:solidFill>
              <a:srgbClr val="FFF4D6"/>
            </a:solidFill>
            <a:prstDash val="solid"/>
          </a:ln>
        </p:spPr>
      </p:sp>
      <p:pic>
        <p:nvPicPr>
          <p:cNvPr id="21" name="Image 3" descr="Attention">    </p:cNvPr>
          <p:cNvPicPr>
            <a:picLocks noChangeAspect="1"/>
          </p:cNvPicPr>
          <p:nvPr/>
        </p:nvPicPr>
        <p:blipFill>
          <a:blip r:embed="rId4"/>
          <a:stretch>
            <a:fillRect/>
          </a:stretch>
        </p:blipFill>
        <p:spPr>
          <a:xfrm>
            <a:off x="749808" y="5257800"/>
            <a:ext cx="347472" cy="347472"/>
          </a:xfrm>
          <a:prstGeom prst="rect">
            <a:avLst/>
          </a:prstGeom>
        </p:spPr>
      </p:pic>
      <p:sp>
        <p:nvSpPr>
          <p:cNvPr id="22" name="Text 16"/>
          <p:cNvSpPr txBox="1"/>
          <p:nvPr/>
        </p:nvSpPr>
        <p:spPr>
          <a:xfrm>
            <a:off x="1261872" y="5221224"/>
            <a:ext cx="10195560" cy="731520"/>
          </a:xfrm>
          <a:prstGeom prst="rect">
            <a:avLst/>
          </a:prstGeom>
          <a:noFill/>
          <a:ln/>
        </p:spPr>
        <p:txBody>
          <a:bodyPr wrap="square" lIns="0" tIns="0" rIns="0" bIns="0" rtlCol="0" anchor="ctr"/>
          <a:lstStyle/>
          <a:p>
            <a:pPr indent="0" marL="0">
              <a:buNone/>
            </a:pPr>
            <a:r>
              <a:rPr lang="en-US" sz="1400" b="1" dirty="0">
                <a:solidFill>
                  <a:srgbClr val="B26A00"/>
                </a:solidFill>
              </a:rPr>
              <a:t>Attention : </a:t>
            </a:r>
            <a:pPr indent="0" marL="0">
              <a:buNone/>
            </a:pPr>
            <a:r>
              <a:rPr lang="en-US" sz="1400" dirty="0">
                <a:solidFill>
                  <a:srgbClr val="1B2340"/>
                </a:solidFill>
              </a:rPr>
              <a:t>le lien de test (Test URL) ne marche que pendant que tu cliques sur Execute workflow. Le vendeur doit recevoir la Production URL, sinon ses ventes ne partent nulle part.</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Dépannage : Google Sheets et n8n</a:t>
            </a:r>
            <a:endParaRPr lang="en-US" sz="3000" dirty="0"/>
          </a:p>
        </p:txBody>
      </p:sp>
      <p:graphicFrame>
        <p:nvGraphicFramePr>
          <p:cNvPr id="29"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3566160"/>
                <a:gridCol w="4233672"/>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Ce que tu vois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4B7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Pourquoi</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4B7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 solution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4B71"/>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 Parameter "Sheet" is required »</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l'onglet n'est pas choisi dans le nœud</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Sheet → From list → choisis l'onglet (Produits, Commandes…)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La liste ne montre que « Sheet1 »</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le lien est celui du fichier .xlsx</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Fichier → Enregistrer au format Google Sheets, puis recolle le nouveau lien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Des nœuds finissent par « 1 »</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deux fichiers importés dans la même page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supprime la page, réimporte : une page vide par fichier</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Pas de nouvelle ligne dans le Sheet</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mauvais lien, ou onglet renommé</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vérifie le lien et le nom exact des onglets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Le vendeur envoie, rien ne se passe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workflow pas activé, ou Test URL au lieu de Production URL</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active le workflow, renvoie la Production URL</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Dépannage : Meta et WhatsApp</a:t>
            </a:r>
            <a:endParaRPr lang="en-US" sz="3000" dirty="0"/>
          </a:p>
        </p:txBody>
      </p:sp>
      <p:graphicFrame>
        <p:nvGraphicFramePr>
          <p:cNvPr id="30" name="tableau"/>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3566160"/>
                <a:gridCol w="4233672"/>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Ce que tu vois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Pourquoi</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 solution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877F2"/>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 Aucune autorisation disponible » (token)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l'app n'est pas assignée à l'utilisateur système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Assigner des éléments → Applications → ton app → Contrôle total</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Modèle classé « Marketing » (triangle)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un mot du texte sonne comme de la pub</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crée un nouveau modèle, autre nom, texte neutre, et change le nom dans n8n</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Modèle « En cours d'examen »</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Meta n'a pas encore validé</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attends (quelques minutes à 24 h)</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Le client ne reçoit rien pendant les tests</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son numéro n'est pas vérifié chez Meta</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teste avec ton numéro, ou ajoute le sien dans « À »</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C"/>
                    </a:solidFill>
                  </a:tcPr>
                </a:tc>
              </a:tr>
              <a:tr h="777240">
                <a:tc>
                  <a:txBody>
                    <a:bodyPr/>
                    <a:lstStyle/>
                    <a:p>
                      <a:pPr indent="0" marL="0">
                        <a:buNone/>
                      </a:pPr>
                      <a:r>
                        <a:rPr lang="en-US" sz="1400" b="1" dirty="0">
                          <a:solidFill>
                            <a:srgbClr val="1B2340"/>
                          </a:solidFill>
                          <a:latin typeface="Calibri" pitchFamily="34" charset="0"/>
                          <a:ea typeface="Calibri" pitchFamily="34" charset="-122"/>
                          <a:cs typeface="Calibri" pitchFamily="34" charset="-120"/>
                        </a:rPr>
                        <a:t>Le nœud WhatsApp est rouge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token expiré, mauvais WABA ID ou modèle pas actif</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1B2340"/>
                          </a:solidFill>
                          <a:latin typeface="Calibri" pitchFamily="34" charset="0"/>
                          <a:ea typeface="Calibri" pitchFamily="34" charset="-122"/>
                          <a:cs typeface="Calibri" pitchFamily="34" charset="-120"/>
                        </a:rPr>
                        <a:t>lis le message d'erreur, vérifie ces 3 points dans l'ordre</a:t>
                      </a:r>
                      <a:endParaRPr lang="en-US" sz="1400" dirty="0">
                        <a:latin typeface="Calibri" charset="0"/>
                        <a:ea typeface="Calibri" charset="0"/>
                        <a:cs typeface="Calibri" charset="0"/>
                      </a:endParaRPr>
                    </a:p>
                  </a:txBody>
                  <a:tcPr marL="101600" marR="1016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Check-list finale</a:t>
            </a:r>
            <a:endParaRPr lang="en-US" sz="3000" dirty="0"/>
          </a:p>
        </p:txBody>
      </p:sp>
      <p:sp>
        <p:nvSpPr>
          <p:cNvPr id="3" name="carte"/>
          <p:cNvSpPr/>
          <p:nvPr/>
        </p:nvSpPr>
        <p:spPr>
          <a:xfrm>
            <a:off x="548640" y="1417320"/>
            <a:ext cx="5394960" cy="2212848"/>
          </a:xfrm>
          <a:prstGeom prst="roundRect">
            <a:avLst>
              <a:gd name="adj" fmla="val 6198"/>
            </a:avLst>
          </a:prstGeom>
          <a:solidFill>
            <a:srgbClr val="EEF2F8"/>
          </a:solidFill>
          <a:ln w="12700">
            <a:solidFill>
              <a:srgbClr val="EEF2F8"/>
            </a:solidFill>
            <a:prstDash val="solid"/>
          </a:ln>
        </p:spPr>
      </p:sp>
      <p:sp>
        <p:nvSpPr>
          <p:cNvPr id="4" name="Text 2"/>
          <p:cNvSpPr txBox="1"/>
          <p:nvPr/>
        </p:nvSpPr>
        <p:spPr>
          <a:xfrm>
            <a:off x="822960" y="1581912"/>
            <a:ext cx="4846320" cy="411480"/>
          </a:xfrm>
          <a:prstGeom prst="rect">
            <a:avLst/>
          </a:prstGeom>
          <a:noFill/>
          <a:ln/>
        </p:spPr>
        <p:txBody>
          <a:bodyPr wrap="square" lIns="0" tIns="0" rIns="0" bIns="0" rtlCol="0" anchor="t"/>
          <a:lstStyle/>
          <a:p>
            <a:pPr indent="0" marL="0">
              <a:buNone/>
            </a:pPr>
            <a:r>
              <a:rPr lang="en-US" sz="1800" b="1" dirty="0">
                <a:solidFill>
                  <a:srgbClr val="1E8E3E"/>
                </a:solidFill>
              </a:rPr>
              <a:t>Google Sheet</a:t>
            </a:r>
            <a:endParaRPr lang="en-US" sz="1800" dirty="0"/>
          </a:p>
        </p:txBody>
      </p:sp>
      <p:pic>
        <p:nvPicPr>
          <p:cNvPr id="5" name="Image 0" descr="case à cocher">    </p:cNvPr>
          <p:cNvPicPr>
            <a:picLocks noChangeAspect="1"/>
          </p:cNvPicPr>
          <p:nvPr/>
        </p:nvPicPr>
        <p:blipFill>
          <a:blip r:embed="rId1"/>
          <a:stretch>
            <a:fillRect/>
          </a:stretch>
        </p:blipFill>
        <p:spPr>
          <a:xfrm>
            <a:off x="822960" y="2130552"/>
            <a:ext cx="274320" cy="274320"/>
          </a:xfrm>
          <a:prstGeom prst="rect">
            <a:avLst/>
          </a:prstGeom>
        </p:spPr>
      </p:pic>
      <p:sp>
        <p:nvSpPr>
          <p:cNvPr id="6" name="Text 3"/>
          <p:cNvSpPr txBox="1"/>
          <p:nvPr/>
        </p:nvSpPr>
        <p:spPr>
          <a:xfrm>
            <a:off x="1234440" y="2075688"/>
            <a:ext cx="4572000" cy="384048"/>
          </a:xfrm>
          <a:prstGeom prst="rect">
            <a:avLst/>
          </a:prstGeom>
          <a:noFill/>
          <a:ln/>
        </p:spPr>
        <p:txBody>
          <a:bodyPr wrap="square" lIns="0" tIns="0" rIns="0" bIns="0" rtlCol="0" anchor="ctr"/>
          <a:lstStyle/>
          <a:p>
            <a:pPr indent="0" marL="0">
              <a:buNone/>
            </a:pPr>
            <a:r>
              <a:rPr lang="en-US" sz="1500" dirty="0">
                <a:solidFill>
                  <a:srgbClr val="1B2340"/>
                </a:solidFill>
              </a:rPr>
              <a:t>Version Google Sheets (pas .xlsx)</a:t>
            </a:r>
            <a:endParaRPr lang="en-US" sz="1500" dirty="0"/>
          </a:p>
        </p:txBody>
      </p:sp>
      <p:pic>
        <p:nvPicPr>
          <p:cNvPr id="7" name="Image 1" descr="case à cocher">    </p:cNvPr>
          <p:cNvPicPr>
            <a:picLocks noChangeAspect="1"/>
          </p:cNvPicPr>
          <p:nvPr/>
        </p:nvPicPr>
        <p:blipFill>
          <a:blip r:embed="rId2"/>
          <a:stretch>
            <a:fillRect/>
          </a:stretch>
        </p:blipFill>
        <p:spPr>
          <a:xfrm>
            <a:off x="822960" y="2587752"/>
            <a:ext cx="274320" cy="274320"/>
          </a:xfrm>
          <a:prstGeom prst="rect">
            <a:avLst/>
          </a:prstGeom>
        </p:spPr>
      </p:pic>
      <p:sp>
        <p:nvSpPr>
          <p:cNvPr id="8" name="Text 4"/>
          <p:cNvSpPr txBox="1"/>
          <p:nvPr/>
        </p:nvSpPr>
        <p:spPr>
          <a:xfrm>
            <a:off x="1234440" y="2532888"/>
            <a:ext cx="4572000" cy="384048"/>
          </a:xfrm>
          <a:prstGeom prst="rect">
            <a:avLst/>
          </a:prstGeom>
          <a:noFill/>
          <a:ln/>
        </p:spPr>
        <p:txBody>
          <a:bodyPr wrap="square" lIns="0" tIns="0" rIns="0" bIns="0" rtlCol="0" anchor="ctr"/>
          <a:lstStyle/>
          <a:p>
            <a:pPr indent="0" marL="0">
              <a:buNone/>
            </a:pPr>
            <a:r>
              <a:rPr lang="en-US" sz="1500" dirty="0">
                <a:solidFill>
                  <a:srgbClr val="1B2340"/>
                </a:solidFill>
              </a:rPr>
              <a:t>6 onglets présents, noms inchangés</a:t>
            </a:r>
            <a:endParaRPr lang="en-US" sz="1500" dirty="0"/>
          </a:p>
        </p:txBody>
      </p:sp>
      <p:pic>
        <p:nvPicPr>
          <p:cNvPr id="9" name="Image 2" descr="case à cocher">    </p:cNvPr>
          <p:cNvPicPr>
            <a:picLocks noChangeAspect="1"/>
          </p:cNvPicPr>
          <p:nvPr/>
        </p:nvPicPr>
        <p:blipFill>
          <a:blip r:embed="rId3"/>
          <a:stretch>
            <a:fillRect/>
          </a:stretch>
        </p:blipFill>
        <p:spPr>
          <a:xfrm>
            <a:off x="822960" y="3044952"/>
            <a:ext cx="274320" cy="274320"/>
          </a:xfrm>
          <a:prstGeom prst="rect">
            <a:avLst/>
          </a:prstGeom>
        </p:spPr>
      </p:pic>
      <p:sp>
        <p:nvSpPr>
          <p:cNvPr id="10" name="Text 5"/>
          <p:cNvSpPr txBox="1"/>
          <p:nvPr/>
        </p:nvSpPr>
        <p:spPr>
          <a:xfrm>
            <a:off x="1234440" y="2990088"/>
            <a:ext cx="4572000" cy="384048"/>
          </a:xfrm>
          <a:prstGeom prst="rect">
            <a:avLst/>
          </a:prstGeom>
          <a:noFill/>
          <a:ln/>
        </p:spPr>
        <p:txBody>
          <a:bodyPr wrap="square" lIns="0" tIns="0" rIns="0" bIns="0" rtlCol="0" anchor="ctr"/>
          <a:lstStyle/>
          <a:p>
            <a:pPr indent="0" marL="0">
              <a:buNone/>
            </a:pPr>
            <a:r>
              <a:rPr lang="en-US" sz="1500" dirty="0">
                <a:solidFill>
                  <a:srgbClr val="1B2340"/>
                </a:solidFill>
              </a:rPr>
              <a:t>Lignes EXEMPLE supprimées, vrais produits saisis</a:t>
            </a:r>
            <a:endParaRPr lang="en-US" sz="1500" dirty="0"/>
          </a:p>
        </p:txBody>
      </p:sp>
      <p:sp>
        <p:nvSpPr>
          <p:cNvPr id="11" name="carte"/>
          <p:cNvSpPr/>
          <p:nvPr/>
        </p:nvSpPr>
        <p:spPr>
          <a:xfrm>
            <a:off x="6172200" y="1417320"/>
            <a:ext cx="5394960" cy="2212848"/>
          </a:xfrm>
          <a:prstGeom prst="roundRect">
            <a:avLst>
              <a:gd name="adj" fmla="val 6198"/>
            </a:avLst>
          </a:prstGeom>
          <a:solidFill>
            <a:srgbClr val="EEF2F8"/>
          </a:solidFill>
          <a:ln w="12700">
            <a:solidFill>
              <a:srgbClr val="EEF2F8"/>
            </a:solidFill>
            <a:prstDash val="solid"/>
          </a:ln>
        </p:spPr>
      </p:sp>
      <p:sp>
        <p:nvSpPr>
          <p:cNvPr id="12" name="Text 7"/>
          <p:cNvSpPr txBox="1"/>
          <p:nvPr/>
        </p:nvSpPr>
        <p:spPr>
          <a:xfrm>
            <a:off x="6446520" y="1581912"/>
            <a:ext cx="4846320" cy="411480"/>
          </a:xfrm>
          <a:prstGeom prst="rect">
            <a:avLst/>
          </a:prstGeom>
          <a:noFill/>
          <a:ln/>
        </p:spPr>
        <p:txBody>
          <a:bodyPr wrap="square" lIns="0" tIns="0" rIns="0" bIns="0" rtlCol="0" anchor="t"/>
          <a:lstStyle/>
          <a:p>
            <a:pPr indent="0" marL="0">
              <a:buNone/>
            </a:pPr>
            <a:r>
              <a:rPr lang="en-US" sz="1800" b="1" dirty="0">
                <a:solidFill>
                  <a:srgbClr val="EA4B71"/>
                </a:solidFill>
              </a:rPr>
              <a:t>n8n</a:t>
            </a:r>
            <a:endParaRPr lang="en-US" sz="1800" dirty="0"/>
          </a:p>
        </p:txBody>
      </p:sp>
      <p:pic>
        <p:nvPicPr>
          <p:cNvPr id="13" name="Image 3" descr="case à cocher">    </p:cNvPr>
          <p:cNvPicPr>
            <a:picLocks noChangeAspect="1"/>
          </p:cNvPicPr>
          <p:nvPr/>
        </p:nvPicPr>
        <p:blipFill>
          <a:blip r:embed="rId4"/>
          <a:stretch>
            <a:fillRect/>
          </a:stretch>
        </p:blipFill>
        <p:spPr>
          <a:xfrm>
            <a:off x="6446520" y="2130552"/>
            <a:ext cx="274320" cy="274320"/>
          </a:xfrm>
          <a:prstGeom prst="rect">
            <a:avLst/>
          </a:prstGeom>
        </p:spPr>
      </p:pic>
      <p:sp>
        <p:nvSpPr>
          <p:cNvPr id="14" name="Text 8"/>
          <p:cNvSpPr txBox="1"/>
          <p:nvPr/>
        </p:nvSpPr>
        <p:spPr>
          <a:xfrm>
            <a:off x="6858000" y="2075688"/>
            <a:ext cx="4572000" cy="384048"/>
          </a:xfrm>
          <a:prstGeom prst="rect">
            <a:avLst/>
          </a:prstGeom>
          <a:noFill/>
          <a:ln/>
        </p:spPr>
        <p:txBody>
          <a:bodyPr wrap="square" lIns="0" tIns="0" rIns="0" bIns="0" rtlCol="0" anchor="ctr"/>
          <a:lstStyle/>
          <a:p>
            <a:pPr indent="0" marL="0">
              <a:buNone/>
            </a:pPr>
            <a:r>
              <a:rPr lang="en-US" sz="1500" dirty="0">
                <a:solidFill>
                  <a:srgbClr val="1B2340"/>
                </a:solidFill>
              </a:rPr>
              <a:t>4 workflows, chacun sur sa page</a:t>
            </a:r>
            <a:endParaRPr lang="en-US" sz="1500" dirty="0"/>
          </a:p>
        </p:txBody>
      </p:sp>
      <p:pic>
        <p:nvPicPr>
          <p:cNvPr id="15" name="Image 4" descr="case à cocher">    </p:cNvPr>
          <p:cNvPicPr>
            <a:picLocks noChangeAspect="1"/>
          </p:cNvPicPr>
          <p:nvPr/>
        </p:nvPicPr>
        <p:blipFill>
          <a:blip r:embed="rId5"/>
          <a:stretch>
            <a:fillRect/>
          </a:stretch>
        </p:blipFill>
        <p:spPr>
          <a:xfrm>
            <a:off x="6446520" y="2587752"/>
            <a:ext cx="274320" cy="274320"/>
          </a:xfrm>
          <a:prstGeom prst="rect">
            <a:avLst/>
          </a:prstGeom>
        </p:spPr>
      </p:pic>
      <p:sp>
        <p:nvSpPr>
          <p:cNvPr id="16" name="Text 9"/>
          <p:cNvSpPr txBox="1"/>
          <p:nvPr/>
        </p:nvSpPr>
        <p:spPr>
          <a:xfrm>
            <a:off x="6858000" y="2532888"/>
            <a:ext cx="4572000" cy="384048"/>
          </a:xfrm>
          <a:prstGeom prst="rect">
            <a:avLst/>
          </a:prstGeom>
          <a:noFill/>
          <a:ln/>
        </p:spPr>
        <p:txBody>
          <a:bodyPr wrap="square" lIns="0" tIns="0" rIns="0" bIns="0" rtlCol="0" anchor="ctr"/>
          <a:lstStyle/>
          <a:p>
            <a:pPr indent="0" marL="0">
              <a:buNone/>
            </a:pPr>
            <a:r>
              <a:rPr lang="en-US" sz="1500" dirty="0">
                <a:solidFill>
                  <a:srgbClr val="1B2340"/>
                </a:solidFill>
              </a:rPr>
              <a:t>Tous les nœuds Sheets connectés au bon onglet</a:t>
            </a:r>
            <a:endParaRPr lang="en-US" sz="1500" dirty="0"/>
          </a:p>
        </p:txBody>
      </p:sp>
      <p:pic>
        <p:nvPicPr>
          <p:cNvPr id="17" name="Image 5" descr="case à cocher">    </p:cNvPr>
          <p:cNvPicPr>
            <a:picLocks noChangeAspect="1"/>
          </p:cNvPicPr>
          <p:nvPr/>
        </p:nvPicPr>
        <p:blipFill>
          <a:blip r:embed="rId6"/>
          <a:stretch>
            <a:fillRect/>
          </a:stretch>
        </p:blipFill>
        <p:spPr>
          <a:xfrm>
            <a:off x="6446520" y="3044952"/>
            <a:ext cx="274320" cy="274320"/>
          </a:xfrm>
          <a:prstGeom prst="rect">
            <a:avLst/>
          </a:prstGeom>
        </p:spPr>
      </p:pic>
      <p:sp>
        <p:nvSpPr>
          <p:cNvPr id="18" name="Text 10"/>
          <p:cNvSpPr txBox="1"/>
          <p:nvPr/>
        </p:nvSpPr>
        <p:spPr>
          <a:xfrm>
            <a:off x="6858000" y="2990088"/>
            <a:ext cx="4572000" cy="384048"/>
          </a:xfrm>
          <a:prstGeom prst="rect">
            <a:avLst/>
          </a:prstGeom>
          <a:noFill/>
          <a:ln/>
        </p:spPr>
        <p:txBody>
          <a:bodyPr wrap="square" lIns="0" tIns="0" rIns="0" bIns="0" rtlCol="0" anchor="ctr"/>
          <a:lstStyle/>
          <a:p>
            <a:pPr indent="0" marL="0">
              <a:buNone/>
            </a:pPr>
            <a:r>
              <a:rPr lang="en-US" sz="1500" dirty="0">
                <a:solidFill>
                  <a:srgbClr val="1B2340"/>
                </a:solidFill>
              </a:rPr>
              <a:t>Premier test OK : ligne ajoutée, stock baissé</a:t>
            </a:r>
            <a:endParaRPr lang="en-US" sz="1500" dirty="0"/>
          </a:p>
        </p:txBody>
      </p:sp>
      <p:sp>
        <p:nvSpPr>
          <p:cNvPr id="19" name="carte"/>
          <p:cNvSpPr/>
          <p:nvPr/>
        </p:nvSpPr>
        <p:spPr>
          <a:xfrm>
            <a:off x="548640" y="3813048"/>
            <a:ext cx="5394960" cy="2212848"/>
          </a:xfrm>
          <a:prstGeom prst="roundRect">
            <a:avLst>
              <a:gd name="adj" fmla="val 6198"/>
            </a:avLst>
          </a:prstGeom>
          <a:solidFill>
            <a:srgbClr val="EEF2F8"/>
          </a:solidFill>
          <a:ln w="12700">
            <a:solidFill>
              <a:srgbClr val="EEF2F8"/>
            </a:solidFill>
            <a:prstDash val="solid"/>
          </a:ln>
        </p:spPr>
      </p:sp>
      <p:sp>
        <p:nvSpPr>
          <p:cNvPr id="20" name="Text 12"/>
          <p:cNvSpPr txBox="1"/>
          <p:nvPr/>
        </p:nvSpPr>
        <p:spPr>
          <a:xfrm>
            <a:off x="822960" y="3977640"/>
            <a:ext cx="4846320" cy="411480"/>
          </a:xfrm>
          <a:prstGeom prst="rect">
            <a:avLst/>
          </a:prstGeom>
          <a:noFill/>
          <a:ln/>
        </p:spPr>
        <p:txBody>
          <a:bodyPr wrap="square" lIns="0" tIns="0" rIns="0" bIns="0" rtlCol="0" anchor="t"/>
          <a:lstStyle/>
          <a:p>
            <a:pPr indent="0" marL="0">
              <a:buNone/>
            </a:pPr>
            <a:r>
              <a:rPr lang="en-US" sz="1800" b="1" dirty="0">
                <a:solidFill>
                  <a:srgbClr val="1877F2"/>
                </a:solidFill>
              </a:rPr>
              <a:t>Meta</a:t>
            </a:r>
            <a:endParaRPr lang="en-US" sz="1800" dirty="0"/>
          </a:p>
        </p:txBody>
      </p:sp>
      <p:pic>
        <p:nvPicPr>
          <p:cNvPr id="21" name="Image 6" descr="case à cocher">    </p:cNvPr>
          <p:cNvPicPr>
            <a:picLocks noChangeAspect="1"/>
          </p:cNvPicPr>
          <p:nvPr/>
        </p:nvPicPr>
        <p:blipFill>
          <a:blip r:embed="rId7"/>
          <a:stretch>
            <a:fillRect/>
          </a:stretch>
        </p:blipFill>
        <p:spPr>
          <a:xfrm>
            <a:off x="822960" y="4526280"/>
            <a:ext cx="274320" cy="274320"/>
          </a:xfrm>
          <a:prstGeom prst="rect">
            <a:avLst/>
          </a:prstGeom>
        </p:spPr>
      </p:pic>
      <p:sp>
        <p:nvSpPr>
          <p:cNvPr id="22" name="Text 13"/>
          <p:cNvSpPr txBox="1"/>
          <p:nvPr/>
        </p:nvSpPr>
        <p:spPr>
          <a:xfrm>
            <a:off x="1234440" y="4471416"/>
            <a:ext cx="4572000" cy="384048"/>
          </a:xfrm>
          <a:prstGeom prst="rect">
            <a:avLst/>
          </a:prstGeom>
          <a:noFill/>
          <a:ln/>
        </p:spPr>
        <p:txBody>
          <a:bodyPr wrap="square" lIns="0" tIns="0" rIns="0" bIns="0" rtlCol="0" anchor="ctr"/>
          <a:lstStyle/>
          <a:p>
            <a:pPr indent="0" marL="0">
              <a:buNone/>
            </a:pPr>
            <a:r>
              <a:rPr lang="en-US" sz="1500" dirty="0">
                <a:solidFill>
                  <a:srgbClr val="1B2340"/>
                </a:solidFill>
              </a:rPr>
              <a:t>Hello World reçu</a:t>
            </a:r>
            <a:endParaRPr lang="en-US" sz="1500" dirty="0"/>
          </a:p>
        </p:txBody>
      </p:sp>
      <p:pic>
        <p:nvPicPr>
          <p:cNvPr id="23" name="Image 7" descr="case à cocher">    </p:cNvPr>
          <p:cNvPicPr>
            <a:picLocks noChangeAspect="1"/>
          </p:cNvPicPr>
          <p:nvPr/>
        </p:nvPicPr>
        <p:blipFill>
          <a:blip r:embed="rId8"/>
          <a:stretch>
            <a:fillRect/>
          </a:stretch>
        </p:blipFill>
        <p:spPr>
          <a:xfrm>
            <a:off x="822960" y="4983480"/>
            <a:ext cx="274320" cy="274320"/>
          </a:xfrm>
          <a:prstGeom prst="rect">
            <a:avLst/>
          </a:prstGeom>
        </p:spPr>
      </p:pic>
      <p:sp>
        <p:nvSpPr>
          <p:cNvPr id="24" name="Text 14"/>
          <p:cNvSpPr txBox="1"/>
          <p:nvPr/>
        </p:nvSpPr>
        <p:spPr>
          <a:xfrm>
            <a:off x="1234440" y="4928616"/>
            <a:ext cx="4572000" cy="384048"/>
          </a:xfrm>
          <a:prstGeom prst="rect">
            <a:avLst/>
          </a:prstGeom>
          <a:noFill/>
          <a:ln/>
        </p:spPr>
        <p:txBody>
          <a:bodyPr wrap="square" lIns="0" tIns="0" rIns="0" bIns="0" rtlCol="0" anchor="ctr"/>
          <a:lstStyle/>
          <a:p>
            <a:pPr indent="0" marL="0">
              <a:buNone/>
            </a:pPr>
            <a:r>
              <a:rPr lang="en-US" sz="1500" dirty="0">
                <a:solidFill>
                  <a:srgbClr val="1B2340"/>
                </a:solidFill>
              </a:rPr>
              <a:t>6 modèles « Actif » en Utilitaire</a:t>
            </a:r>
            <a:endParaRPr lang="en-US" sz="1500" dirty="0"/>
          </a:p>
        </p:txBody>
      </p:sp>
      <p:pic>
        <p:nvPicPr>
          <p:cNvPr id="25" name="Image 8" descr="case à cocher">    </p:cNvPr>
          <p:cNvPicPr>
            <a:picLocks noChangeAspect="1"/>
          </p:cNvPicPr>
          <p:nvPr/>
        </p:nvPicPr>
        <p:blipFill>
          <a:blip r:embed="rId9"/>
          <a:stretch>
            <a:fillRect/>
          </a:stretch>
        </p:blipFill>
        <p:spPr>
          <a:xfrm>
            <a:off x="822960" y="5440680"/>
            <a:ext cx="274320" cy="274320"/>
          </a:xfrm>
          <a:prstGeom prst="rect">
            <a:avLst/>
          </a:prstGeom>
        </p:spPr>
      </p:pic>
      <p:sp>
        <p:nvSpPr>
          <p:cNvPr id="26" name="Text 15"/>
          <p:cNvSpPr txBox="1"/>
          <p:nvPr/>
        </p:nvSpPr>
        <p:spPr>
          <a:xfrm>
            <a:off x="1234440" y="5385816"/>
            <a:ext cx="4572000" cy="384048"/>
          </a:xfrm>
          <a:prstGeom prst="rect">
            <a:avLst/>
          </a:prstGeom>
          <a:noFill/>
          <a:ln/>
        </p:spPr>
        <p:txBody>
          <a:bodyPr wrap="square" lIns="0" tIns="0" rIns="0" bIns="0" rtlCol="0" anchor="ctr"/>
          <a:lstStyle/>
          <a:p>
            <a:pPr indent="0" marL="0">
              <a:buNone/>
            </a:pPr>
            <a:r>
              <a:rPr lang="en-US" sz="1500" dirty="0">
                <a:solidFill>
                  <a:srgbClr val="1B2340"/>
                </a:solidFill>
              </a:rPr>
              <a:t>Token permanent copié en lieu sûr</a:t>
            </a:r>
            <a:endParaRPr lang="en-US" sz="1500" dirty="0"/>
          </a:p>
        </p:txBody>
      </p:sp>
      <p:sp>
        <p:nvSpPr>
          <p:cNvPr id="27" name="carte"/>
          <p:cNvSpPr/>
          <p:nvPr/>
        </p:nvSpPr>
        <p:spPr>
          <a:xfrm>
            <a:off x="6172200" y="3813048"/>
            <a:ext cx="5394960" cy="2212848"/>
          </a:xfrm>
          <a:prstGeom prst="roundRect">
            <a:avLst>
              <a:gd name="adj" fmla="val 6198"/>
            </a:avLst>
          </a:prstGeom>
          <a:solidFill>
            <a:srgbClr val="EEF2F8"/>
          </a:solidFill>
          <a:ln w="12700">
            <a:solidFill>
              <a:srgbClr val="EEF2F8"/>
            </a:solidFill>
            <a:prstDash val="solid"/>
          </a:ln>
        </p:spPr>
      </p:sp>
      <p:sp>
        <p:nvSpPr>
          <p:cNvPr id="28" name="Text 17"/>
          <p:cNvSpPr txBox="1"/>
          <p:nvPr/>
        </p:nvSpPr>
        <p:spPr>
          <a:xfrm>
            <a:off x="6446520" y="3977640"/>
            <a:ext cx="4846320" cy="411480"/>
          </a:xfrm>
          <a:prstGeom prst="rect">
            <a:avLst/>
          </a:prstGeom>
          <a:noFill/>
          <a:ln/>
        </p:spPr>
        <p:txBody>
          <a:bodyPr wrap="square" lIns="0" tIns="0" rIns="0" bIns="0" rtlCol="0" anchor="t"/>
          <a:lstStyle/>
          <a:p>
            <a:pPr indent="0" marL="0">
              <a:buNone/>
            </a:pPr>
            <a:r>
              <a:rPr lang="en-US" sz="1800" b="1" dirty="0">
                <a:solidFill>
                  <a:srgbClr val="128C7E"/>
                </a:solidFill>
              </a:rPr>
              <a:t>WhatsApp + mise en service</a:t>
            </a:r>
            <a:endParaRPr lang="en-US" sz="1800" dirty="0"/>
          </a:p>
        </p:txBody>
      </p:sp>
      <p:pic>
        <p:nvPicPr>
          <p:cNvPr id="29" name="Image 9" descr="case à cocher">    </p:cNvPr>
          <p:cNvPicPr>
            <a:picLocks noChangeAspect="1"/>
          </p:cNvPicPr>
          <p:nvPr/>
        </p:nvPicPr>
        <p:blipFill>
          <a:blip r:embed="rId10"/>
          <a:stretch>
            <a:fillRect/>
          </a:stretch>
        </p:blipFill>
        <p:spPr>
          <a:xfrm>
            <a:off x="6446520" y="4526280"/>
            <a:ext cx="274320" cy="274320"/>
          </a:xfrm>
          <a:prstGeom prst="rect">
            <a:avLst/>
          </a:prstGeom>
        </p:spPr>
      </p:pic>
      <p:sp>
        <p:nvSpPr>
          <p:cNvPr id="30" name="Text 18"/>
          <p:cNvSpPr txBox="1"/>
          <p:nvPr/>
        </p:nvSpPr>
        <p:spPr>
          <a:xfrm>
            <a:off x="6858000" y="4471416"/>
            <a:ext cx="4572000" cy="384048"/>
          </a:xfrm>
          <a:prstGeom prst="rect">
            <a:avLst/>
          </a:prstGeom>
          <a:noFill/>
          <a:ln/>
        </p:spPr>
        <p:txBody>
          <a:bodyPr wrap="square" lIns="0" tIns="0" rIns="0" bIns="0" rtlCol="0" anchor="ctr"/>
          <a:lstStyle/>
          <a:p>
            <a:pPr indent="0" marL="0">
              <a:buNone/>
            </a:pPr>
            <a:r>
              <a:rPr lang="en-US" sz="1500" dirty="0">
                <a:solidFill>
                  <a:srgbClr val="1B2340"/>
                </a:solidFill>
              </a:rPr>
              <a:t>Grand test OK : messages reçus</a:t>
            </a:r>
            <a:endParaRPr lang="en-US" sz="1500" dirty="0"/>
          </a:p>
        </p:txBody>
      </p:sp>
      <p:pic>
        <p:nvPicPr>
          <p:cNvPr id="31" name="Image 10" descr="case à cocher">    </p:cNvPr>
          <p:cNvPicPr>
            <a:picLocks noChangeAspect="1"/>
          </p:cNvPicPr>
          <p:nvPr/>
        </p:nvPicPr>
        <p:blipFill>
          <a:blip r:embed="rId11"/>
          <a:stretch>
            <a:fillRect/>
          </a:stretch>
        </p:blipFill>
        <p:spPr>
          <a:xfrm>
            <a:off x="6446520" y="4983480"/>
            <a:ext cx="274320" cy="274320"/>
          </a:xfrm>
          <a:prstGeom prst="rect">
            <a:avLst/>
          </a:prstGeom>
        </p:spPr>
      </p:pic>
      <p:sp>
        <p:nvSpPr>
          <p:cNvPr id="32" name="Text 19"/>
          <p:cNvSpPr txBox="1"/>
          <p:nvPr/>
        </p:nvSpPr>
        <p:spPr>
          <a:xfrm>
            <a:off x="6858000" y="4928616"/>
            <a:ext cx="4572000" cy="384048"/>
          </a:xfrm>
          <a:prstGeom prst="rect">
            <a:avLst/>
          </a:prstGeom>
          <a:noFill/>
          <a:ln/>
        </p:spPr>
        <p:txBody>
          <a:bodyPr wrap="square" lIns="0" tIns="0" rIns="0" bIns="0" rtlCol="0" anchor="ctr"/>
          <a:lstStyle/>
          <a:p>
            <a:pPr indent="0" marL="0">
              <a:buNone/>
            </a:pPr>
            <a:r>
              <a:rPr lang="en-US" sz="1500" dirty="0">
                <a:solidFill>
                  <a:srgbClr val="1B2340"/>
                </a:solidFill>
              </a:rPr>
              <a:t>4 workflows activés</a:t>
            </a:r>
            <a:endParaRPr lang="en-US" sz="1500" dirty="0"/>
          </a:p>
        </p:txBody>
      </p:sp>
      <p:pic>
        <p:nvPicPr>
          <p:cNvPr id="33" name="Image 11" descr="case à cocher">    </p:cNvPr>
          <p:cNvPicPr>
            <a:picLocks noChangeAspect="1"/>
          </p:cNvPicPr>
          <p:nvPr/>
        </p:nvPicPr>
        <p:blipFill>
          <a:blip r:embed="rId12"/>
          <a:stretch>
            <a:fillRect/>
          </a:stretch>
        </p:blipFill>
        <p:spPr>
          <a:xfrm>
            <a:off x="6446520" y="5440680"/>
            <a:ext cx="274320" cy="274320"/>
          </a:xfrm>
          <a:prstGeom prst="rect">
            <a:avLst/>
          </a:prstGeom>
        </p:spPr>
      </p:pic>
      <p:sp>
        <p:nvSpPr>
          <p:cNvPr id="34" name="Text 20"/>
          <p:cNvSpPr txBox="1"/>
          <p:nvPr/>
        </p:nvSpPr>
        <p:spPr>
          <a:xfrm>
            <a:off x="6858000" y="5385816"/>
            <a:ext cx="4572000" cy="384048"/>
          </a:xfrm>
          <a:prstGeom prst="rect">
            <a:avLst/>
          </a:prstGeom>
          <a:noFill/>
          <a:ln/>
        </p:spPr>
        <p:txBody>
          <a:bodyPr wrap="square" lIns="0" tIns="0" rIns="0" bIns="0" rtlCol="0" anchor="ctr"/>
          <a:lstStyle/>
          <a:p>
            <a:pPr indent="0" marL="0">
              <a:buNone/>
            </a:pPr>
            <a:r>
              <a:rPr lang="en-US" sz="1500" dirty="0">
                <a:solidFill>
                  <a:srgbClr val="1B2340"/>
                </a:solidFill>
              </a:rPr>
              <a:t>Production URL envoyées au vendeur et au magasinier</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778240" cy="731520"/>
          </a:xfrm>
          <a:prstGeom prst="rect">
            <a:avLst/>
          </a:prstGeom>
          <a:noFill/>
          <a:ln/>
        </p:spPr>
        <p:txBody>
          <a:bodyPr wrap="square" lIns="0" tIns="0" rIns="0" bIns="0" rtlCol="0" anchor="ctr"/>
          <a:lstStyle/>
          <a:p>
            <a:pPr algn="l" indent="0" marL="0">
              <a:buNone/>
            </a:pPr>
            <a:r>
              <a:rPr lang="en-US" sz="3000" b="1" dirty="0">
                <a:solidFill>
                  <a:schemeClr val="tx1"/>
                </a:solidFill>
              </a:rPr>
              <a:t>Chez un vrai client : ce qui change</a:t>
            </a:r>
            <a:endParaRPr lang="en-US" sz="3000" dirty="0"/>
          </a:p>
        </p:txBody>
      </p:sp>
      <p:sp>
        <p:nvSpPr>
          <p:cNvPr id="3" name="carte"/>
          <p:cNvSpPr/>
          <p:nvPr/>
        </p:nvSpPr>
        <p:spPr>
          <a:xfrm>
            <a:off x="548640" y="1417320"/>
            <a:ext cx="5394960" cy="2212848"/>
          </a:xfrm>
          <a:prstGeom prst="roundRect">
            <a:avLst>
              <a:gd name="adj" fmla="val 6198"/>
            </a:avLst>
          </a:prstGeom>
          <a:solidFill>
            <a:srgbClr val="EEF2F8"/>
          </a:solidFill>
          <a:ln w="12700">
            <a:solidFill>
              <a:srgbClr val="EEF2F8"/>
            </a:solidFill>
            <a:prstDash val="solid"/>
          </a:ln>
        </p:spPr>
      </p:sp>
      <p:sp>
        <p:nvSpPr>
          <p:cNvPr id="4" name="pastille FaMobileAlt"/>
          <p:cNvSpPr/>
          <p:nvPr/>
        </p:nvSpPr>
        <p:spPr>
          <a:xfrm>
            <a:off x="822960" y="1691640"/>
            <a:ext cx="731520" cy="731520"/>
          </a:xfrm>
          <a:prstGeom prst="ellipse">
            <a:avLst/>
          </a:prstGeom>
          <a:solidFill>
            <a:srgbClr val="1B2340"/>
          </a:solidFill>
          <a:ln w="12700">
            <a:solidFill>
              <a:srgbClr val="1B2340"/>
            </a:solidFill>
            <a:prstDash val="solid"/>
          </a:ln>
        </p:spPr>
      </p:sp>
      <p:pic>
        <p:nvPicPr>
          <p:cNvPr id="5" name="Image 0" descr="FaMobileAlt">    </p:cNvPr>
          <p:cNvPicPr>
            <a:picLocks noChangeAspect="1"/>
          </p:cNvPicPr>
          <p:nvPr/>
        </p:nvPicPr>
        <p:blipFill>
          <a:blip r:embed="rId1"/>
          <a:stretch>
            <a:fillRect/>
          </a:stretch>
        </p:blipFill>
        <p:spPr>
          <a:xfrm>
            <a:off x="983894" y="1852574"/>
            <a:ext cx="409651" cy="409651"/>
          </a:xfrm>
          <a:prstGeom prst="rect">
            <a:avLst/>
          </a:prstGeom>
        </p:spPr>
      </p:pic>
      <p:sp>
        <p:nvSpPr>
          <p:cNvPr id="6" name="Text 3"/>
          <p:cNvSpPr txBox="1"/>
          <p:nvPr/>
        </p:nvSpPr>
        <p:spPr>
          <a:xfrm>
            <a:off x="1737360" y="1691640"/>
            <a:ext cx="4023360" cy="731520"/>
          </a:xfrm>
          <a:prstGeom prst="rect">
            <a:avLst/>
          </a:prstGeom>
          <a:noFill/>
          <a:ln/>
        </p:spPr>
        <p:txBody>
          <a:bodyPr wrap="square" lIns="0" tIns="0" rIns="0" bIns="0" rtlCol="0" anchor="ctr"/>
          <a:lstStyle/>
          <a:p>
            <a:pPr indent="0" marL="0">
              <a:buNone/>
            </a:pPr>
            <a:r>
              <a:rPr lang="en-US" sz="1700" b="1" dirty="0">
                <a:solidFill>
                  <a:srgbClr val="1B2340"/>
                </a:solidFill>
              </a:rPr>
              <a:t>Un vrai numéro WhatsApp</a:t>
            </a:r>
            <a:endParaRPr lang="en-US" sz="1700" dirty="0"/>
          </a:p>
        </p:txBody>
      </p:sp>
      <p:sp>
        <p:nvSpPr>
          <p:cNvPr id="7" name="Text 4"/>
          <p:cNvSpPr txBox="1"/>
          <p:nvPr/>
        </p:nvSpPr>
        <p:spPr>
          <a:xfrm>
            <a:off x="822960" y="2560320"/>
            <a:ext cx="4846320" cy="960120"/>
          </a:xfrm>
          <a:prstGeom prst="rect">
            <a:avLst/>
          </a:prstGeom>
          <a:noFill/>
          <a:ln/>
        </p:spPr>
        <p:txBody>
          <a:bodyPr wrap="square" lIns="0" tIns="0" rIns="0" bIns="0" rtlCol="0" anchor="t"/>
          <a:lstStyle/>
          <a:p>
            <a:pPr indent="0" marL="0">
              <a:buNone/>
            </a:pPr>
            <a:r>
              <a:rPr lang="en-US" sz="1400" dirty="0">
                <a:solidFill>
                  <a:srgbClr val="3A4566"/>
                </a:solidFill>
              </a:rPr>
              <a:t>Un numéro qui n'est pas déjà utilisé dans l'appli WhatsApp. Le numéro de test ne suffit plus.</a:t>
            </a:r>
            <a:endParaRPr lang="en-US" sz="1400" dirty="0"/>
          </a:p>
        </p:txBody>
      </p:sp>
      <p:sp>
        <p:nvSpPr>
          <p:cNvPr id="8" name="carte"/>
          <p:cNvSpPr/>
          <p:nvPr/>
        </p:nvSpPr>
        <p:spPr>
          <a:xfrm>
            <a:off x="6172200" y="1417320"/>
            <a:ext cx="5394960" cy="2212848"/>
          </a:xfrm>
          <a:prstGeom prst="roundRect">
            <a:avLst>
              <a:gd name="adj" fmla="val 6198"/>
            </a:avLst>
          </a:prstGeom>
          <a:solidFill>
            <a:srgbClr val="EEF2F8"/>
          </a:solidFill>
          <a:ln w="12700">
            <a:solidFill>
              <a:srgbClr val="EEF2F8"/>
            </a:solidFill>
            <a:prstDash val="solid"/>
          </a:ln>
        </p:spPr>
      </p:sp>
      <p:sp>
        <p:nvSpPr>
          <p:cNvPr id="9" name="pastille FaIdCard"/>
          <p:cNvSpPr/>
          <p:nvPr/>
        </p:nvSpPr>
        <p:spPr>
          <a:xfrm>
            <a:off x="6446520" y="1691640"/>
            <a:ext cx="731520" cy="731520"/>
          </a:xfrm>
          <a:prstGeom prst="ellipse">
            <a:avLst/>
          </a:prstGeom>
          <a:solidFill>
            <a:srgbClr val="1B2340"/>
          </a:solidFill>
          <a:ln w="12700">
            <a:solidFill>
              <a:srgbClr val="1B2340"/>
            </a:solidFill>
            <a:prstDash val="solid"/>
          </a:ln>
        </p:spPr>
      </p:sp>
      <p:pic>
        <p:nvPicPr>
          <p:cNvPr id="10" name="Image 1" descr="FaIdCard">    </p:cNvPr>
          <p:cNvPicPr>
            <a:picLocks noChangeAspect="1"/>
          </p:cNvPicPr>
          <p:nvPr/>
        </p:nvPicPr>
        <p:blipFill>
          <a:blip r:embed="rId2"/>
          <a:stretch>
            <a:fillRect/>
          </a:stretch>
        </p:blipFill>
        <p:spPr>
          <a:xfrm>
            <a:off x="6607454" y="1852574"/>
            <a:ext cx="409651" cy="409651"/>
          </a:xfrm>
          <a:prstGeom prst="rect">
            <a:avLst/>
          </a:prstGeom>
        </p:spPr>
      </p:pic>
      <p:sp>
        <p:nvSpPr>
          <p:cNvPr id="11" name="Text 7"/>
          <p:cNvSpPr txBox="1"/>
          <p:nvPr/>
        </p:nvSpPr>
        <p:spPr>
          <a:xfrm>
            <a:off x="7360920" y="1691640"/>
            <a:ext cx="4023360" cy="731520"/>
          </a:xfrm>
          <a:prstGeom prst="rect">
            <a:avLst/>
          </a:prstGeom>
          <a:noFill/>
          <a:ln/>
        </p:spPr>
        <p:txBody>
          <a:bodyPr wrap="square" lIns="0" tIns="0" rIns="0" bIns="0" rtlCol="0" anchor="ctr"/>
          <a:lstStyle/>
          <a:p>
            <a:pPr indent="0" marL="0">
              <a:buNone/>
            </a:pPr>
            <a:r>
              <a:rPr lang="en-US" sz="1700" b="1" dirty="0">
                <a:solidFill>
                  <a:srgbClr val="1B2340"/>
                </a:solidFill>
              </a:rPr>
              <a:t>La vérification de l'entreprise</a:t>
            </a:r>
            <a:endParaRPr lang="en-US" sz="1700" dirty="0"/>
          </a:p>
        </p:txBody>
      </p:sp>
      <p:sp>
        <p:nvSpPr>
          <p:cNvPr id="12" name="Text 8"/>
          <p:cNvSpPr txBox="1"/>
          <p:nvPr/>
        </p:nvSpPr>
        <p:spPr>
          <a:xfrm>
            <a:off x="6446520" y="2560320"/>
            <a:ext cx="4846320" cy="960120"/>
          </a:xfrm>
          <a:prstGeom prst="rect">
            <a:avLst/>
          </a:prstGeom>
          <a:noFill/>
          <a:ln/>
        </p:spPr>
        <p:txBody>
          <a:bodyPr wrap="square" lIns="0" tIns="0" rIns="0" bIns="0" rtlCol="0" anchor="t"/>
          <a:lstStyle/>
          <a:p>
            <a:pPr indent="0" marL="0">
              <a:buNone/>
            </a:pPr>
            <a:r>
              <a:rPr lang="en-US" sz="1400" dirty="0">
                <a:solidFill>
                  <a:srgbClr val="3A4566"/>
                </a:solidFill>
              </a:rPr>
              <a:t>Chez Meta : Paramètres Business → Commencer la vérification. Il faut les documents de l'entreprise.</a:t>
            </a:r>
            <a:endParaRPr lang="en-US" sz="1400" dirty="0"/>
          </a:p>
        </p:txBody>
      </p:sp>
      <p:sp>
        <p:nvSpPr>
          <p:cNvPr id="13" name="carte"/>
          <p:cNvSpPr/>
          <p:nvPr/>
        </p:nvSpPr>
        <p:spPr>
          <a:xfrm>
            <a:off x="548640" y="3813048"/>
            <a:ext cx="5394960" cy="2212848"/>
          </a:xfrm>
          <a:prstGeom prst="roundRect">
            <a:avLst>
              <a:gd name="adj" fmla="val 6198"/>
            </a:avLst>
          </a:prstGeom>
          <a:solidFill>
            <a:srgbClr val="EEF2F8"/>
          </a:solidFill>
          <a:ln w="12700">
            <a:solidFill>
              <a:srgbClr val="EEF2F8"/>
            </a:solidFill>
            <a:prstDash val="solid"/>
          </a:ln>
        </p:spPr>
      </p:sp>
      <p:sp>
        <p:nvSpPr>
          <p:cNvPr id="14" name="pastille FaCreditCard"/>
          <p:cNvSpPr/>
          <p:nvPr/>
        </p:nvSpPr>
        <p:spPr>
          <a:xfrm>
            <a:off x="822960" y="4087368"/>
            <a:ext cx="731520" cy="731520"/>
          </a:xfrm>
          <a:prstGeom prst="ellipse">
            <a:avLst/>
          </a:prstGeom>
          <a:solidFill>
            <a:srgbClr val="1B2340"/>
          </a:solidFill>
          <a:ln w="12700">
            <a:solidFill>
              <a:srgbClr val="1B2340"/>
            </a:solidFill>
            <a:prstDash val="solid"/>
          </a:ln>
        </p:spPr>
      </p:sp>
      <p:pic>
        <p:nvPicPr>
          <p:cNvPr id="15" name="Image 2" descr="FaCreditCard">    </p:cNvPr>
          <p:cNvPicPr>
            <a:picLocks noChangeAspect="1"/>
          </p:cNvPicPr>
          <p:nvPr/>
        </p:nvPicPr>
        <p:blipFill>
          <a:blip r:embed="rId3"/>
          <a:stretch>
            <a:fillRect/>
          </a:stretch>
        </p:blipFill>
        <p:spPr>
          <a:xfrm>
            <a:off x="983894" y="4248302"/>
            <a:ext cx="409651" cy="409651"/>
          </a:xfrm>
          <a:prstGeom prst="rect">
            <a:avLst/>
          </a:prstGeom>
        </p:spPr>
      </p:pic>
      <p:sp>
        <p:nvSpPr>
          <p:cNvPr id="16" name="Text 11"/>
          <p:cNvSpPr txBox="1"/>
          <p:nvPr/>
        </p:nvSpPr>
        <p:spPr>
          <a:xfrm>
            <a:off x="1737360" y="4087368"/>
            <a:ext cx="4023360" cy="731520"/>
          </a:xfrm>
          <a:prstGeom prst="rect">
            <a:avLst/>
          </a:prstGeom>
          <a:noFill/>
          <a:ln/>
        </p:spPr>
        <p:txBody>
          <a:bodyPr wrap="square" lIns="0" tIns="0" rIns="0" bIns="0" rtlCol="0" anchor="ctr"/>
          <a:lstStyle/>
          <a:p>
            <a:pPr indent="0" marL="0">
              <a:buNone/>
            </a:pPr>
            <a:r>
              <a:rPr lang="en-US" sz="1700" b="1" dirty="0">
                <a:solidFill>
                  <a:srgbClr val="1B2340"/>
                </a:solidFill>
              </a:rPr>
              <a:t>Un moyen de paiement chez Meta</a:t>
            </a:r>
            <a:endParaRPr lang="en-US" sz="1700" dirty="0"/>
          </a:p>
        </p:txBody>
      </p:sp>
      <p:sp>
        <p:nvSpPr>
          <p:cNvPr id="17" name="Text 12"/>
          <p:cNvSpPr txBox="1"/>
          <p:nvPr/>
        </p:nvSpPr>
        <p:spPr>
          <a:xfrm>
            <a:off x="822960" y="4956048"/>
            <a:ext cx="4846320" cy="960120"/>
          </a:xfrm>
          <a:prstGeom prst="rect">
            <a:avLst/>
          </a:prstGeom>
          <a:noFill/>
          <a:ln/>
        </p:spPr>
        <p:txBody>
          <a:bodyPr wrap="square" lIns="0" tIns="0" rIns="0" bIns="0" rtlCol="0" anchor="t"/>
          <a:lstStyle/>
          <a:p>
            <a:pPr indent="0" marL="0">
              <a:buNone/>
            </a:pPr>
            <a:r>
              <a:rPr lang="en-US" sz="1400" dirty="0">
                <a:solidFill>
                  <a:srgbClr val="3A4566"/>
                </a:solidFill>
              </a:rPr>
              <a:t>Meta facture chaque message envoyé avec un modèle. Vérifie le tarif du moment avant de fixer ton prix.</a:t>
            </a:r>
            <a:endParaRPr lang="en-US" sz="1400" dirty="0"/>
          </a:p>
        </p:txBody>
      </p:sp>
      <p:sp>
        <p:nvSpPr>
          <p:cNvPr id="18" name="carte"/>
          <p:cNvSpPr/>
          <p:nvPr/>
        </p:nvSpPr>
        <p:spPr>
          <a:xfrm>
            <a:off x="6172200" y="3813048"/>
            <a:ext cx="5394960" cy="2212848"/>
          </a:xfrm>
          <a:prstGeom prst="roundRect">
            <a:avLst>
              <a:gd name="adj" fmla="val 6198"/>
            </a:avLst>
          </a:prstGeom>
          <a:solidFill>
            <a:srgbClr val="EEF2F8"/>
          </a:solidFill>
          <a:ln w="12700">
            <a:solidFill>
              <a:srgbClr val="EEF2F8"/>
            </a:solidFill>
            <a:prstDash val="solid"/>
          </a:ln>
        </p:spPr>
      </p:sp>
      <p:sp>
        <p:nvSpPr>
          <p:cNvPr id="19" name="pastille FaFileSignature"/>
          <p:cNvSpPr/>
          <p:nvPr/>
        </p:nvSpPr>
        <p:spPr>
          <a:xfrm>
            <a:off x="6446520" y="4087368"/>
            <a:ext cx="731520" cy="731520"/>
          </a:xfrm>
          <a:prstGeom prst="ellipse">
            <a:avLst/>
          </a:prstGeom>
          <a:solidFill>
            <a:srgbClr val="1B2340"/>
          </a:solidFill>
          <a:ln w="12700">
            <a:solidFill>
              <a:srgbClr val="1B2340"/>
            </a:solidFill>
            <a:prstDash val="solid"/>
          </a:ln>
        </p:spPr>
      </p:sp>
      <p:pic>
        <p:nvPicPr>
          <p:cNvPr id="20" name="Image 3" descr="FaFileSignature">    </p:cNvPr>
          <p:cNvPicPr>
            <a:picLocks noChangeAspect="1"/>
          </p:cNvPicPr>
          <p:nvPr/>
        </p:nvPicPr>
        <p:blipFill>
          <a:blip r:embed="rId4"/>
          <a:stretch>
            <a:fillRect/>
          </a:stretch>
        </p:blipFill>
        <p:spPr>
          <a:xfrm>
            <a:off x="6607454" y="4248302"/>
            <a:ext cx="409651" cy="409651"/>
          </a:xfrm>
          <a:prstGeom prst="rect">
            <a:avLst/>
          </a:prstGeom>
        </p:spPr>
      </p:pic>
      <p:sp>
        <p:nvSpPr>
          <p:cNvPr id="21" name="Text 15"/>
          <p:cNvSpPr txBox="1"/>
          <p:nvPr/>
        </p:nvSpPr>
        <p:spPr>
          <a:xfrm>
            <a:off x="7360920" y="4087368"/>
            <a:ext cx="4023360" cy="731520"/>
          </a:xfrm>
          <a:prstGeom prst="rect">
            <a:avLst/>
          </a:prstGeom>
          <a:noFill/>
          <a:ln/>
        </p:spPr>
        <p:txBody>
          <a:bodyPr wrap="square" lIns="0" tIns="0" rIns="0" bIns="0" rtlCol="0" anchor="ctr"/>
          <a:lstStyle/>
          <a:p>
            <a:pPr indent="0" marL="0">
              <a:buNone/>
            </a:pPr>
            <a:r>
              <a:rPr lang="en-US" sz="1700" b="1" dirty="0">
                <a:solidFill>
                  <a:srgbClr val="1B2340"/>
                </a:solidFill>
              </a:rPr>
              <a:t>L'accord écrit du client</a:t>
            </a:r>
            <a:endParaRPr lang="en-US" sz="1700" dirty="0"/>
          </a:p>
        </p:txBody>
      </p:sp>
      <p:sp>
        <p:nvSpPr>
          <p:cNvPr id="22" name="Text 16"/>
          <p:cNvSpPr txBox="1"/>
          <p:nvPr/>
        </p:nvSpPr>
        <p:spPr>
          <a:xfrm>
            <a:off x="6446520" y="4956048"/>
            <a:ext cx="4846320" cy="960120"/>
          </a:xfrm>
          <a:prstGeom prst="rect">
            <a:avLst/>
          </a:prstGeom>
          <a:noFill/>
          <a:ln/>
        </p:spPr>
        <p:txBody>
          <a:bodyPr wrap="square" lIns="0" tIns="0" rIns="0" bIns="0" rtlCol="0" anchor="t"/>
          <a:lstStyle/>
          <a:p>
            <a:pPr indent="0" marL="0">
              <a:buNone/>
            </a:pPr>
            <a:r>
              <a:rPr lang="en-US" sz="1400" dirty="0">
                <a:solidFill>
                  <a:srgbClr val="3A4566"/>
                </a:solidFill>
              </a:rPr>
              <a:t>Avant d'installer quoi que ce soit, et avant toute publication. Toujours.</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Logo Allegra Digital Ground">    </p:cNvPr>
          <p:cNvPicPr>
            <a:picLocks noChangeAspect="1"/>
          </p:cNvPicPr>
          <p:nvPr/>
        </p:nvPicPr>
        <p:blipFill>
          <a:blip r:embed="rId1"/>
          <a:stretch>
            <a:fillRect/>
          </a:stretch>
        </p:blipFill>
        <p:spPr>
          <a:xfrm>
            <a:off x="548640" y="548640"/>
            <a:ext cx="1463040" cy="1161288"/>
          </a:xfrm>
          <a:prstGeom prst="rect">
            <a:avLst/>
          </a:prstGeom>
        </p:spPr>
      </p:pic>
      <p:sp>
        <p:nvSpPr>
          <p:cNvPr id="3" name="Text 0"/>
          <p:cNvSpPr txBox="1"/>
          <p:nvPr/>
        </p:nvSpPr>
        <p:spPr>
          <a:xfrm>
            <a:off x="548640" y="1874520"/>
            <a:ext cx="5486400" cy="365760"/>
          </a:xfrm>
          <a:prstGeom prst="rect">
            <a:avLst/>
          </a:prstGeom>
          <a:noFill/>
          <a:ln/>
        </p:spPr>
        <p:txBody>
          <a:bodyPr wrap="square" lIns="0" tIns="0" rIns="0" bIns="0" rtlCol="0" anchor="t"/>
          <a:lstStyle/>
          <a:p>
            <a:pPr indent="0" marL="0">
              <a:buNone/>
            </a:pPr>
            <a:r>
              <a:rPr lang="en-US" sz="1400" b="1" spc="400" kern="0" dirty="0">
                <a:solidFill>
                  <a:srgbClr val="F5C518"/>
                </a:solidFill>
              </a:rPr>
              <a:t>BRAVO</a:t>
            </a:r>
            <a:endParaRPr lang="en-US" sz="1400" dirty="0"/>
          </a:p>
        </p:txBody>
      </p:sp>
      <p:sp>
        <p:nvSpPr>
          <p:cNvPr id="4" name="Text 0"/>
          <p:cNvSpPr/>
          <p:nvPr>
            <p:ph idx="100" type="title" hasCustomPrompt="1"/>
          </p:nvPr>
        </p:nvSpPr>
        <p:spPr>
          <a:xfrm>
            <a:off x="548640" y="2331720"/>
            <a:ext cx="7680960" cy="1737360"/>
          </a:xfrm>
          <a:prstGeom prst="rect">
            <a:avLst/>
          </a:prstGeom>
          <a:noFill/>
          <a:ln/>
        </p:spPr>
        <p:txBody>
          <a:bodyPr wrap="square" lIns="0" tIns="0" rIns="0" bIns="0" rtlCol="0" anchor="t"/>
          <a:lstStyle/>
          <a:p>
            <a:pPr algn="l" indent="0" marL="0">
              <a:buNone/>
            </a:pPr>
            <a:r>
              <a:rPr lang="en-US" sz="4400" b="1" dirty="0">
                <a:solidFill>
                  <a:schemeClr val="bg1"/>
                </a:solidFill>
              </a:rPr>
              <a:t>Tu sais installer le système de A à Z</a:t>
            </a:r>
            <a:endParaRPr lang="en-US" sz="4400" dirty="0"/>
          </a:p>
        </p:txBody>
      </p:sp>
      <p:sp>
        <p:nvSpPr>
          <p:cNvPr id="5" name="Text 0"/>
          <p:cNvSpPr/>
          <p:nvPr>
            <p:ph idx="101" type="body" hasCustomPrompt="1"/>
          </p:nvPr>
        </p:nvSpPr>
        <p:spPr>
          <a:xfrm>
            <a:off x="548640" y="4160520"/>
            <a:ext cx="7315200" cy="914400"/>
          </a:xfrm>
          <a:prstGeom prst="rect">
            <a:avLst/>
          </a:prstGeom>
          <a:noFill/>
          <a:ln/>
        </p:spPr>
        <p:txBody>
          <a:bodyPr wrap="square" lIns="0" tIns="0" rIns="0" bIns="0" rtlCol="0" anchor="t"/>
          <a:lstStyle/>
          <a:p>
            <a:pPr indent="0" marL="0">
              <a:buNone/>
            </a:pPr>
            <a:r>
              <a:rPr lang="en-US" sz="1800" dirty="0">
                <a:solidFill>
                  <a:schemeClr val="accent1"/>
                </a:solidFill>
              </a:rPr>
              <a:t>Refais une installation complète seul, sur ton propre compte, avant ta première installation chez un client.</a:t>
            </a:r>
            <a:endParaRPr lang="en-US" sz="1800" dirty="0"/>
          </a:p>
        </p:txBody>
      </p:sp>
      <p:sp>
        <p:nvSpPr>
          <p:cNvPr id="6" name="pastille FaRocket"/>
          <p:cNvSpPr/>
          <p:nvPr/>
        </p:nvSpPr>
        <p:spPr>
          <a:xfrm>
            <a:off x="9418320" y="2194560"/>
            <a:ext cx="2011680" cy="2011680"/>
          </a:xfrm>
          <a:prstGeom prst="ellipse">
            <a:avLst/>
          </a:prstGeom>
          <a:solidFill>
            <a:srgbClr val="F5C518"/>
          </a:solidFill>
          <a:ln w="12700">
            <a:solidFill>
              <a:srgbClr val="F5C518"/>
            </a:solidFill>
            <a:prstDash val="solid"/>
          </a:ln>
        </p:spPr>
      </p:sp>
      <p:pic>
        <p:nvPicPr>
          <p:cNvPr id="7" name="Image 1" descr="FaRocket">    </p:cNvPr>
          <p:cNvPicPr>
            <a:picLocks noChangeAspect="1"/>
          </p:cNvPicPr>
          <p:nvPr/>
        </p:nvPicPr>
        <p:blipFill>
          <a:blip r:embed="rId2"/>
          <a:stretch>
            <a:fillRect/>
          </a:stretch>
        </p:blipFill>
        <p:spPr>
          <a:xfrm>
            <a:off x="9860890" y="2637130"/>
            <a:ext cx="1126541" cy="1126541"/>
          </a:xfrm>
          <a:prstGeom prst="rect">
            <a:avLst/>
          </a:prstGeom>
        </p:spPr>
      </p:pic>
    </p:spTree>
  </p:cSld>
  <p:clrMapOvr>
    <a:masterClrMapping/>
  </p:clrMapOvr>
</p:sld>
</file>

<file path=ppt/theme/theme1.xml><?xml version="1.0" encoding="utf-8"?>
<a:theme xmlns:a="http://schemas.openxmlformats.org/drawingml/2006/main" name="Allegra Formation">
  <a:themeElements>
    <a:clrScheme name="Allegra Formation">
      <a:dk1>
        <a:srgbClr val="1B2340"/>
      </a:dk1>
      <a:lt1>
        <a:srgbClr val="FFFFFF"/>
      </a:lt1>
      <a:dk2>
        <a:srgbClr val="3A4566"/>
      </a:dk2>
      <a:lt2>
        <a:srgbClr val="EEF2F8"/>
      </a:lt2>
      <a:accent1>
        <a:srgbClr val="F5C518"/>
      </a:accent1>
      <a:accent2>
        <a:srgbClr val="1E8E3E"/>
      </a:accent2>
      <a:accent3>
        <a:srgbClr val="EA4B71"/>
      </a:accent3>
      <a:accent4>
        <a:srgbClr val="1877F2"/>
      </a:accent4>
      <a:accent5>
        <a:srgbClr val="128C7E"/>
      </a:accent5>
      <a:accent6>
        <a:srgbClr val="D93025"/>
      </a:accent6>
      <a:hlink>
        <a:srgbClr val="1877F2"/>
      </a:hlink>
      <a:folHlink>
        <a:srgbClr val="6B4FBB"/>
      </a:folHlink>
    </a:clrScheme>
    <a:fontScheme name="Allegra Form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Allegra Digital Ground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Installer le système de stock automatisé</dc:title>
  <dc:subject>PptxGenJS Presentation</dc:subject>
  <dc:creator>Allegra Digital Ground</dc:creator>
  <cp:lastModifiedBy>Allegra Digital Ground</cp:lastModifiedBy>
  <cp:revision>1</cp:revision>
  <dcterms:created xsi:type="dcterms:W3CDTF">2026-10-15T19:45:22Z</dcterms:created>
  <dcterms:modified xsi:type="dcterms:W3CDTF">2026-10-15T19:45:22Z</dcterms:modified>
</cp:coreProperties>
</file>